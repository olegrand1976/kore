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1" r:id="rId2"/>
    <p:sldId id="292" r:id="rId3"/>
    <p:sldId id="293" r:id="rId4"/>
    <p:sldId id="294" r:id="rId5"/>
    <p:sldId id="295" r:id="rId6"/>
    <p:sldId id="305" r:id="rId7"/>
    <p:sldId id="297" r:id="rId8"/>
    <p:sldId id="298" r:id="rId9"/>
    <p:sldId id="303" r:id="rId10"/>
    <p:sldId id="300" r:id="rId11"/>
    <p:sldId id="301" r:id="rId12"/>
    <p:sldId id="304" r:id="rId13"/>
    <p:sldId id="306" r:id="rId14"/>
    <p:sldId id="296" r:id="rId15"/>
    <p:sldId id="302" r:id="rId16"/>
  </p:sldIdLst>
  <p:sldSz cx="9144000" cy="6858000" type="screen4x3"/>
  <p:notesSz cx="9144000" cy="6858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66CCFF"/>
    <a:srgbClr val="A50021"/>
    <a:srgbClr val="3028D0"/>
  </p:clrMru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4801" autoAdjust="0"/>
    <p:restoredTop sz="87207" autoAdjust="0"/>
  </p:normalViewPr>
  <p:slideViewPr>
    <p:cSldViewPr>
      <p:cViewPr>
        <p:scale>
          <a:sx n="70" d="100"/>
          <a:sy n="70" d="100"/>
        </p:scale>
        <p:origin x="-1788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96D707-4BF9-4416-815E-7FBB62B5D3FB}" type="datetimeFigureOut">
              <a:rPr lang="fr-FR"/>
              <a:pPr>
                <a:defRPr/>
              </a:pPr>
              <a:t>05/06/2014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9C113EF-EFAE-4E56-A4CD-2354ECA6279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028"/>
            <a:ext cx="7772400" cy="147042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F701B-1A8E-4393-B155-FBB43ECA9A63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E60B1-84BB-4F9C-A980-E51473995D0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1784" y="44065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1784" y="2906316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E90F4-C108-49B4-949C-C2E13BA695E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736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FE6D-2A41-4831-A6C1-EAC601A8844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503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4716"/>
            <a:ext cx="4040717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5272"/>
            <a:ext cx="4040717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6085" y="1534716"/>
            <a:ext cx="4040716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6085" y="2175272"/>
            <a:ext cx="4040716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D94D4-AFC8-4770-BF7E-648C4A5DFFC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4C9F1-5BD5-4DC2-8838-1EB259572760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E74AD-B0B7-4E42-A636-484A2FD68FFA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2654"/>
            <a:ext cx="30077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1" y="272653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4703"/>
            <a:ext cx="30077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6BCDC-7445-46C4-9A39-7CF115F760DD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817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817" y="61317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817" y="5367337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B2B7A-534A-4F86-9D30-7DBAD6B9B942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0424D-4E16-40E1-AB72-499712588C9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1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1" y="609600"/>
            <a:ext cx="56261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73EF7-CF1F-4008-B78B-0AC241F12776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les styles du texte du masque</a:t>
            </a:r>
          </a:p>
          <a:p>
            <a:pPr lvl="1"/>
            <a:r>
              <a:rPr lang="en-GB" smtClean="0"/>
              <a:t>Deuxième niveau</a:t>
            </a:r>
          </a:p>
          <a:p>
            <a:pPr lvl="2"/>
            <a:r>
              <a:rPr lang="en-GB" smtClean="0"/>
              <a:t>Troisième niveau</a:t>
            </a:r>
          </a:p>
          <a:p>
            <a:pPr lvl="3"/>
            <a:r>
              <a:rPr lang="en-GB" smtClean="0"/>
              <a:t>Quatrième niveau</a:t>
            </a:r>
          </a:p>
          <a:p>
            <a:pPr lvl="4"/>
            <a:r>
              <a:rPr lang="en-GB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6C8F8472-4403-4D36-A783-8BB39D8EEF98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gi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6357938" y="1785938"/>
            <a:ext cx="2428875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4200" dirty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Bee Software</a:t>
            </a:r>
          </a:p>
        </p:txBody>
      </p:sp>
      <p:sp>
        <p:nvSpPr>
          <p:cNvPr id="7175" name="ZoneTexte 3"/>
          <p:cNvSpPr txBox="1">
            <a:spLocks noChangeArrowheads="1"/>
          </p:cNvSpPr>
          <p:nvPr/>
        </p:nvSpPr>
        <p:spPr bwMode="auto">
          <a:xfrm>
            <a:off x="6429375" y="2527300"/>
            <a:ext cx="2286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200" dirty="0" smtClean="0">
                <a:latin typeface="Calibri" pitchFamily="34" charset="0"/>
              </a:rPr>
              <a:t>Tel</a:t>
            </a:r>
            <a:r>
              <a:rPr lang="fr-FR" sz="1200" dirty="0">
                <a:latin typeface="Calibri" pitchFamily="34" charset="0"/>
              </a:rPr>
              <a:t>. 33 (0)6 26 08 62 84</a:t>
            </a:r>
          </a:p>
          <a:p>
            <a:pPr algn="ctr"/>
            <a:endParaRPr lang="fr-FR" sz="1200" dirty="0" smtClean="0">
              <a:latin typeface="Calibri" pitchFamily="34" charset="0"/>
            </a:endParaRPr>
          </a:p>
          <a:p>
            <a:pPr algn="ctr"/>
            <a:r>
              <a:rPr lang="fr-FR" sz="1200" dirty="0" smtClean="0">
                <a:latin typeface="Calibri" pitchFamily="34" charset="0"/>
              </a:rPr>
              <a:t>E-mail</a:t>
            </a:r>
            <a:r>
              <a:rPr lang="fr-FR" sz="1200" dirty="0">
                <a:latin typeface="Calibri" pitchFamily="34" charset="0"/>
              </a:rPr>
              <a:t>. contact@beesoftware.net</a:t>
            </a:r>
          </a:p>
        </p:txBody>
      </p:sp>
      <p:pic>
        <p:nvPicPr>
          <p:cNvPr id="7176" name="Image 11" descr="Bee-Software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43688" y="5357813"/>
            <a:ext cx="200025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7" name="ZoneTexte 13"/>
          <p:cNvSpPr txBox="1">
            <a:spLocks noChangeArrowheads="1"/>
          </p:cNvSpPr>
          <p:nvPr/>
        </p:nvSpPr>
        <p:spPr bwMode="auto">
          <a:xfrm rot="5400000">
            <a:off x="-730250" y="5770563"/>
            <a:ext cx="1785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000"/>
              <a:t>Beesoftware – Septembre 2008</a:t>
            </a:r>
          </a:p>
        </p:txBody>
      </p:sp>
      <p:sp>
        <p:nvSpPr>
          <p:cNvPr id="10" name="ZoneTexte 8"/>
          <p:cNvSpPr txBox="1">
            <a:spLocks noChangeArrowheads="1"/>
          </p:cNvSpPr>
          <p:nvPr/>
        </p:nvSpPr>
        <p:spPr bwMode="auto">
          <a:xfrm>
            <a:off x="857250" y="5572125"/>
            <a:ext cx="5000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fr-FR" sz="4800" dirty="0" smtClean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www.beesoftware.net</a:t>
            </a:r>
            <a:endParaRPr lang="fr-FR" sz="4800" dirty="0">
              <a:solidFill>
                <a:schemeClr val="accent2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3"/>
          <p:cNvSpPr txBox="1">
            <a:spLocks noChangeArrowheads="1"/>
          </p:cNvSpPr>
          <p:nvPr/>
        </p:nvSpPr>
        <p:spPr bwMode="auto">
          <a:xfrm>
            <a:off x="4572000" y="1500174"/>
            <a:ext cx="1643074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B</a:t>
            </a:r>
            <a:r>
              <a:rPr lang="fr-FR" sz="1600" b="1" i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ee </a:t>
            </a:r>
            <a:r>
              <a:rPr lang="fr-FR" sz="1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Software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  est une Start-up spécialisée dans le développement de logiciels de Gestion de Maintenance Applicative</a:t>
            </a:r>
            <a:endParaRPr lang="fr-FR" sz="1400" dirty="0">
              <a:latin typeface="Vrinda" pitchFamily="2" charset="0"/>
              <a:cs typeface="Vrinda" pitchFamily="2" charset="0"/>
            </a:endParaRPr>
          </a:p>
        </p:txBody>
      </p:sp>
      <p:sp>
        <p:nvSpPr>
          <p:cNvPr id="5" name="ZoneTexte 5"/>
          <p:cNvSpPr txBox="1">
            <a:spLocks noChangeArrowheads="1"/>
          </p:cNvSpPr>
          <p:nvPr/>
        </p:nvSpPr>
        <p:spPr bwMode="auto">
          <a:xfrm>
            <a:off x="5072066" y="3857628"/>
            <a:ext cx="2857520" cy="187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B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-</a:t>
            </a:r>
            <a:r>
              <a:rPr lang="fr-FR" sz="1400" dirty="0" err="1" smtClean="0">
                <a:latin typeface="Vrinda" pitchFamily="2" charset="0"/>
                <a:cs typeface="Vrinda" pitchFamily="2" charset="0"/>
              </a:rPr>
              <a:t>Hive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 est multi-langue, simple d’utilisation, accessible par Internet, personnalisable, et propose  les principales fonctionnalités des </a:t>
            </a:r>
            <a:r>
              <a:rPr lang="fr-FR" sz="1400" dirty="0" err="1" smtClean="0">
                <a:latin typeface="Vrinda" pitchFamily="2" charset="0"/>
                <a:cs typeface="Vrinda" pitchFamily="2" charset="0"/>
              </a:rPr>
              <a:t>Heldesk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, des gestions de TMA et des outils de suivi d’activité</a:t>
            </a:r>
          </a:p>
        </p:txBody>
      </p:sp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6429388" y="1500174"/>
            <a:ext cx="1785942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B</a:t>
            </a:r>
            <a:r>
              <a:rPr lang="fr-FR" sz="1400" dirty="0">
                <a:latin typeface="Vrinda" pitchFamily="2" charset="0"/>
                <a:cs typeface="Vrinda" pitchFamily="2" charset="0"/>
              </a:rPr>
              <a:t>-</a:t>
            </a:r>
            <a:r>
              <a:rPr lang="fr-FR" sz="1400" dirty="0" err="1">
                <a:latin typeface="Vrinda" pitchFamily="2" charset="0"/>
                <a:cs typeface="Vrinda" pitchFamily="2" charset="0"/>
              </a:rPr>
              <a:t>Hive</a:t>
            </a:r>
            <a:r>
              <a:rPr lang="fr-FR" sz="1400" dirty="0">
                <a:latin typeface="Vrinda" pitchFamily="2" charset="0"/>
                <a:cs typeface="Vrinda" pitchFamily="2" charset="0"/>
              </a:rPr>
              <a:t> 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possède différents tableaux </a:t>
            </a:r>
            <a:r>
              <a:rPr lang="fr-FR" sz="1400" dirty="0">
                <a:latin typeface="Vrinda" pitchFamily="2" charset="0"/>
                <a:cs typeface="Vrinda" pitchFamily="2" charset="0"/>
              </a:rPr>
              <a:t>de bord 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 </a:t>
            </a:r>
            <a:r>
              <a:rPr lang="fr-FR" sz="1400" dirty="0">
                <a:latin typeface="Vrinda" pitchFamily="2" charset="0"/>
                <a:cs typeface="Vrinda" pitchFamily="2" charset="0"/>
              </a:rPr>
              <a:t>pour une visualisation synthétique 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et intelligente </a:t>
            </a:r>
            <a:r>
              <a:rPr lang="fr-FR" sz="1400" dirty="0">
                <a:latin typeface="Vrinda" pitchFamily="2" charset="0"/>
                <a:cs typeface="Vrinda" pitchFamily="2" charset="0"/>
              </a:rPr>
              <a:t>de vos données projets en temps réel</a:t>
            </a:r>
          </a:p>
        </p:txBody>
      </p:sp>
      <p:sp>
        <p:nvSpPr>
          <p:cNvPr id="10247" name="ZoneTexte 6"/>
          <p:cNvSpPr txBox="1">
            <a:spLocks noChangeArrowheads="1"/>
          </p:cNvSpPr>
          <p:nvPr/>
        </p:nvSpPr>
        <p:spPr bwMode="auto">
          <a:xfrm>
            <a:off x="5857904" y="357166"/>
            <a:ext cx="28575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fr-FR" sz="5400" b="1" dirty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Présentation</a:t>
            </a:r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Suivi en temps réel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8" name="Image 7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446" y="3286124"/>
            <a:ext cx="761983" cy="714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3"/>
          <p:cNvSpPr txBox="1">
            <a:spLocks noChangeArrowheads="1"/>
          </p:cNvSpPr>
          <p:nvPr/>
        </p:nvSpPr>
        <p:spPr bwMode="auto">
          <a:xfrm>
            <a:off x="4572000" y="1500174"/>
            <a:ext cx="1714502" cy="1969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L’unification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Un seul logiciel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homogénéise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toutes les activités du service.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Vous obtenez donc une vue claire et objective de l’état d’avancement de votre équipe</a:t>
            </a:r>
          </a:p>
        </p:txBody>
      </p:sp>
      <p:sp>
        <p:nvSpPr>
          <p:cNvPr id="6" name="ZoneTexte 3"/>
          <p:cNvSpPr txBox="1">
            <a:spLocks noChangeArrowheads="1"/>
          </p:cNvSpPr>
          <p:nvPr/>
        </p:nvSpPr>
        <p:spPr bwMode="auto">
          <a:xfrm>
            <a:off x="6215074" y="3643314"/>
            <a:ext cx="1928826" cy="215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L’intégration</a:t>
            </a:r>
          </a:p>
          <a:p>
            <a:pPr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Toutes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les saisies sont directement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accessibles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via différents axes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d’analyse</a:t>
            </a:r>
            <a:endParaRPr lang="fr-FR" sz="1200" dirty="0">
              <a:latin typeface="Vrinda" pitchFamily="2" charset="0"/>
              <a:cs typeface="Vrinda" pitchFamily="2" charset="0"/>
            </a:endParaRP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(Diagramme de Gantt, Planning de Résolution des incidents, Compte Rendu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d’Activités, ou automatique via le </a:t>
            </a:r>
            <a:r>
              <a:rPr lang="fr-FR" sz="1200" dirty="0" err="1" smtClean="0">
                <a:latin typeface="Vrinda" pitchFamily="2" charset="0"/>
                <a:cs typeface="Vrinda" pitchFamily="2" charset="0"/>
              </a:rPr>
              <a:t>workflow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, </a:t>
            </a:r>
            <a:r>
              <a:rPr lang="fr-FR" sz="1200" dirty="0" err="1" smtClean="0">
                <a:latin typeface="Vrinda" pitchFamily="2" charset="0"/>
                <a:cs typeface="Vrinda" pitchFamily="2" charset="0"/>
              </a:rPr>
              <a:t>etc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…)</a:t>
            </a:r>
            <a:endParaRPr lang="fr-FR" sz="1200" dirty="0">
              <a:latin typeface="Vrinda" pitchFamily="2" charset="0"/>
              <a:cs typeface="Vrinda" pitchFamily="2" charset="0"/>
            </a:endParaRPr>
          </a:p>
        </p:txBody>
      </p:sp>
      <p:sp>
        <p:nvSpPr>
          <p:cNvPr id="7" name="ZoneTexte 3"/>
          <p:cNvSpPr txBox="1">
            <a:spLocks noChangeArrowheads="1"/>
          </p:cNvSpPr>
          <p:nvPr/>
        </p:nvSpPr>
        <p:spPr bwMode="auto">
          <a:xfrm>
            <a:off x="6215074" y="1500174"/>
            <a:ext cx="1785950" cy="141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La </a:t>
            </a:r>
            <a:r>
              <a:rPr lang="fr-FR" sz="1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sécurité (SSL)</a:t>
            </a:r>
            <a:endParaRPr lang="fr-FR" sz="1400" b="1" dirty="0">
              <a:solidFill>
                <a:schemeClr val="accent2">
                  <a:lumMod val="60000"/>
                  <a:lumOff val="40000"/>
                </a:schemeClr>
              </a:solidFill>
              <a:latin typeface="Vrinda" pitchFamily="2" charset="0"/>
              <a:cs typeface="Vrinda" pitchFamily="2" charset="0"/>
            </a:endParaRP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Bee Software a optimisé son système de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sécurité sous    B-</a:t>
            </a:r>
            <a:r>
              <a:rPr lang="fr-FR" sz="1200" dirty="0" err="1" smtClean="0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afin de veiller à la protection de vos données sur Internet</a:t>
            </a:r>
          </a:p>
        </p:txBody>
      </p:sp>
      <p:sp>
        <p:nvSpPr>
          <p:cNvPr id="8" name="ZoneTexte 3"/>
          <p:cNvSpPr txBox="1">
            <a:spLocks noChangeArrowheads="1"/>
          </p:cNvSpPr>
          <p:nvPr/>
        </p:nvSpPr>
        <p:spPr bwMode="auto">
          <a:xfrm>
            <a:off x="4572000" y="3643314"/>
            <a:ext cx="1714502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La Facilité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La prise en main de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B-</a:t>
            </a:r>
            <a:r>
              <a:rPr lang="fr-FR" sz="1200" dirty="0" err="1" smtClean="0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est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immédiate, intuitive,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facilitée par une ergonomie conviviale :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Quelques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minutes suffisent pour en comprendre le fonctionnement</a:t>
            </a:r>
          </a:p>
        </p:txBody>
      </p:sp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Accessible sur Internet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2" name="ZoneTexte 6"/>
          <p:cNvSpPr txBox="1">
            <a:spLocks noChangeArrowheads="1"/>
          </p:cNvSpPr>
          <p:nvPr/>
        </p:nvSpPr>
        <p:spPr bwMode="auto">
          <a:xfrm>
            <a:off x="5857904" y="357166"/>
            <a:ext cx="28575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B-</a:t>
            </a:r>
            <a:r>
              <a:rPr lang="fr-FR" sz="54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Hive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3"/>
          <p:cNvSpPr txBox="1">
            <a:spLocks noChangeArrowheads="1"/>
          </p:cNvSpPr>
          <p:nvPr/>
        </p:nvSpPr>
        <p:spPr bwMode="auto">
          <a:xfrm>
            <a:off x="2714622" y="1857364"/>
            <a:ext cx="1714502" cy="104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International</a:t>
            </a:r>
          </a:p>
          <a:p>
            <a:pPr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Afin de s’adapter à tous les utilisateurs, B-</a:t>
            </a:r>
            <a:r>
              <a:rPr lang="fr-FR" sz="1200" dirty="0" err="1" smtClean="0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 est traduit dans plusieurs langues</a:t>
            </a:r>
            <a:endParaRPr lang="fr-FR" sz="1200" dirty="0">
              <a:latin typeface="Vrinda" pitchFamily="2" charset="0"/>
              <a:cs typeface="Vrinda" pitchFamily="2" charset="0"/>
            </a:endParaRPr>
          </a:p>
        </p:txBody>
      </p:sp>
      <p:sp>
        <p:nvSpPr>
          <p:cNvPr id="10" name="ZoneTexte 3"/>
          <p:cNvSpPr txBox="1">
            <a:spLocks noChangeArrowheads="1"/>
          </p:cNvSpPr>
          <p:nvPr/>
        </p:nvSpPr>
        <p:spPr bwMode="auto">
          <a:xfrm>
            <a:off x="2714612" y="3429000"/>
            <a:ext cx="1714503" cy="215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Mobilité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B-</a:t>
            </a:r>
            <a:r>
              <a:rPr lang="fr-FR" sz="1200" dirty="0" err="1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 est accessible à distance via un navigateur internet.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Grâce à cet accès, le logiciel est utilisable depuis n’importe quel ordinateur.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Il ne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requiert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ni livraison, ni installation sur un poste client.</a:t>
            </a: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>
            <a:spLocks noChangeArrowheads="1"/>
          </p:cNvSpPr>
          <p:nvPr/>
        </p:nvSpPr>
        <p:spPr bwMode="auto">
          <a:xfrm>
            <a:off x="3286116" y="1397000"/>
            <a:ext cx="1714501" cy="1969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La Réactivité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B-</a:t>
            </a:r>
            <a:r>
              <a:rPr lang="fr-FR" sz="1200" dirty="0" err="1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 est votre allié dans la gestion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de temps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.</a:t>
            </a:r>
          </a:p>
          <a:p>
            <a:pPr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B-</a:t>
            </a:r>
            <a:r>
              <a:rPr lang="fr-FR" sz="1200" dirty="0" err="1" smtClean="0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 synthétise en temps réel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toutes les informations pour vous, permettant un gain de temps exceptionnel.</a:t>
            </a:r>
          </a:p>
        </p:txBody>
      </p:sp>
      <p:sp>
        <p:nvSpPr>
          <p:cNvPr id="5" name="ZoneTexte 3"/>
          <p:cNvSpPr txBox="1">
            <a:spLocks noChangeArrowheads="1"/>
          </p:cNvSpPr>
          <p:nvPr/>
        </p:nvSpPr>
        <p:spPr bwMode="auto">
          <a:xfrm>
            <a:off x="6858025" y="1393830"/>
            <a:ext cx="1428751" cy="2339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Ecologique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B-</a:t>
            </a:r>
            <a:r>
              <a:rPr lang="fr-FR" sz="1200" dirty="0" err="1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 permet de réduire votre consommation de papier de manière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non négligeable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, permettant ainsi de préserver l’environnement grâce à l’automatisation des données</a:t>
            </a:r>
          </a:p>
        </p:txBody>
      </p:sp>
      <p:sp>
        <p:nvSpPr>
          <p:cNvPr id="6" name="ZoneTexte 3"/>
          <p:cNvSpPr txBox="1">
            <a:spLocks noChangeArrowheads="1"/>
          </p:cNvSpPr>
          <p:nvPr/>
        </p:nvSpPr>
        <p:spPr bwMode="auto">
          <a:xfrm>
            <a:off x="3286116" y="3822723"/>
            <a:ext cx="1714512" cy="2708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La Personnalisation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- Vous pouvez paramétrer B-</a:t>
            </a:r>
            <a:r>
              <a:rPr lang="fr-FR" sz="1200" dirty="0" err="1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 à votre problématique, à vos informations, à vos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habitudes de travail.</a:t>
            </a:r>
            <a:endParaRPr lang="fr-FR" sz="1200" dirty="0">
              <a:latin typeface="Vrinda" pitchFamily="2" charset="0"/>
              <a:cs typeface="Vrinda" pitchFamily="2" charset="0"/>
            </a:endParaRP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Ce paramétrage s’effectue à la volée, de façon immédiate.</a:t>
            </a:r>
          </a:p>
          <a:p>
            <a:pPr>
              <a:buFontTx/>
              <a:buChar char="-"/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Grâce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à son </a:t>
            </a:r>
            <a:r>
              <a:rPr lang="fr-FR" sz="1200" dirty="0" err="1">
                <a:latin typeface="Vrinda" pitchFamily="2" charset="0"/>
                <a:cs typeface="Vrinda" pitchFamily="2" charset="0"/>
              </a:rPr>
              <a:t>Workflow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, B-</a:t>
            </a:r>
            <a:r>
              <a:rPr lang="fr-FR" sz="1200" dirty="0" err="1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 s’adapte aux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besoins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de votre entreprise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.</a:t>
            </a:r>
          </a:p>
        </p:txBody>
      </p:sp>
      <p:sp>
        <p:nvSpPr>
          <p:cNvPr id="7" name="ZoneTexte 3"/>
          <p:cNvSpPr txBox="1">
            <a:spLocks noChangeArrowheads="1"/>
          </p:cNvSpPr>
          <p:nvPr/>
        </p:nvSpPr>
        <p:spPr bwMode="auto">
          <a:xfrm>
            <a:off x="5072062" y="2506516"/>
            <a:ext cx="1714515" cy="2708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La Satisfaction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Il optimise les temps de recherche, la communication au sein du service, la traçabilité des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actions.</a:t>
            </a:r>
          </a:p>
          <a:p>
            <a:pPr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Il facilite l’obtention d’un niveau CMMI en généralisant votre méthodologie à l’ensemble des services de votre  société.</a:t>
            </a:r>
            <a:endParaRPr lang="fr-FR" sz="1200" dirty="0">
              <a:latin typeface="Vrinda" pitchFamily="2" charset="0"/>
              <a:cs typeface="Vrinda" pitchFamily="2" charset="0"/>
            </a:endParaRPr>
          </a:p>
          <a:p>
            <a:pPr>
              <a:defRPr/>
            </a:pPr>
            <a:endParaRPr lang="fr-FR" sz="1200" dirty="0">
              <a:latin typeface="Vrinda" pitchFamily="2" charset="0"/>
              <a:cs typeface="Vrinda" pitchFamily="2" charset="0"/>
            </a:endParaRPr>
          </a:p>
        </p:txBody>
      </p:sp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Innovant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1" name="ZoneTexte 6"/>
          <p:cNvSpPr txBox="1">
            <a:spLocks noChangeArrowheads="1"/>
          </p:cNvSpPr>
          <p:nvPr/>
        </p:nvSpPr>
        <p:spPr bwMode="auto">
          <a:xfrm>
            <a:off x="5857904" y="357166"/>
            <a:ext cx="28575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B-</a:t>
            </a:r>
            <a:r>
              <a:rPr lang="fr-FR" sz="54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Hive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2" name="ZoneTexte 3"/>
          <p:cNvSpPr txBox="1">
            <a:spLocks noChangeArrowheads="1"/>
          </p:cNvSpPr>
          <p:nvPr/>
        </p:nvSpPr>
        <p:spPr bwMode="auto">
          <a:xfrm>
            <a:off x="6786578" y="3857628"/>
            <a:ext cx="1643065" cy="2339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Budget</a:t>
            </a:r>
            <a:endParaRPr lang="fr-FR" sz="1400" b="1" dirty="0">
              <a:solidFill>
                <a:schemeClr val="accent2">
                  <a:lumMod val="60000"/>
                  <a:lumOff val="40000"/>
                </a:schemeClr>
              </a:solidFill>
              <a:latin typeface="Vrinda" pitchFamily="2" charset="0"/>
              <a:cs typeface="Vrinda" pitchFamily="2" charset="0"/>
            </a:endParaRPr>
          </a:p>
          <a:p>
            <a:pPr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Réaliser votre stratégie budgétaire. B-</a:t>
            </a:r>
            <a:r>
              <a:rPr lang="fr-FR" sz="1200" dirty="0" err="1" smtClean="0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 est capable de retrouver le budget en fonction des pays demandeur ou du site de la TMA (utile pour différencier la TMA interne et les offshores)</a:t>
            </a:r>
            <a:endParaRPr lang="fr-FR" sz="1200" dirty="0">
              <a:latin typeface="Vrinda" pitchFamily="2" charset="0"/>
              <a:cs typeface="Vrinda" pitchFamily="2" charset="0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071538" y="1610013"/>
            <a:ext cx="75009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Le rapport d’activité est saisi sur la demande de travaux permettant ainsi de nombreux tableaux bord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Ergonomie conviviale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Activity</a:t>
            </a:r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 report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2789354"/>
            <a:ext cx="6786578" cy="2211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357422" y="1071546"/>
            <a:ext cx="75009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Une création de ticket simple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Simplicité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Tickets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29058" y="1500174"/>
            <a:ext cx="4286280" cy="2041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-1785982" y="2071678"/>
            <a:ext cx="75009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Résolution du ticket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57290" y="4143380"/>
            <a:ext cx="75009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Retrouver  l’</a:t>
            </a:r>
            <a:r>
              <a:rPr lang="fr-FR" dirty="0" err="1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experience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 acquis sur les tickets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42976" y="4572008"/>
            <a:ext cx="74866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14282" y="2571744"/>
            <a:ext cx="3901843" cy="152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714348" y="1142984"/>
            <a:ext cx="81439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Améliorer vos chances d’obtenir votre niveau CMMI</a:t>
            </a:r>
          </a:p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Grâce à une méthodologie personnalisée, </a:t>
            </a:r>
          </a:p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généralisée à l’ensemble </a:t>
            </a:r>
            <a:r>
              <a:rPr lang="fr-FR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de vos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services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Gain de temps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1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Workflow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5357826"/>
            <a:ext cx="4210046" cy="6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Image 11" descr="logo-bhive1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00166" y="2571744"/>
            <a:ext cx="6153156" cy="1930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2910" y="3714752"/>
            <a:ext cx="4357718" cy="1575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572000" y="4458262"/>
            <a:ext cx="3271827" cy="68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 4" descr="gant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32" y="2285992"/>
            <a:ext cx="6038850" cy="3124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928662" y="1500174"/>
            <a:ext cx="76438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Améliorer le partage des taches grâce à la visualisations du </a:t>
            </a:r>
            <a:r>
              <a:rPr lang="fr-FR" dirty="0" err="1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capacity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 planning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Personnalisable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Capacity</a:t>
            </a:r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 planning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 4" descr="dossieranaly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22" y="1643050"/>
            <a:ext cx="5659437" cy="47164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2714612" y="1214422"/>
            <a:ext cx="3857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Le Dossier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d’Analyse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Ecologique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Reporting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000364" y="1285860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fr-FR" dirty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Planning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des </a:t>
            </a:r>
            <a:r>
              <a:rPr lang="fr-FR" dirty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congés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4546" y="3071810"/>
            <a:ext cx="5785195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3643306" y="2500306"/>
            <a:ext cx="33478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  <a:cs typeface="Aharoni" pitchFamily="2" charset="-79"/>
              </a:rPr>
              <a:t>Planning d’astreinte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  <a:cs typeface="Aharoni" pitchFamily="2" charset="-79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43174" y="4110343"/>
            <a:ext cx="51580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  <a:cs typeface="Aharoni" pitchFamily="2" charset="-79"/>
              </a:rPr>
              <a:t>Planning de suivi de production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  <a:cs typeface="Aharoni" pitchFamily="2" charset="-79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14546" y="4572008"/>
            <a:ext cx="5786478" cy="1045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43108" y="1857364"/>
            <a:ext cx="5857884" cy="560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Tableau de bord pertinent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6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Schedule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786050" y="1214422"/>
            <a:ext cx="53578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Prestation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par collaborateurs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28926" y="2143116"/>
            <a:ext cx="52149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Prestation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par partenaire SSII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14710" y="3071810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fr-FR" dirty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Prestation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par budget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4546" y="1714488"/>
            <a:ext cx="5974627" cy="295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4480" y="2571744"/>
            <a:ext cx="6691330" cy="456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4288" y="3071810"/>
            <a:ext cx="2886076" cy="139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Sécurité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5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Dashboard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43438" y="5000636"/>
            <a:ext cx="3429024" cy="1528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Image 15" descr="logo-bhive1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B3B3B3"/>
              </a:clrFrom>
              <a:clrTo>
                <a:srgbClr val="B3B3B3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04976" y="4830247"/>
            <a:ext cx="2509834" cy="1456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786082" y="3643314"/>
            <a:ext cx="5429256" cy="132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142976" y="1357298"/>
            <a:ext cx="707236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Vous trouvez B-Hive trop complexe pour votre besoin ?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  <a:p>
            <a:pPr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Aucun problème, les fonctionnalités de B-Hive sont paramétrables, ce qui signifie que vous pouvez décider de ce que vous voulez afficher.</a:t>
            </a:r>
          </a:p>
          <a:p>
            <a:pPr>
              <a:defRPr/>
            </a:pPr>
            <a:endParaRPr lang="fr-FR" sz="1200" dirty="0" smtClean="0">
              <a:latin typeface="Vrinda" pitchFamily="2" charset="0"/>
              <a:cs typeface="Vrinda" pitchFamily="2" charset="0"/>
            </a:endParaRPr>
          </a:p>
          <a:p>
            <a:pPr>
              <a:defRPr/>
            </a:pPr>
            <a:endParaRPr lang="fr-FR" sz="1200" dirty="0" smtClean="0">
              <a:latin typeface="Vrinda" pitchFamily="2" charset="0"/>
              <a:cs typeface="Vrinda" pitchFamily="2" charset="0"/>
            </a:endParaRPr>
          </a:p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Vous trouvez que B-Hive manque des fonctionnalités importantes à votre besoin ?</a:t>
            </a:r>
          </a:p>
          <a:p>
            <a:pPr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Aucun problème, toutes les évolutions effectuées sur B-Hive sont gratuites.</a:t>
            </a:r>
          </a:p>
          <a:p>
            <a:pPr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De plus B-Hive est en constante évolution et son prix …. N’évolue pas</a:t>
            </a:r>
          </a:p>
        </p:txBody>
      </p:sp>
      <p:sp>
        <p:nvSpPr>
          <p:cNvPr id="14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Personnalisable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5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Configuration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6" name="Image 15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142976" y="1357298"/>
            <a:ext cx="70723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Encore plus …. Toujours plus …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  <a:p>
            <a:pPr>
              <a:defRPr/>
            </a:pPr>
            <a:endParaRPr lang="fr-FR" sz="1200" dirty="0" smtClean="0">
              <a:latin typeface="Vrinda" pitchFamily="2" charset="0"/>
              <a:cs typeface="Vrinda" pitchFamily="2" charset="0"/>
            </a:endParaRPr>
          </a:p>
          <a:p>
            <a:pPr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B-Hive c’est aussi :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 Un suivi de projet (alerte / </a:t>
            </a:r>
            <a:r>
              <a:rPr lang="fr-FR" sz="1200" dirty="0" err="1" smtClean="0">
                <a:latin typeface="Vrinda" pitchFamily="2" charset="0"/>
                <a:cs typeface="Vrinda" pitchFamily="2" charset="0"/>
              </a:rPr>
              <a:t>stats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 / budget / graphe de suivi (UNIQUE)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 Des statistique sur mesure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 Des </a:t>
            </a:r>
            <a:r>
              <a:rPr lang="fr-FR" sz="1200" dirty="0" err="1" smtClean="0">
                <a:latin typeface="Vrinda" pitchFamily="2" charset="0"/>
                <a:cs typeface="Vrinda" pitchFamily="2" charset="0"/>
              </a:rPr>
              <a:t>reportings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 à la demande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 Une facturation possible sur les applications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 L’affectation d’une application à un client (pour les TMA)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 Un module SSII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 Un suivi budgétaire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 un workflow personnalisable</a:t>
            </a:r>
          </a:p>
          <a:p>
            <a:pPr lvl="1">
              <a:buFont typeface="Arial" pitchFamily="34" charset="0"/>
              <a:buChar char="•"/>
              <a:defRPr/>
            </a:pPr>
            <a:endParaRPr lang="fr-FR" sz="1200" dirty="0" smtClean="0">
              <a:latin typeface="Vrinda" pitchFamily="2" charset="0"/>
              <a:cs typeface="Vrinda" pitchFamily="2" charset="0"/>
            </a:endParaRPr>
          </a:p>
          <a:p>
            <a:pPr lvl="1">
              <a:buFont typeface="Arial" pitchFamily="34" charset="0"/>
              <a:buChar char="•"/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…. Et d’autres évolutions à venir</a:t>
            </a:r>
          </a:p>
          <a:p>
            <a:pPr lvl="3">
              <a:buFont typeface="Arial" pitchFamily="34" charset="0"/>
              <a:buChar char="•"/>
              <a:defRPr/>
            </a:pPr>
            <a:endParaRPr lang="fr-FR" sz="1200" dirty="0" smtClean="0">
              <a:latin typeface="Vrinda" pitchFamily="2" charset="0"/>
              <a:cs typeface="Vrinda" pitchFamily="2" charset="0"/>
            </a:endParaRPr>
          </a:p>
          <a:p>
            <a:pPr>
              <a:defRPr/>
            </a:pPr>
            <a:endParaRPr lang="fr-FR" sz="1200" dirty="0" smtClean="0">
              <a:latin typeface="Vrinda" pitchFamily="2" charset="0"/>
              <a:cs typeface="Vrinda" pitchFamily="2" charset="0"/>
            </a:endParaRPr>
          </a:p>
        </p:txBody>
      </p:sp>
      <p:sp>
        <p:nvSpPr>
          <p:cNvPr id="14" name="ZoneTexte 6"/>
          <p:cNvSpPr txBox="1">
            <a:spLocks noChangeArrowheads="1"/>
          </p:cNvSpPr>
          <p:nvPr/>
        </p:nvSpPr>
        <p:spPr bwMode="auto">
          <a:xfrm rot="16200000">
            <a:off x="6110611" y="3538827"/>
            <a:ext cx="571501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Une évolution constante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5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Evolution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6" name="Image 15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ZoneTexte 6"/>
          <p:cNvSpPr txBox="1">
            <a:spLocks noChangeArrowheads="1"/>
          </p:cNvSpPr>
          <p:nvPr/>
        </p:nvSpPr>
        <p:spPr bwMode="auto">
          <a:xfrm>
            <a:off x="4357686" y="2000240"/>
            <a:ext cx="3429028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6000" dirty="0" smtClean="0">
                <a:latin typeface="CordiaUPC" pitchFamily="34" charset="-34"/>
                <a:cs typeface="CordiaUPC" pitchFamily="34" charset="-34"/>
              </a:rPr>
              <a:t>Bee Software</a:t>
            </a:r>
          </a:p>
          <a:p>
            <a:r>
              <a:rPr lang="fr-FR" sz="1800" smtClean="0">
                <a:latin typeface="Arial" charset="0"/>
                <a:cs typeface="Arial" charset="0"/>
              </a:rPr>
              <a:t>staff</a:t>
            </a:r>
            <a:r>
              <a:rPr lang="fr-FR" sz="1800" smtClean="0">
                <a:latin typeface="Arial" charset="0"/>
                <a:cs typeface="Arial" charset="0"/>
              </a:rPr>
              <a:t>@beesoftware.fr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+33 (0)6 </a:t>
            </a:r>
            <a:r>
              <a:rPr lang="fr-FR" sz="1800" dirty="0" smtClean="0">
                <a:latin typeface="Arial" charset="0"/>
                <a:cs typeface="Arial" charset="0"/>
              </a:rPr>
              <a:t>63 39 31 15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http://</a:t>
            </a:r>
            <a:r>
              <a:rPr lang="fr-FR" sz="1800" dirty="0" smtClean="0">
                <a:latin typeface="Arial" charset="0"/>
                <a:cs typeface="Arial" charset="0"/>
              </a:rPr>
              <a:t>www.beesoftware.fr</a:t>
            </a:r>
            <a:endParaRPr lang="fr-FR" sz="1800" dirty="0" smtClean="0">
              <a:latin typeface="Arial" charset="0"/>
              <a:cs typeface="Arial" charset="0"/>
            </a:endParaRPr>
          </a:p>
        </p:txBody>
      </p:sp>
      <p:sp>
        <p:nvSpPr>
          <p:cNvPr id="4107" name="ZoneTexte 10"/>
          <p:cNvSpPr txBox="1">
            <a:spLocks noChangeArrowheads="1"/>
          </p:cNvSpPr>
          <p:nvPr/>
        </p:nvSpPr>
        <p:spPr bwMode="auto">
          <a:xfrm>
            <a:off x="0" y="6596063"/>
            <a:ext cx="3643313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/>
              <a:t>Copyright © 2008 beesoftware.net. All Rights Reserved</a:t>
            </a:r>
            <a:endParaRPr lang="fr-FR" sz="1100"/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Nous contacter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28564" y="2071678"/>
            <a:ext cx="8715436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« Faire simple est probablement l’objectif </a:t>
            </a:r>
          </a:p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le plus sophistiqué du monde »</a:t>
            </a:r>
            <a:endParaRPr lang="fr-FR" sz="4400" b="1" dirty="0">
              <a:latin typeface="Vivaldi" pitchFamily="66" charset="0"/>
              <a:cs typeface="Vrinda" pitchFamily="2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357818" y="3714752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Steve Jobs (Co-fondateur d’Apple INC)</a:t>
            </a:r>
            <a:endParaRPr lang="fr-FR" b="1" dirty="0">
              <a:solidFill>
                <a:schemeClr val="accent6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" name="Image 11" descr="Bee-Software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57488" y="4786322"/>
            <a:ext cx="4070106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66CC"/>
      </a:hlink>
      <a:folHlink>
        <a:srgbClr val="0099CC"/>
      </a:folHlink>
    </a:clrScheme>
    <a:fontScheme name="Modèle par défaut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3046</TotalTime>
  <Words>724</Words>
  <Application>Microsoft PowerPoint</Application>
  <PresentationFormat>Affichage à l'écran (4:3)</PresentationFormat>
  <Paragraphs>109</Paragraphs>
  <Slides>15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Modèle par défaut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L.Hermez</dc:creator>
  <cp:lastModifiedBy>Madgic</cp:lastModifiedBy>
  <cp:revision>263</cp:revision>
  <dcterms:created xsi:type="dcterms:W3CDTF">2008-08-18T15:51:12Z</dcterms:created>
  <dcterms:modified xsi:type="dcterms:W3CDTF">2014-06-05T14:48:28Z</dcterms:modified>
</cp:coreProperties>
</file>