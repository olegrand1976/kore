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1" r:id="rId2"/>
    <p:sldId id="292" r:id="rId3"/>
    <p:sldId id="293" r:id="rId4"/>
    <p:sldId id="294" r:id="rId5"/>
    <p:sldId id="295" r:id="rId6"/>
    <p:sldId id="304" r:id="rId7"/>
    <p:sldId id="297" r:id="rId8"/>
    <p:sldId id="298" r:id="rId9"/>
    <p:sldId id="308" r:id="rId10"/>
    <p:sldId id="310" r:id="rId11"/>
    <p:sldId id="311" r:id="rId12"/>
    <p:sldId id="303" r:id="rId13"/>
    <p:sldId id="309" r:id="rId14"/>
    <p:sldId id="306" r:id="rId15"/>
    <p:sldId id="307" r:id="rId16"/>
    <p:sldId id="296" r:id="rId17"/>
    <p:sldId id="302" r:id="rId18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56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56FDCA-F10A-4569-ADA3-BC521BBB95DE}" type="doc">
      <dgm:prSet loTypeId="urn:microsoft.com/office/officeart/2005/8/layout/cycle6" loCatId="relationship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EA455704-5F2F-43FD-B4F4-C82835626BFF}">
      <dgm:prSet phldrT="[Texte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>
        <a:solidFill>
          <a:srgbClr val="C00000"/>
        </a:solidFill>
      </dgm:spPr>
      <dgm:t>
        <a:bodyPr/>
        <a:lstStyle/>
        <a:p>
          <a:r>
            <a:rPr lang="fr-FR" sz="1600" dirty="0" smtClean="0"/>
            <a:t>TMA</a:t>
          </a:r>
          <a:endParaRPr lang="fr-FR" sz="1600" dirty="0"/>
        </a:p>
      </dgm:t>
    </dgm:pt>
    <dgm:pt modelId="{99D18549-E2C4-4E25-9708-E34BF8829F36}" type="parTrans" cxnId="{C45BB2C7-C506-4202-8857-CA26D46DC94E}">
      <dgm:prSet/>
      <dgm:spPr/>
      <dgm:t>
        <a:bodyPr/>
        <a:lstStyle/>
        <a:p>
          <a:endParaRPr lang="fr-FR"/>
        </a:p>
      </dgm:t>
    </dgm:pt>
    <dgm:pt modelId="{6A62E854-9050-47A6-9A98-30E1267DB04E}" type="sibTrans" cxnId="{C45BB2C7-C506-4202-8857-CA26D46DC94E}">
      <dgm:prSet/>
      <dgm:spPr/>
      <dgm:t>
        <a:bodyPr/>
        <a:lstStyle/>
        <a:p>
          <a:endParaRPr lang="fr-FR"/>
        </a:p>
      </dgm:t>
    </dgm:pt>
    <dgm:pt modelId="{7E08A364-1B19-4A0F-91E0-A92D2153AAD1}">
      <dgm:prSet phldrT="[Texte]" custT="1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fr-FR" sz="1600" dirty="0" smtClean="0"/>
            <a:t>SSII</a:t>
          </a:r>
          <a:endParaRPr lang="fr-FR" sz="1600" dirty="0"/>
        </a:p>
      </dgm:t>
    </dgm:pt>
    <dgm:pt modelId="{B5FDC29C-535E-44EC-AD19-6E37407AEC93}" type="parTrans" cxnId="{888A8256-ECA8-4225-A559-8DFC41148E6A}">
      <dgm:prSet/>
      <dgm:spPr/>
      <dgm:t>
        <a:bodyPr/>
        <a:lstStyle/>
        <a:p>
          <a:endParaRPr lang="fr-FR"/>
        </a:p>
      </dgm:t>
    </dgm:pt>
    <dgm:pt modelId="{D102889D-A39B-4F39-8EB2-93205C06052E}" type="sibTrans" cxnId="{888A8256-ECA8-4225-A559-8DFC41148E6A}">
      <dgm:prSet/>
      <dgm:spPr/>
      <dgm:t>
        <a:bodyPr/>
        <a:lstStyle/>
        <a:p>
          <a:endParaRPr lang="fr-FR"/>
        </a:p>
      </dgm:t>
    </dgm:pt>
    <dgm:pt modelId="{E3BE4FB8-7A21-45D5-AA9D-469C75CB2913}">
      <dgm:prSet phldrT="[Texte]" custT="1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>
        <a:solidFill>
          <a:srgbClr val="FFC000"/>
        </a:solidFill>
      </dgm:spPr>
      <dgm:t>
        <a:bodyPr/>
        <a:lstStyle/>
        <a:p>
          <a:r>
            <a:rPr lang="fr-FR" sz="1600" dirty="0" smtClean="0">
              <a:solidFill>
                <a:schemeClr val="tx1"/>
              </a:solidFill>
            </a:rPr>
            <a:t>Support</a:t>
          </a:r>
        </a:p>
      </dgm:t>
    </dgm:pt>
    <dgm:pt modelId="{A0581428-8DE2-4B5A-9A0A-B9DB3DA29E40}" type="parTrans" cxnId="{CF1286AB-A03A-4A4C-9CDB-595E00CD9D1C}">
      <dgm:prSet/>
      <dgm:spPr/>
      <dgm:t>
        <a:bodyPr/>
        <a:lstStyle/>
        <a:p>
          <a:endParaRPr lang="fr-FR"/>
        </a:p>
      </dgm:t>
    </dgm:pt>
    <dgm:pt modelId="{50F04CEB-7AF8-4CAD-9094-08F7E526303B}" type="sibTrans" cxnId="{CF1286AB-A03A-4A4C-9CDB-595E00CD9D1C}">
      <dgm:prSet/>
      <dgm:spPr/>
      <dgm:t>
        <a:bodyPr/>
        <a:lstStyle/>
        <a:p>
          <a:endParaRPr lang="fr-FR"/>
        </a:p>
      </dgm:t>
    </dgm:pt>
    <dgm:pt modelId="{7D02C143-9D02-43F1-8B3A-3C55D8CA4863}">
      <dgm:prSet phldrT="[Texte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solidFill>
          <a:srgbClr val="7030A0"/>
        </a:solidFill>
      </dgm:spPr>
      <dgm:t>
        <a:bodyPr/>
        <a:lstStyle/>
        <a:p>
          <a:r>
            <a:rPr lang="fr-FR" dirty="0" smtClean="0">
              <a:solidFill>
                <a:schemeClr val="tx1"/>
              </a:solidFill>
            </a:rPr>
            <a:t>Maintenance technique</a:t>
          </a:r>
        </a:p>
        <a:p>
          <a:r>
            <a:rPr lang="fr-FR" i="1" dirty="0" smtClean="0">
              <a:solidFill>
                <a:schemeClr val="tx1"/>
              </a:solidFill>
            </a:rPr>
            <a:t>(en cours)</a:t>
          </a:r>
          <a:endParaRPr lang="fr-FR" i="1" dirty="0">
            <a:solidFill>
              <a:schemeClr val="tx1"/>
            </a:solidFill>
          </a:endParaRPr>
        </a:p>
      </dgm:t>
    </dgm:pt>
    <dgm:pt modelId="{F2D5BC4F-0DEA-4BAC-8FB3-CDA3EB26E16A}" type="parTrans" cxnId="{540C8494-521B-4568-98F6-06ECF8301129}">
      <dgm:prSet/>
      <dgm:spPr/>
      <dgm:t>
        <a:bodyPr/>
        <a:lstStyle/>
        <a:p>
          <a:endParaRPr lang="fr-FR"/>
        </a:p>
      </dgm:t>
    </dgm:pt>
    <dgm:pt modelId="{BB435B31-F1C2-4FC0-AE3A-8EEBA2DFF0A6}" type="sibTrans" cxnId="{540C8494-521B-4568-98F6-06ECF8301129}">
      <dgm:prSet/>
      <dgm:spPr/>
      <dgm:t>
        <a:bodyPr/>
        <a:lstStyle/>
        <a:p>
          <a:endParaRPr lang="fr-FR"/>
        </a:p>
      </dgm:t>
    </dgm:pt>
    <dgm:pt modelId="{07A2DC56-C94B-4913-A2C0-7C3E275F49D8}">
      <dgm:prSet phldrT="[Texte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r-FR" dirty="0" smtClean="0"/>
            <a:t>Dossier administratif</a:t>
          </a:r>
        </a:p>
        <a:p>
          <a:r>
            <a:rPr lang="fr-FR" i="1" dirty="0" smtClean="0"/>
            <a:t>(commandé)</a:t>
          </a:r>
          <a:endParaRPr lang="fr-FR" i="1" dirty="0"/>
        </a:p>
      </dgm:t>
    </dgm:pt>
    <dgm:pt modelId="{78BAD516-8F4D-4653-A083-1AA583402308}" type="parTrans" cxnId="{09A40662-5321-43C3-A6F9-5B2701ABB9F5}">
      <dgm:prSet/>
      <dgm:spPr/>
      <dgm:t>
        <a:bodyPr/>
        <a:lstStyle/>
        <a:p>
          <a:endParaRPr lang="fr-FR"/>
        </a:p>
      </dgm:t>
    </dgm:pt>
    <dgm:pt modelId="{D1DE37D7-10F8-441C-BD99-A179B1A11102}" type="sibTrans" cxnId="{09A40662-5321-43C3-A6F9-5B2701ABB9F5}">
      <dgm:prSet/>
      <dgm:spPr/>
      <dgm:t>
        <a:bodyPr/>
        <a:lstStyle/>
        <a:p>
          <a:endParaRPr lang="fr-FR"/>
        </a:p>
      </dgm:t>
    </dgm:pt>
    <dgm:pt modelId="{53A21FAC-9293-4616-87F5-68FAF285BF46}">
      <dgm:prSet phldrT="[Texte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r-FR" dirty="0" smtClean="0"/>
            <a:t>Projet Informatique</a:t>
          </a:r>
        </a:p>
        <a:p>
          <a:r>
            <a:rPr lang="fr-FR" i="1" dirty="0" smtClean="0"/>
            <a:t>(commandé)</a:t>
          </a:r>
          <a:endParaRPr lang="fr-FR" i="1" dirty="0"/>
        </a:p>
      </dgm:t>
    </dgm:pt>
    <dgm:pt modelId="{7CFFA4C9-2B38-4561-95C9-0BCA1303970B}" type="parTrans" cxnId="{71E4351A-1CE8-406E-B692-50EFDD6BE9AB}">
      <dgm:prSet/>
      <dgm:spPr/>
      <dgm:t>
        <a:bodyPr/>
        <a:lstStyle/>
        <a:p>
          <a:endParaRPr lang="fr-FR"/>
        </a:p>
      </dgm:t>
    </dgm:pt>
    <dgm:pt modelId="{55739EB1-8861-45A4-ADED-30CAF50CDC6A}" type="sibTrans" cxnId="{71E4351A-1CE8-406E-B692-50EFDD6BE9AB}">
      <dgm:prSet/>
      <dgm:spPr/>
      <dgm:t>
        <a:bodyPr/>
        <a:lstStyle/>
        <a:p>
          <a:endParaRPr lang="fr-FR"/>
        </a:p>
      </dgm:t>
    </dgm:pt>
    <dgm:pt modelId="{7F844286-09E2-4BC5-9445-06BA24E38650}">
      <dgm:prSet phldrT="[Texte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solidFill>
          <a:srgbClr val="00B050"/>
        </a:solidFill>
      </dgm:spPr>
      <dgm:t>
        <a:bodyPr/>
        <a:lstStyle/>
        <a:p>
          <a:r>
            <a:rPr lang="fr-FR" dirty="0" smtClean="0"/>
            <a:t>Autre ?</a:t>
          </a:r>
        </a:p>
        <a:p>
          <a:r>
            <a:rPr lang="fr-FR" dirty="0" smtClean="0"/>
            <a:t>Demander-le gratuitement</a:t>
          </a:r>
          <a:endParaRPr lang="fr-FR" dirty="0"/>
        </a:p>
      </dgm:t>
    </dgm:pt>
    <dgm:pt modelId="{2E29C0F5-C4FE-41BE-944D-B2651460A040}" type="parTrans" cxnId="{A71723DB-2F3F-435B-A4B9-7E2AA2B8211F}">
      <dgm:prSet/>
      <dgm:spPr/>
      <dgm:t>
        <a:bodyPr/>
        <a:lstStyle/>
        <a:p>
          <a:endParaRPr lang="fr-FR"/>
        </a:p>
      </dgm:t>
    </dgm:pt>
    <dgm:pt modelId="{EDF081BA-037B-4F88-B8A6-09FCC189ED3A}" type="sibTrans" cxnId="{A71723DB-2F3F-435B-A4B9-7E2AA2B8211F}">
      <dgm:prSet/>
      <dgm:spPr/>
      <dgm:t>
        <a:bodyPr/>
        <a:lstStyle/>
        <a:p>
          <a:endParaRPr lang="fr-FR"/>
        </a:p>
      </dgm:t>
    </dgm:pt>
    <dgm:pt modelId="{3201E424-A068-4F3B-97D6-0CA306B6D64D}" type="pres">
      <dgm:prSet presAssocID="{F656FDCA-F10A-4569-ADA3-BC521BBB95DE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F44EBCF5-0279-4B00-960E-60E517681875}" type="pres">
      <dgm:prSet presAssocID="{EA455704-5F2F-43FD-B4F4-C82835626BFF}" presName="node" presStyleLbl="node1" presStyleIdx="0" presStyleCnt="7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38BF02AB-C339-4458-AF40-E697F25613A9}" type="pres">
      <dgm:prSet presAssocID="{EA455704-5F2F-43FD-B4F4-C82835626BFF}" presName="spNode" presStyleCnt="0"/>
      <dgm:spPr/>
      <dgm:t>
        <a:bodyPr/>
        <a:lstStyle/>
        <a:p>
          <a:endParaRPr lang="fr-FR"/>
        </a:p>
      </dgm:t>
    </dgm:pt>
    <dgm:pt modelId="{64862357-9BFF-45E2-BBCC-A284ABF2E115}" type="pres">
      <dgm:prSet presAssocID="{6A62E854-9050-47A6-9A98-30E1267DB04E}" presName="sibTrans" presStyleLbl="sibTrans1D1" presStyleIdx="0" presStyleCnt="7"/>
      <dgm:spPr/>
      <dgm:t>
        <a:bodyPr/>
        <a:lstStyle/>
        <a:p>
          <a:endParaRPr lang="fr-FR"/>
        </a:p>
      </dgm:t>
    </dgm:pt>
    <dgm:pt modelId="{D1231913-354D-4C8D-A792-BBDCB407C560}" type="pres">
      <dgm:prSet presAssocID="{7E08A364-1B19-4A0F-91E0-A92D2153AAD1}" presName="node" presStyleLbl="node1" presStyleIdx="1" presStyleCnt="7" custRadScaleRad="132855" custRadScaleInc="107406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3BCF6BFA-AF75-4D15-826C-5609175548DC}" type="pres">
      <dgm:prSet presAssocID="{7E08A364-1B19-4A0F-91E0-A92D2153AAD1}" presName="spNode" presStyleCnt="0"/>
      <dgm:spPr/>
      <dgm:t>
        <a:bodyPr/>
        <a:lstStyle/>
        <a:p>
          <a:endParaRPr lang="fr-FR"/>
        </a:p>
      </dgm:t>
    </dgm:pt>
    <dgm:pt modelId="{A2AE8883-E62E-41A8-A0F4-F6DBAC0F149E}" type="pres">
      <dgm:prSet presAssocID="{D102889D-A39B-4F39-8EB2-93205C06052E}" presName="sibTrans" presStyleLbl="sibTrans1D1" presStyleIdx="1" presStyleCnt="7"/>
      <dgm:spPr/>
      <dgm:t>
        <a:bodyPr/>
        <a:lstStyle/>
        <a:p>
          <a:endParaRPr lang="fr-FR"/>
        </a:p>
      </dgm:t>
    </dgm:pt>
    <dgm:pt modelId="{492ADD7D-816E-4975-8D8E-F24D7E7766A8}" type="pres">
      <dgm:prSet presAssocID="{E3BE4FB8-7A21-45D5-AA9D-469C75CB2913}" presName="node" presStyleLbl="node1" presStyleIdx="2" presStyleCnt="7" custRadScaleRad="142161" custRadScaleInc="3171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D0356398-50E5-4F28-99A1-595731B50864}" type="pres">
      <dgm:prSet presAssocID="{E3BE4FB8-7A21-45D5-AA9D-469C75CB2913}" presName="spNode" presStyleCnt="0"/>
      <dgm:spPr/>
      <dgm:t>
        <a:bodyPr/>
        <a:lstStyle/>
        <a:p>
          <a:endParaRPr lang="fr-FR"/>
        </a:p>
      </dgm:t>
    </dgm:pt>
    <dgm:pt modelId="{0E18C0ED-E3AA-4807-8BC8-CBAE1DA5AAC8}" type="pres">
      <dgm:prSet presAssocID="{50F04CEB-7AF8-4CAD-9094-08F7E526303B}" presName="sibTrans" presStyleLbl="sibTrans1D1" presStyleIdx="2" presStyleCnt="7"/>
      <dgm:spPr/>
      <dgm:t>
        <a:bodyPr/>
        <a:lstStyle/>
        <a:p>
          <a:endParaRPr lang="fr-FR"/>
        </a:p>
      </dgm:t>
    </dgm:pt>
    <dgm:pt modelId="{BDB31EBE-10D9-4728-9A76-C587114A9906}" type="pres">
      <dgm:prSet presAssocID="{7D02C143-9D02-43F1-8B3A-3C55D8CA4863}" presName="node" presStyleLbl="node1" presStyleIdx="3" presStyleCnt="7" custRadScaleRad="103960" custRadScaleInc="-67116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8B5575FD-CC7F-4A1E-A242-BC6DACEBDF72}" type="pres">
      <dgm:prSet presAssocID="{7D02C143-9D02-43F1-8B3A-3C55D8CA4863}" presName="spNode" presStyleCnt="0"/>
      <dgm:spPr/>
      <dgm:t>
        <a:bodyPr/>
        <a:lstStyle/>
        <a:p>
          <a:endParaRPr lang="fr-FR"/>
        </a:p>
      </dgm:t>
    </dgm:pt>
    <dgm:pt modelId="{5C93FF07-E27F-4D81-8CA8-1A7830F2370C}" type="pres">
      <dgm:prSet presAssocID="{BB435B31-F1C2-4FC0-AE3A-8EEBA2DFF0A6}" presName="sibTrans" presStyleLbl="sibTrans1D1" presStyleIdx="3" presStyleCnt="7"/>
      <dgm:spPr/>
      <dgm:t>
        <a:bodyPr/>
        <a:lstStyle/>
        <a:p>
          <a:endParaRPr lang="fr-FR"/>
        </a:p>
      </dgm:t>
    </dgm:pt>
    <dgm:pt modelId="{BEC28C30-E4E4-467A-9EF5-128D35C90D7D}" type="pres">
      <dgm:prSet presAssocID="{07A2DC56-C94B-4913-A2C0-7C3E275F49D8}" presName="node" presStyleLbl="node1" presStyleIdx="4" presStyleCnt="7" custRadScaleRad="104934" custRadScaleInc="71168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E6F78F18-F53F-4F5D-A02E-226E75BB6CE1}" type="pres">
      <dgm:prSet presAssocID="{07A2DC56-C94B-4913-A2C0-7C3E275F49D8}" presName="spNode" presStyleCnt="0"/>
      <dgm:spPr/>
      <dgm:t>
        <a:bodyPr/>
        <a:lstStyle/>
        <a:p>
          <a:endParaRPr lang="fr-FR"/>
        </a:p>
      </dgm:t>
    </dgm:pt>
    <dgm:pt modelId="{320A98BF-409C-4B70-B662-0BA7B2D4A362}" type="pres">
      <dgm:prSet presAssocID="{D1DE37D7-10F8-441C-BD99-A179B1A11102}" presName="sibTrans" presStyleLbl="sibTrans1D1" presStyleIdx="4" presStyleCnt="7"/>
      <dgm:spPr/>
      <dgm:t>
        <a:bodyPr/>
        <a:lstStyle/>
        <a:p>
          <a:endParaRPr lang="fr-FR"/>
        </a:p>
      </dgm:t>
    </dgm:pt>
    <dgm:pt modelId="{1C33056A-9E0D-446D-AF62-32FDC13FEDDD}" type="pres">
      <dgm:prSet presAssocID="{53A21FAC-9293-4616-87F5-68FAF285BF46}" presName="node" presStyleLbl="node1" presStyleIdx="5" presStyleCnt="7" custRadScaleRad="140516" custRadScaleInc="-10762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D424BAA7-C406-4485-BD7D-2A72EB476CAA}" type="pres">
      <dgm:prSet presAssocID="{53A21FAC-9293-4616-87F5-68FAF285BF46}" presName="spNode" presStyleCnt="0"/>
      <dgm:spPr/>
      <dgm:t>
        <a:bodyPr/>
        <a:lstStyle/>
        <a:p>
          <a:endParaRPr lang="fr-FR"/>
        </a:p>
      </dgm:t>
    </dgm:pt>
    <dgm:pt modelId="{EB720F68-0B3D-48A5-8BD7-8E8AF7B109F9}" type="pres">
      <dgm:prSet presAssocID="{55739EB1-8861-45A4-ADED-30CAF50CDC6A}" presName="sibTrans" presStyleLbl="sibTrans1D1" presStyleIdx="5" presStyleCnt="7"/>
      <dgm:spPr/>
      <dgm:t>
        <a:bodyPr/>
        <a:lstStyle/>
        <a:p>
          <a:endParaRPr lang="fr-FR"/>
        </a:p>
      </dgm:t>
    </dgm:pt>
    <dgm:pt modelId="{107D47FB-942F-49C4-B22B-99208A808380}" type="pres">
      <dgm:prSet presAssocID="{7F844286-09E2-4BC5-9445-06BA24E38650}" presName="node" presStyleLbl="node1" presStyleIdx="6" presStyleCnt="7" custRadScaleRad="130627" custRadScaleInc="-105312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3E69F0B6-12CC-4E69-BB0F-59AA5E86B2B5}" type="pres">
      <dgm:prSet presAssocID="{7F844286-09E2-4BC5-9445-06BA24E38650}" presName="spNode" presStyleCnt="0"/>
      <dgm:spPr/>
    </dgm:pt>
    <dgm:pt modelId="{A9168A6C-8B1A-47EC-9E75-A03E4CBFB538}" type="pres">
      <dgm:prSet presAssocID="{EDF081BA-037B-4F88-B8A6-09FCC189ED3A}" presName="sibTrans" presStyleLbl="sibTrans1D1" presStyleIdx="6" presStyleCnt="7"/>
      <dgm:spPr/>
      <dgm:t>
        <a:bodyPr/>
        <a:lstStyle/>
        <a:p>
          <a:endParaRPr lang="fr-FR"/>
        </a:p>
      </dgm:t>
    </dgm:pt>
  </dgm:ptLst>
  <dgm:cxnLst>
    <dgm:cxn modelId="{BF5FA7F7-AEDB-4679-B900-2B79B4EAA4A0}" type="presOf" srcId="{D102889D-A39B-4F39-8EB2-93205C06052E}" destId="{A2AE8883-E62E-41A8-A0F4-F6DBAC0F149E}" srcOrd="0" destOrd="0" presId="urn:microsoft.com/office/officeart/2005/8/layout/cycle6"/>
    <dgm:cxn modelId="{55DE1C17-0E40-4EF2-9667-56F167623531}" type="presOf" srcId="{7D02C143-9D02-43F1-8B3A-3C55D8CA4863}" destId="{BDB31EBE-10D9-4728-9A76-C587114A9906}" srcOrd="0" destOrd="0" presId="urn:microsoft.com/office/officeart/2005/8/layout/cycle6"/>
    <dgm:cxn modelId="{C8F0A043-9713-47C7-93DE-7F3E29EA78BF}" type="presOf" srcId="{EA455704-5F2F-43FD-B4F4-C82835626BFF}" destId="{F44EBCF5-0279-4B00-960E-60E517681875}" srcOrd="0" destOrd="0" presId="urn:microsoft.com/office/officeart/2005/8/layout/cycle6"/>
    <dgm:cxn modelId="{6784A332-5801-46B1-B176-B145650793D6}" type="presOf" srcId="{EDF081BA-037B-4F88-B8A6-09FCC189ED3A}" destId="{A9168A6C-8B1A-47EC-9E75-A03E4CBFB538}" srcOrd="0" destOrd="0" presId="urn:microsoft.com/office/officeart/2005/8/layout/cycle6"/>
    <dgm:cxn modelId="{A71723DB-2F3F-435B-A4B9-7E2AA2B8211F}" srcId="{F656FDCA-F10A-4569-ADA3-BC521BBB95DE}" destId="{7F844286-09E2-4BC5-9445-06BA24E38650}" srcOrd="6" destOrd="0" parTransId="{2E29C0F5-C4FE-41BE-944D-B2651460A040}" sibTransId="{EDF081BA-037B-4F88-B8A6-09FCC189ED3A}"/>
    <dgm:cxn modelId="{913C3E83-6960-434E-9C13-85C1397AD634}" type="presOf" srcId="{7E08A364-1B19-4A0F-91E0-A92D2153AAD1}" destId="{D1231913-354D-4C8D-A792-BBDCB407C560}" srcOrd="0" destOrd="0" presId="urn:microsoft.com/office/officeart/2005/8/layout/cycle6"/>
    <dgm:cxn modelId="{BA4A3417-C3CC-4F26-B351-D06A4ADBBD19}" type="presOf" srcId="{55739EB1-8861-45A4-ADED-30CAF50CDC6A}" destId="{EB720F68-0B3D-48A5-8BD7-8E8AF7B109F9}" srcOrd="0" destOrd="0" presId="urn:microsoft.com/office/officeart/2005/8/layout/cycle6"/>
    <dgm:cxn modelId="{22E5ACBC-1B1F-4A22-8154-E1A13A14E269}" type="presOf" srcId="{7F844286-09E2-4BC5-9445-06BA24E38650}" destId="{107D47FB-942F-49C4-B22B-99208A808380}" srcOrd="0" destOrd="0" presId="urn:microsoft.com/office/officeart/2005/8/layout/cycle6"/>
    <dgm:cxn modelId="{09A40662-5321-43C3-A6F9-5B2701ABB9F5}" srcId="{F656FDCA-F10A-4569-ADA3-BC521BBB95DE}" destId="{07A2DC56-C94B-4913-A2C0-7C3E275F49D8}" srcOrd="4" destOrd="0" parTransId="{78BAD516-8F4D-4653-A083-1AA583402308}" sibTransId="{D1DE37D7-10F8-441C-BD99-A179B1A11102}"/>
    <dgm:cxn modelId="{C1A1D045-45A3-4D10-9A3F-91CA9774B00B}" type="presOf" srcId="{F656FDCA-F10A-4569-ADA3-BC521BBB95DE}" destId="{3201E424-A068-4F3B-97D6-0CA306B6D64D}" srcOrd="0" destOrd="0" presId="urn:microsoft.com/office/officeart/2005/8/layout/cycle6"/>
    <dgm:cxn modelId="{B5DA2F42-E484-4722-A73F-C65C2D9966B6}" type="presOf" srcId="{50F04CEB-7AF8-4CAD-9094-08F7E526303B}" destId="{0E18C0ED-E3AA-4807-8BC8-CBAE1DA5AAC8}" srcOrd="0" destOrd="0" presId="urn:microsoft.com/office/officeart/2005/8/layout/cycle6"/>
    <dgm:cxn modelId="{888A8256-ECA8-4225-A559-8DFC41148E6A}" srcId="{F656FDCA-F10A-4569-ADA3-BC521BBB95DE}" destId="{7E08A364-1B19-4A0F-91E0-A92D2153AAD1}" srcOrd="1" destOrd="0" parTransId="{B5FDC29C-535E-44EC-AD19-6E37407AEC93}" sibTransId="{D102889D-A39B-4F39-8EB2-93205C06052E}"/>
    <dgm:cxn modelId="{5162445F-5B5B-4E00-8CB0-293B78EAAA34}" type="presOf" srcId="{D1DE37D7-10F8-441C-BD99-A179B1A11102}" destId="{320A98BF-409C-4B70-B662-0BA7B2D4A362}" srcOrd="0" destOrd="0" presId="urn:microsoft.com/office/officeart/2005/8/layout/cycle6"/>
    <dgm:cxn modelId="{CF1286AB-A03A-4A4C-9CDB-595E00CD9D1C}" srcId="{F656FDCA-F10A-4569-ADA3-BC521BBB95DE}" destId="{E3BE4FB8-7A21-45D5-AA9D-469C75CB2913}" srcOrd="2" destOrd="0" parTransId="{A0581428-8DE2-4B5A-9A0A-B9DB3DA29E40}" sibTransId="{50F04CEB-7AF8-4CAD-9094-08F7E526303B}"/>
    <dgm:cxn modelId="{0D555C46-6E35-49FB-9949-FB47EAB25B14}" type="presOf" srcId="{53A21FAC-9293-4616-87F5-68FAF285BF46}" destId="{1C33056A-9E0D-446D-AF62-32FDC13FEDDD}" srcOrd="0" destOrd="0" presId="urn:microsoft.com/office/officeart/2005/8/layout/cycle6"/>
    <dgm:cxn modelId="{D95FBE22-F997-4947-B622-7B580E42E2F4}" type="presOf" srcId="{E3BE4FB8-7A21-45D5-AA9D-469C75CB2913}" destId="{492ADD7D-816E-4975-8D8E-F24D7E7766A8}" srcOrd="0" destOrd="0" presId="urn:microsoft.com/office/officeart/2005/8/layout/cycle6"/>
    <dgm:cxn modelId="{7C8DE751-2A67-4D11-8565-44DFA7A43747}" type="presOf" srcId="{6A62E854-9050-47A6-9A98-30E1267DB04E}" destId="{64862357-9BFF-45E2-BBCC-A284ABF2E115}" srcOrd="0" destOrd="0" presId="urn:microsoft.com/office/officeart/2005/8/layout/cycle6"/>
    <dgm:cxn modelId="{AB4144EF-0E07-439C-BA7B-04BC427A6C8A}" type="presOf" srcId="{07A2DC56-C94B-4913-A2C0-7C3E275F49D8}" destId="{BEC28C30-E4E4-467A-9EF5-128D35C90D7D}" srcOrd="0" destOrd="0" presId="urn:microsoft.com/office/officeart/2005/8/layout/cycle6"/>
    <dgm:cxn modelId="{C45BB2C7-C506-4202-8857-CA26D46DC94E}" srcId="{F656FDCA-F10A-4569-ADA3-BC521BBB95DE}" destId="{EA455704-5F2F-43FD-B4F4-C82835626BFF}" srcOrd="0" destOrd="0" parTransId="{99D18549-E2C4-4E25-9708-E34BF8829F36}" sibTransId="{6A62E854-9050-47A6-9A98-30E1267DB04E}"/>
    <dgm:cxn modelId="{71E4351A-1CE8-406E-B692-50EFDD6BE9AB}" srcId="{F656FDCA-F10A-4569-ADA3-BC521BBB95DE}" destId="{53A21FAC-9293-4616-87F5-68FAF285BF46}" srcOrd="5" destOrd="0" parTransId="{7CFFA4C9-2B38-4561-95C9-0BCA1303970B}" sibTransId="{55739EB1-8861-45A4-ADED-30CAF50CDC6A}"/>
    <dgm:cxn modelId="{540C8494-521B-4568-98F6-06ECF8301129}" srcId="{F656FDCA-F10A-4569-ADA3-BC521BBB95DE}" destId="{7D02C143-9D02-43F1-8B3A-3C55D8CA4863}" srcOrd="3" destOrd="0" parTransId="{F2D5BC4F-0DEA-4BAC-8FB3-CDA3EB26E16A}" sibTransId="{BB435B31-F1C2-4FC0-AE3A-8EEBA2DFF0A6}"/>
    <dgm:cxn modelId="{9610B5D4-3729-4D81-8143-BC017EFD7C14}" type="presOf" srcId="{BB435B31-F1C2-4FC0-AE3A-8EEBA2DFF0A6}" destId="{5C93FF07-E27F-4D81-8CA8-1A7830F2370C}" srcOrd="0" destOrd="0" presId="urn:microsoft.com/office/officeart/2005/8/layout/cycle6"/>
    <dgm:cxn modelId="{C6702308-3B87-43EF-B348-E54A6F609755}" type="presParOf" srcId="{3201E424-A068-4F3B-97D6-0CA306B6D64D}" destId="{F44EBCF5-0279-4B00-960E-60E517681875}" srcOrd="0" destOrd="0" presId="urn:microsoft.com/office/officeart/2005/8/layout/cycle6"/>
    <dgm:cxn modelId="{6CCACB16-2771-41C1-B863-7645F1F2B76C}" type="presParOf" srcId="{3201E424-A068-4F3B-97D6-0CA306B6D64D}" destId="{38BF02AB-C339-4458-AF40-E697F25613A9}" srcOrd="1" destOrd="0" presId="urn:microsoft.com/office/officeart/2005/8/layout/cycle6"/>
    <dgm:cxn modelId="{714FCE7C-3EA9-4C2B-84D6-F14804330551}" type="presParOf" srcId="{3201E424-A068-4F3B-97D6-0CA306B6D64D}" destId="{64862357-9BFF-45E2-BBCC-A284ABF2E115}" srcOrd="2" destOrd="0" presId="urn:microsoft.com/office/officeart/2005/8/layout/cycle6"/>
    <dgm:cxn modelId="{65FE819D-69DD-4BC4-A084-698AB50A9592}" type="presParOf" srcId="{3201E424-A068-4F3B-97D6-0CA306B6D64D}" destId="{D1231913-354D-4C8D-A792-BBDCB407C560}" srcOrd="3" destOrd="0" presId="urn:microsoft.com/office/officeart/2005/8/layout/cycle6"/>
    <dgm:cxn modelId="{9611629A-5966-401A-8295-DD27CC2DE979}" type="presParOf" srcId="{3201E424-A068-4F3B-97D6-0CA306B6D64D}" destId="{3BCF6BFA-AF75-4D15-826C-5609175548DC}" srcOrd="4" destOrd="0" presId="urn:microsoft.com/office/officeart/2005/8/layout/cycle6"/>
    <dgm:cxn modelId="{43C107F1-B1B4-441A-9DEF-55B204E51B44}" type="presParOf" srcId="{3201E424-A068-4F3B-97D6-0CA306B6D64D}" destId="{A2AE8883-E62E-41A8-A0F4-F6DBAC0F149E}" srcOrd="5" destOrd="0" presId="urn:microsoft.com/office/officeart/2005/8/layout/cycle6"/>
    <dgm:cxn modelId="{B105B7A1-2C42-40C9-83D6-A08DB0E23FCD}" type="presParOf" srcId="{3201E424-A068-4F3B-97D6-0CA306B6D64D}" destId="{492ADD7D-816E-4975-8D8E-F24D7E7766A8}" srcOrd="6" destOrd="0" presId="urn:microsoft.com/office/officeart/2005/8/layout/cycle6"/>
    <dgm:cxn modelId="{512A4522-C0B4-4F10-850F-9B209D5563F4}" type="presParOf" srcId="{3201E424-A068-4F3B-97D6-0CA306B6D64D}" destId="{D0356398-50E5-4F28-99A1-595731B50864}" srcOrd="7" destOrd="0" presId="urn:microsoft.com/office/officeart/2005/8/layout/cycle6"/>
    <dgm:cxn modelId="{87A224B4-433C-46DD-A7C8-F8CA79E825CD}" type="presParOf" srcId="{3201E424-A068-4F3B-97D6-0CA306B6D64D}" destId="{0E18C0ED-E3AA-4807-8BC8-CBAE1DA5AAC8}" srcOrd="8" destOrd="0" presId="urn:microsoft.com/office/officeart/2005/8/layout/cycle6"/>
    <dgm:cxn modelId="{13CABC1D-D66B-4AA4-99BD-C04B3F2585AF}" type="presParOf" srcId="{3201E424-A068-4F3B-97D6-0CA306B6D64D}" destId="{BDB31EBE-10D9-4728-9A76-C587114A9906}" srcOrd="9" destOrd="0" presId="urn:microsoft.com/office/officeart/2005/8/layout/cycle6"/>
    <dgm:cxn modelId="{8902DF99-37B1-4714-8C04-E0FA86A3B9C2}" type="presParOf" srcId="{3201E424-A068-4F3B-97D6-0CA306B6D64D}" destId="{8B5575FD-CC7F-4A1E-A242-BC6DACEBDF72}" srcOrd="10" destOrd="0" presId="urn:microsoft.com/office/officeart/2005/8/layout/cycle6"/>
    <dgm:cxn modelId="{8E2DC414-362F-447D-95BF-8C1BF00447E9}" type="presParOf" srcId="{3201E424-A068-4F3B-97D6-0CA306B6D64D}" destId="{5C93FF07-E27F-4D81-8CA8-1A7830F2370C}" srcOrd="11" destOrd="0" presId="urn:microsoft.com/office/officeart/2005/8/layout/cycle6"/>
    <dgm:cxn modelId="{C59525AD-9EDD-4F6D-8A2E-F4FF02E40533}" type="presParOf" srcId="{3201E424-A068-4F3B-97D6-0CA306B6D64D}" destId="{BEC28C30-E4E4-467A-9EF5-128D35C90D7D}" srcOrd="12" destOrd="0" presId="urn:microsoft.com/office/officeart/2005/8/layout/cycle6"/>
    <dgm:cxn modelId="{409026E2-D16A-487A-892D-972E38F2B220}" type="presParOf" srcId="{3201E424-A068-4F3B-97D6-0CA306B6D64D}" destId="{E6F78F18-F53F-4F5D-A02E-226E75BB6CE1}" srcOrd="13" destOrd="0" presId="urn:microsoft.com/office/officeart/2005/8/layout/cycle6"/>
    <dgm:cxn modelId="{3B2590FD-0CA4-4F80-87E4-DB03DFA88169}" type="presParOf" srcId="{3201E424-A068-4F3B-97D6-0CA306B6D64D}" destId="{320A98BF-409C-4B70-B662-0BA7B2D4A362}" srcOrd="14" destOrd="0" presId="urn:microsoft.com/office/officeart/2005/8/layout/cycle6"/>
    <dgm:cxn modelId="{41B8E556-E669-4C97-B39B-491CCFFCE859}" type="presParOf" srcId="{3201E424-A068-4F3B-97D6-0CA306B6D64D}" destId="{1C33056A-9E0D-446D-AF62-32FDC13FEDDD}" srcOrd="15" destOrd="0" presId="urn:microsoft.com/office/officeart/2005/8/layout/cycle6"/>
    <dgm:cxn modelId="{1F46A40A-625F-414A-9E10-542C34886325}" type="presParOf" srcId="{3201E424-A068-4F3B-97D6-0CA306B6D64D}" destId="{D424BAA7-C406-4485-BD7D-2A72EB476CAA}" srcOrd="16" destOrd="0" presId="urn:microsoft.com/office/officeart/2005/8/layout/cycle6"/>
    <dgm:cxn modelId="{ACB114EC-1598-4699-B2F3-D6B08C4A78AD}" type="presParOf" srcId="{3201E424-A068-4F3B-97D6-0CA306B6D64D}" destId="{EB720F68-0B3D-48A5-8BD7-8E8AF7B109F9}" srcOrd="17" destOrd="0" presId="urn:microsoft.com/office/officeart/2005/8/layout/cycle6"/>
    <dgm:cxn modelId="{3B0F35D1-112E-44EE-9249-7682B83BDA2F}" type="presParOf" srcId="{3201E424-A068-4F3B-97D6-0CA306B6D64D}" destId="{107D47FB-942F-49C4-B22B-99208A808380}" srcOrd="18" destOrd="0" presId="urn:microsoft.com/office/officeart/2005/8/layout/cycle6"/>
    <dgm:cxn modelId="{01CEC3A7-AC60-4FE3-9435-FE9B40470E61}" type="presParOf" srcId="{3201E424-A068-4F3B-97D6-0CA306B6D64D}" destId="{3E69F0B6-12CC-4E69-BB0F-59AA5E86B2B5}" srcOrd="19" destOrd="0" presId="urn:microsoft.com/office/officeart/2005/8/layout/cycle6"/>
    <dgm:cxn modelId="{022D07ED-10E5-4F5E-A025-2AD6D23EC704}" type="presParOf" srcId="{3201E424-A068-4F3B-97D6-0CA306B6D64D}" destId="{A9168A6C-8B1A-47EC-9E75-A03E4CBFB538}" srcOrd="20" destOrd="0" presId="urn:microsoft.com/office/officeart/2005/8/layout/cycle6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01/10/2009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gif"/><Relationship Id="rId3" Type="http://schemas.openxmlformats.org/officeDocument/2006/relationships/image" Target="../media/image3.gif"/><Relationship Id="rId7" Type="http://schemas.openxmlformats.org/officeDocument/2006/relationships/image" Target="../media/image2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gif"/><Relationship Id="rId5" Type="http://schemas.openxmlformats.org/officeDocument/2006/relationships/image" Target="../media/image20.gif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Tel</a:t>
            </a:r>
            <a:r>
              <a:rPr lang="fr-FR" sz="1200" dirty="0">
                <a:latin typeface="Calibri" pitchFamily="34" charset="0"/>
              </a:rPr>
              <a:t>. </a:t>
            </a:r>
            <a:r>
              <a:rPr lang="fr-FR" sz="1200" dirty="0" smtClean="0">
                <a:latin typeface="Calibri" pitchFamily="34" charset="0"/>
              </a:rPr>
              <a:t>33 (0)3 62 27 62 38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Gsm 33 </a:t>
            </a:r>
            <a:r>
              <a:rPr lang="fr-FR" sz="1200" dirty="0">
                <a:latin typeface="Calibri" pitchFamily="34" charset="0"/>
              </a:rPr>
              <a:t>(0)6 26 08 62 </a:t>
            </a:r>
            <a:r>
              <a:rPr lang="fr-FR" sz="1200" dirty="0" smtClean="0">
                <a:latin typeface="Calibri" pitchFamily="34" charset="0"/>
              </a:rPr>
              <a:t>84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Fax. 33 (0)3 62 27 62 39</a:t>
            </a:r>
          </a:p>
          <a:p>
            <a:pPr algn="ctr"/>
            <a:endParaRPr lang="fr-FR" sz="1200" dirty="0">
              <a:latin typeface="Calibri" pitchFamily="34" charset="0"/>
            </a:endParaRP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</a:t>
            </a:r>
            <a:r>
              <a:rPr lang="fr-FR" sz="1200" dirty="0">
                <a:latin typeface="Calibri" pitchFamily="34" charset="0"/>
              </a:rPr>
              <a:t>. contact@beesoftware.net</a:t>
            </a: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730250" y="5770563"/>
            <a:ext cx="1785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000" dirty="0" err="1"/>
              <a:t>Beesoftware</a:t>
            </a:r>
            <a:r>
              <a:rPr lang="fr-FR" sz="1000" dirty="0"/>
              <a:t> – Septembre 2008</a:t>
            </a:r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00166" y="0"/>
            <a:ext cx="43577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Test du module S.S.I.I</a:t>
            </a:r>
          </a:p>
        </p:txBody>
      </p:sp>
      <p:grpSp>
        <p:nvGrpSpPr>
          <p:cNvPr id="13" name="Groupe 59"/>
          <p:cNvGrpSpPr/>
          <p:nvPr/>
        </p:nvGrpSpPr>
        <p:grpSpPr>
          <a:xfrm>
            <a:off x="906349" y="2232091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4" name="Hexagone 13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Congés</a:t>
              </a:r>
              <a:endParaRPr lang="fr-FR" sz="1700" kern="1200" dirty="0"/>
            </a:p>
          </p:txBody>
        </p:sp>
      </p:grpSp>
      <p:grpSp>
        <p:nvGrpSpPr>
          <p:cNvPr id="16" name="Groupe 62"/>
          <p:cNvGrpSpPr/>
          <p:nvPr/>
        </p:nvGrpSpPr>
        <p:grpSpPr>
          <a:xfrm>
            <a:off x="2263671" y="1714058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7" name="Hexagone 16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CRA</a:t>
              </a:r>
              <a:endParaRPr lang="fr-FR" sz="1700" kern="1200" dirty="0"/>
            </a:p>
          </p:txBody>
        </p:sp>
      </p:grpSp>
      <p:grpSp>
        <p:nvGrpSpPr>
          <p:cNvPr id="19" name="Groupe 68"/>
          <p:cNvGrpSpPr/>
          <p:nvPr/>
        </p:nvGrpSpPr>
        <p:grpSpPr>
          <a:xfrm>
            <a:off x="906349" y="3250190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0" name="Hexagone 19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dirty="0" smtClean="0"/>
                <a:t>Budget</a:t>
              </a:r>
              <a:endParaRPr lang="fr-FR" sz="1700" kern="1200" dirty="0"/>
            </a:p>
          </p:txBody>
        </p:sp>
      </p:grpSp>
      <p:grpSp>
        <p:nvGrpSpPr>
          <p:cNvPr id="22" name="Groupe 71"/>
          <p:cNvGrpSpPr/>
          <p:nvPr/>
        </p:nvGrpSpPr>
        <p:grpSpPr>
          <a:xfrm>
            <a:off x="2241358" y="3821694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3" name="Hexagone 22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Reporting</a:t>
              </a:r>
              <a:endParaRPr lang="fr-FR" sz="1700" kern="1200" dirty="0"/>
            </a:p>
          </p:txBody>
        </p:sp>
      </p:grpSp>
      <p:grpSp>
        <p:nvGrpSpPr>
          <p:cNvPr id="25" name="Groupe 74"/>
          <p:cNvGrpSpPr/>
          <p:nvPr/>
        </p:nvGrpSpPr>
        <p:grpSpPr>
          <a:xfrm>
            <a:off x="3620993" y="2232091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6" name="Hexagone 25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Statistique</a:t>
              </a:r>
              <a:endParaRPr lang="fr-FR" sz="1700" kern="1200" dirty="0"/>
            </a:p>
          </p:txBody>
        </p:sp>
      </p:grpSp>
      <p:grpSp>
        <p:nvGrpSpPr>
          <p:cNvPr id="28" name="Groupe 77"/>
          <p:cNvGrpSpPr/>
          <p:nvPr/>
        </p:nvGrpSpPr>
        <p:grpSpPr>
          <a:xfrm>
            <a:off x="3598680" y="3285694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9" name="Hexagone 28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Planning</a:t>
              </a:r>
              <a:endParaRPr lang="fr-FR" sz="1700" kern="1200" dirty="0"/>
            </a:p>
          </p:txBody>
        </p:sp>
      </p:grpSp>
      <p:grpSp>
        <p:nvGrpSpPr>
          <p:cNvPr id="31" name="Groupe 62"/>
          <p:cNvGrpSpPr/>
          <p:nvPr/>
        </p:nvGrpSpPr>
        <p:grpSpPr>
          <a:xfrm>
            <a:off x="2263671" y="2750124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2" name="Hexagone 31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40000"/>
                <a:lumOff val="6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S.S.I.I</a:t>
              </a:r>
              <a:endParaRPr lang="fr-FR" sz="17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3"/>
          <p:cNvSpPr txBox="1">
            <a:spLocks noChangeArrowheads="1"/>
          </p:cNvSpPr>
          <p:nvPr/>
        </p:nvSpPr>
        <p:spPr bwMode="auto">
          <a:xfrm>
            <a:off x="1643042" y="1357298"/>
            <a:ext cx="6929486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R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esponsable d’agence ou responsable de service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/>
              <a:t> Il valide </a:t>
            </a:r>
            <a:r>
              <a:rPr lang="fr-FR" sz="1200" b="1" dirty="0" smtClean="0"/>
              <a:t>les demandes de congés</a:t>
            </a:r>
            <a:r>
              <a:rPr lang="fr-FR" sz="1200" dirty="0" smtClean="0"/>
              <a:t>. Il vérifie le nombre d’inter affectation en consultant les plannings des congés et des missions.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/>
              <a:t> Il consulte </a:t>
            </a:r>
            <a:r>
              <a:rPr lang="fr-FR" sz="1200" b="1" dirty="0" smtClean="0"/>
              <a:t>les prestations du mois</a:t>
            </a:r>
            <a:r>
              <a:rPr lang="fr-FR" sz="1200" dirty="0" smtClean="0"/>
              <a:t> (passé ou futur) par collaborateur, par sous-traitant ou par client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/>
              <a:t> Il valide </a:t>
            </a:r>
            <a:r>
              <a:rPr lang="fr-FR" sz="1200" b="1" dirty="0" smtClean="0"/>
              <a:t>les factures</a:t>
            </a:r>
            <a:r>
              <a:rPr lang="fr-FR" sz="1200" dirty="0" smtClean="0"/>
              <a:t> générées automatiquement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/>
              <a:t> Grâce à B-Hive, il obtient plusieurs informations présent ou prévisionnel afin de réduire sa charge administrative journalière</a:t>
            </a:r>
          </a:p>
          <a:p>
            <a:pPr>
              <a:defRPr/>
            </a:pPr>
            <a:endParaRPr lang="fr-FR" sz="1000" dirty="0">
              <a:latin typeface="Vrinda" pitchFamily="2" charset="0"/>
              <a:cs typeface="Vrinda" pitchFamily="2" charset="0"/>
            </a:endParaRPr>
          </a:p>
        </p:txBody>
      </p:sp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3000364" y="357166"/>
            <a:ext cx="571504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Les profiles SSII de B-Hive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5" name="ZoneTexte 3"/>
          <p:cNvSpPr txBox="1">
            <a:spLocks noChangeArrowheads="1"/>
          </p:cNvSpPr>
          <p:nvPr/>
        </p:nvSpPr>
        <p:spPr bwMode="auto">
          <a:xfrm>
            <a:off x="1643042" y="3103434"/>
            <a:ext cx="7000924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C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ommercial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/>
              <a:t> Il crée </a:t>
            </a:r>
            <a:r>
              <a:rPr lang="fr-FR" sz="1200" b="1" dirty="0" smtClean="0"/>
              <a:t>les missions</a:t>
            </a:r>
            <a:r>
              <a:rPr lang="fr-FR" sz="1200" dirty="0" smtClean="0"/>
              <a:t> et en même temps le CRA de ses collaborateurs.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/>
              <a:t> Il renseigne </a:t>
            </a:r>
            <a:r>
              <a:rPr lang="fr-FR" sz="1200" b="1" dirty="0" smtClean="0"/>
              <a:t>le coût journalier</a:t>
            </a:r>
            <a:r>
              <a:rPr lang="fr-FR" sz="1200" dirty="0" smtClean="0"/>
              <a:t> de la mission facilitant ainsi </a:t>
            </a:r>
            <a:r>
              <a:rPr lang="fr-FR" sz="1200" b="1" dirty="0" smtClean="0"/>
              <a:t>la facturation</a:t>
            </a:r>
            <a:r>
              <a:rPr lang="fr-FR" sz="1200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/>
              <a:t> Grâce à B-Hive, il obtient plusieurs informations sur les collaborateurs (</a:t>
            </a:r>
            <a:r>
              <a:rPr lang="fr-FR" sz="1200" b="1" dirty="0" smtClean="0"/>
              <a:t>alerte fin de mission</a:t>
            </a:r>
            <a:r>
              <a:rPr lang="fr-FR" sz="1200" dirty="0" smtClean="0"/>
              <a:t> + </a:t>
            </a:r>
            <a:r>
              <a:rPr lang="fr-FR" sz="1200" b="1" dirty="0" smtClean="0"/>
              <a:t>CV</a:t>
            </a:r>
            <a:r>
              <a:rPr lang="fr-FR" sz="1200" dirty="0" smtClean="0"/>
              <a:t>) ou sur </a:t>
            </a:r>
            <a:r>
              <a:rPr lang="fr-FR" sz="1200" b="1" dirty="0" smtClean="0"/>
              <a:t>les clients</a:t>
            </a:r>
            <a:r>
              <a:rPr lang="fr-FR" sz="1200" dirty="0" smtClean="0"/>
              <a:t> (statistique)</a:t>
            </a:r>
          </a:p>
          <a:p>
            <a:pPr>
              <a:defRPr/>
            </a:pPr>
            <a:endParaRPr lang="fr-FR" sz="1000" dirty="0">
              <a:latin typeface="Vrinda" pitchFamily="2" charset="0"/>
              <a:cs typeface="Vrinda" pitchFamily="2" charset="0"/>
            </a:endParaRPr>
          </a:p>
        </p:txBody>
      </p:sp>
      <p:sp>
        <p:nvSpPr>
          <p:cNvPr id="16" name="ZoneTexte 3"/>
          <p:cNvSpPr txBox="1">
            <a:spLocks noChangeArrowheads="1"/>
          </p:cNvSpPr>
          <p:nvPr/>
        </p:nvSpPr>
        <p:spPr bwMode="auto">
          <a:xfrm>
            <a:off x="1643042" y="4545465"/>
            <a:ext cx="5929354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C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ollaborateur (celui dont on veut suivre l’activité journalière)</a:t>
            </a:r>
          </a:p>
          <a:p>
            <a:pPr>
              <a:buFont typeface="Arial" pitchFamily="34" charset="0"/>
              <a:buChar char="•"/>
            </a:pPr>
            <a:r>
              <a:rPr lang="fr-FR" sz="1000" dirty="0" smtClean="0"/>
              <a:t> </a:t>
            </a:r>
            <a:r>
              <a:rPr lang="fr-FR" sz="1200" dirty="0" smtClean="0"/>
              <a:t>Il correspond au prestataire qui se trouve en mission chez un client.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/>
              <a:t> Il peut seulement </a:t>
            </a:r>
            <a:r>
              <a:rPr lang="fr-FR" sz="1200" b="1" dirty="0" smtClean="0"/>
              <a:t>valider (ou modifier) son CRA et gérer ses congés</a:t>
            </a:r>
            <a:r>
              <a:rPr lang="fr-FR" sz="1200" dirty="0" smtClean="0"/>
              <a:t>. </a:t>
            </a:r>
          </a:p>
          <a:p>
            <a:pPr>
              <a:defRPr/>
            </a:pPr>
            <a:endParaRPr lang="fr-FR" sz="1400" dirty="0">
              <a:latin typeface="Vrinda" pitchFamily="2" charset="0"/>
              <a:cs typeface="Vrinda" pitchFamily="2" charset="0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pic>
        <p:nvPicPr>
          <p:cNvPr id="1026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1500174"/>
            <a:ext cx="457200" cy="457200"/>
          </a:xfrm>
          <a:prstGeom prst="rect">
            <a:avLst/>
          </a:prstGeom>
          <a:noFill/>
        </p:spPr>
      </p:pic>
      <p:pic>
        <p:nvPicPr>
          <p:cNvPr id="1027" name="Picture 3" descr="D:\B-HIVE\profile\profilCom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8662" y="3286124"/>
            <a:ext cx="457200" cy="457200"/>
          </a:xfrm>
          <a:prstGeom prst="rect">
            <a:avLst/>
          </a:prstGeom>
          <a:noFill/>
        </p:spPr>
      </p:pic>
      <p:pic>
        <p:nvPicPr>
          <p:cNvPr id="1028" name="Picture 4" descr="D:\B-HIVE\profile\profilCol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28662" y="4757750"/>
            <a:ext cx="457200" cy="457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Accessible sur Internet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2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Consultation  des prestations en cours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3"/>
          <p:cNvSpPr txBox="1">
            <a:spLocks noChangeArrowheads="1"/>
          </p:cNvSpPr>
          <p:nvPr/>
        </p:nvSpPr>
        <p:spPr bwMode="auto">
          <a:xfrm>
            <a:off x="2571736" y="1857364"/>
            <a:ext cx="50006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Avec le profile du directeur d’agence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, consultez les prestations du mois de tous les collaborateurs</a:t>
            </a: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6" name="ZoneTexte 3"/>
          <p:cNvSpPr txBox="1">
            <a:spLocks noChangeArrowheads="1"/>
          </p:cNvSpPr>
          <p:nvPr/>
        </p:nvSpPr>
        <p:spPr bwMode="auto">
          <a:xfrm>
            <a:off x="2571736" y="5143512"/>
            <a:ext cx="500066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1200" dirty="0" smtClean="0"/>
              <a:t>Repérez le nombre de jour presté de « COLLABORATEUR » et « COLLABORATOR » (les 2 profiles accessible en test)</a:t>
            </a:r>
          </a:p>
          <a:p>
            <a:endParaRPr lang="fr-FR" sz="1200" dirty="0" smtClean="0"/>
          </a:p>
          <a:p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Remarque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, grâce à B-Hive, vous connaissez en temps réel les prestations par collaborateurs, par clients ou par prestataire</a:t>
            </a:r>
            <a:endParaRPr lang="fr-FR" sz="1200" dirty="0"/>
          </a:p>
        </p:txBody>
      </p:sp>
      <p:pic>
        <p:nvPicPr>
          <p:cNvPr id="2050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00232" y="1785926"/>
            <a:ext cx="457200" cy="45720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09625" y="2428868"/>
            <a:ext cx="752475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Flèche droite 13"/>
          <p:cNvSpPr/>
          <p:nvPr/>
        </p:nvSpPr>
        <p:spPr>
          <a:xfrm rot="10800000">
            <a:off x="2357423" y="2428868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 droite 16"/>
          <p:cNvSpPr/>
          <p:nvPr/>
        </p:nvSpPr>
        <p:spPr>
          <a:xfrm>
            <a:off x="714348" y="3571876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 droite 17"/>
          <p:cNvSpPr/>
          <p:nvPr/>
        </p:nvSpPr>
        <p:spPr>
          <a:xfrm rot="12793563">
            <a:off x="4083934" y="3853810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Innovant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4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Modification du CRA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3273411" y="1762111"/>
            <a:ext cx="376737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Avec le profile d’un collaborateur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,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modifiez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son CRA</a:t>
            </a:r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1436660" y="3669573"/>
            <a:ext cx="72587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 Étape 1 : Mettre une journée vide afin de rendre visible la modification</a:t>
            </a:r>
            <a:br>
              <a:rPr lang="fr-FR" sz="1200" dirty="0">
                <a:latin typeface="Vrinda" pitchFamily="2" charset="0"/>
                <a:cs typeface="Vrinda" pitchFamily="2" charset="0"/>
              </a:rPr>
            </a:br>
            <a:r>
              <a:rPr lang="fr-FR" sz="1200" dirty="0">
                <a:latin typeface="Vrinda" pitchFamily="2" charset="0"/>
                <a:cs typeface="Vrinda" pitchFamily="2" charset="0"/>
              </a:rPr>
              <a:t>	</a:t>
            </a:r>
            <a:r>
              <a:rPr lang="fr-FR" sz="1200" i="1" dirty="0">
                <a:latin typeface="Vrinda" pitchFamily="2" charset="0"/>
                <a:cs typeface="Vrinda" pitchFamily="2" charset="0"/>
              </a:rPr>
              <a:t>Pour la suite du petit jeu de test, choisissez des journées supérieures à la date du jour</a:t>
            </a:r>
          </a:p>
          <a:p>
            <a:pPr>
              <a:buFontTx/>
              <a:buChar char="•"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 Étape 2 : Enregistrez votre modification </a:t>
            </a:r>
          </a:p>
          <a:p>
            <a:pPr>
              <a:buFontTx/>
              <a:buChar char="•"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 Étape 3 : Consultez votre CRA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mensuel (Aperçu)</a:t>
            </a:r>
            <a:endParaRPr lang="fr-FR" sz="1200" i="1" dirty="0">
              <a:latin typeface="Vrinda" pitchFamily="2" charset="0"/>
              <a:cs typeface="Vrinda" pitchFamily="2" charset="0"/>
            </a:endParaRPr>
          </a:p>
        </p:txBody>
      </p:sp>
      <p:pic>
        <p:nvPicPr>
          <p:cNvPr id="8194" name="Picture 2" descr="D:\B-HIVE\profile\profilCol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43174" y="1643050"/>
            <a:ext cx="457200" cy="457200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81139" y="2286000"/>
            <a:ext cx="70770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Flèche droite 11"/>
          <p:cNvSpPr/>
          <p:nvPr/>
        </p:nvSpPr>
        <p:spPr>
          <a:xfrm rot="10800000">
            <a:off x="2214547" y="2357429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èche droite 15"/>
          <p:cNvSpPr/>
          <p:nvPr/>
        </p:nvSpPr>
        <p:spPr>
          <a:xfrm rot="8365939">
            <a:off x="6073204" y="2840290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14588" y="4929198"/>
            <a:ext cx="6000750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Flèche droite 16"/>
          <p:cNvSpPr/>
          <p:nvPr/>
        </p:nvSpPr>
        <p:spPr>
          <a:xfrm rot="10800000">
            <a:off x="2928927" y="4929198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 droite 14"/>
          <p:cNvSpPr/>
          <p:nvPr/>
        </p:nvSpPr>
        <p:spPr>
          <a:xfrm>
            <a:off x="2214546" y="5286388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 droite 17"/>
          <p:cNvSpPr/>
          <p:nvPr/>
        </p:nvSpPr>
        <p:spPr>
          <a:xfrm rot="8365939">
            <a:off x="6285506" y="5340620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Ergonomie conviviale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5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Mise à jour des prestations en temps réel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3078147" y="2144702"/>
            <a:ext cx="451758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Avec le profile du directeur d’agence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, consultez vos prestations</a:t>
            </a: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2857488" y="4437885"/>
            <a:ext cx="54521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Vous pouvez constater que les prestations du collaborateur ont été modifiées</a:t>
            </a:r>
          </a:p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		en temps réel</a:t>
            </a: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  <p:pic>
        <p:nvPicPr>
          <p:cNvPr id="3074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00298" y="2000240"/>
            <a:ext cx="457200" cy="457200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00113" y="2681288"/>
            <a:ext cx="7343775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Flèche droite 10"/>
          <p:cNvSpPr/>
          <p:nvPr/>
        </p:nvSpPr>
        <p:spPr>
          <a:xfrm rot="10800000">
            <a:off x="2428861" y="264318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 droite 11"/>
          <p:cNvSpPr/>
          <p:nvPr/>
        </p:nvSpPr>
        <p:spPr>
          <a:xfrm>
            <a:off x="857224" y="3786190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 droite 12"/>
          <p:cNvSpPr/>
          <p:nvPr/>
        </p:nvSpPr>
        <p:spPr>
          <a:xfrm rot="12793563">
            <a:off x="4083934" y="3925248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Interface simplifiée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2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Création de la mission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1574829" y="2001826"/>
            <a:ext cx="607089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Avec le profile du commercial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,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créez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une mission </a:t>
            </a:r>
          </a:p>
          <a:p>
            <a:pPr lvl="1">
              <a:buFontTx/>
              <a:buChar char="•"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Choisissez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le collaborateur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dont vous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avez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modifié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son CRA</a:t>
            </a:r>
          </a:p>
          <a:p>
            <a:pPr lvl="1">
              <a:buFontTx/>
              <a:buChar char="•"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Créez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une mission sur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la période dont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vous avez mis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« vide » sur le CRA</a:t>
            </a: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  <p:pic>
        <p:nvPicPr>
          <p:cNvPr id="7170" name="Picture 2" descr="D:\B-HIVE\profile\profilCom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71528" y="2071678"/>
            <a:ext cx="457200" cy="457200"/>
          </a:xfrm>
          <a:prstGeom prst="rect">
            <a:avLst/>
          </a:prstGeom>
          <a:noFill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85852" y="2714620"/>
            <a:ext cx="6848114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Flèche droite 9"/>
          <p:cNvSpPr/>
          <p:nvPr/>
        </p:nvSpPr>
        <p:spPr>
          <a:xfrm rot="10800000">
            <a:off x="2428860" y="2714620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 droite 10"/>
          <p:cNvSpPr/>
          <p:nvPr/>
        </p:nvSpPr>
        <p:spPr>
          <a:xfrm rot="10800000">
            <a:off x="5715008" y="3571876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 droite 11"/>
          <p:cNvSpPr/>
          <p:nvPr/>
        </p:nvSpPr>
        <p:spPr>
          <a:xfrm rot="10800000">
            <a:off x="5072067" y="3857628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 droite 12"/>
          <p:cNvSpPr/>
          <p:nvPr/>
        </p:nvSpPr>
        <p:spPr>
          <a:xfrm>
            <a:off x="1571604" y="3143248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571604" y="5072075"/>
            <a:ext cx="660950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Remarque :</a:t>
            </a:r>
          </a:p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- Dans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le CRA du collaborateur, seul les journées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supérieures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à la date du jour </a:t>
            </a:r>
            <a:endParaRPr lang="fr-FR" sz="1200" dirty="0" smtClean="0">
              <a:latin typeface="Vrinda" pitchFamily="2" charset="0"/>
              <a:cs typeface="Vrinda" pitchFamily="2" charset="0"/>
            </a:endParaRPr>
          </a:p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seront impactées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par la nouvelle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mission</a:t>
            </a:r>
          </a:p>
          <a:p>
            <a:pPr>
              <a:buFontTx/>
              <a:buChar char="-"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 Vous pouvez saisir un nombre de jour en mission et non une période</a:t>
            </a:r>
          </a:p>
          <a:p>
            <a:pPr>
              <a:buFontTx/>
              <a:buChar char="-"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 Vous pouvez renseigner le coût journalier de cette mission. Ceci permettra d’activer automatiquement la facturation.</a:t>
            </a: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Gain de temps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2" name="Image 11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3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Impact pour le collaborateur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2987659" y="1985956"/>
            <a:ext cx="50433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>
                <a:latin typeface="Vrinda" pitchFamily="2" charset="0"/>
                <a:cs typeface="Vrinda" pitchFamily="2" charset="0"/>
              </a:rPr>
              <a:t>La création de la mission a des impacts sur le CRA du collaborateur.</a:t>
            </a:r>
          </a:p>
          <a:p>
            <a:r>
              <a:rPr lang="fr-FR" sz="1200" dirty="0">
                <a:latin typeface="Vrinda" pitchFamily="2" charset="0"/>
                <a:cs typeface="Vrinda" pitchFamily="2" charset="0"/>
              </a:rPr>
              <a:t>Pour le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prouver, retournons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voir son CRA avec son profile</a:t>
            </a: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714348" y="4643446"/>
            <a:ext cx="79175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>
                <a:latin typeface="Vrinda" pitchFamily="2" charset="0"/>
                <a:cs typeface="Vrinda" pitchFamily="2" charset="0"/>
              </a:rPr>
              <a:t>Vous pouvez toute de suite constater que le CRA de votre collaborateur a été immédiatement mis a jour.</a:t>
            </a:r>
          </a:p>
          <a:p>
            <a:r>
              <a:rPr lang="fr-FR" sz="1200" dirty="0">
                <a:latin typeface="Vrinda" pitchFamily="2" charset="0"/>
                <a:cs typeface="Vrinda" pitchFamily="2" charset="0"/>
              </a:rPr>
              <a:t>De ce faite, </a:t>
            </a:r>
            <a:r>
              <a:rPr lang="fr-FR" sz="1200" b="1" dirty="0">
                <a:latin typeface="Vrinda" pitchFamily="2" charset="0"/>
                <a:cs typeface="Vrinda" pitchFamily="2" charset="0"/>
              </a:rPr>
              <a:t>votre collaborateur a juste un rôle de </a:t>
            </a:r>
            <a:r>
              <a:rPr lang="fr-FR" sz="1200" b="1" dirty="0" smtClean="0">
                <a:latin typeface="Vrinda" pitchFamily="2" charset="0"/>
                <a:cs typeface="Vrinda" pitchFamily="2" charset="0"/>
              </a:rPr>
              <a:t>vérification, validation et si besoin de modification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.</a:t>
            </a:r>
            <a:endParaRPr lang="fr-FR" sz="1200" dirty="0">
              <a:latin typeface="Vrinda" pitchFamily="2" charset="0"/>
              <a:cs typeface="Vrinda" pitchFamily="2" charset="0"/>
            </a:endParaRPr>
          </a:p>
          <a:p>
            <a:endParaRPr lang="fr-FR" sz="1200" dirty="0">
              <a:latin typeface="Vrinda" pitchFamily="2" charset="0"/>
              <a:cs typeface="Vrinda" pitchFamily="2" charset="0"/>
            </a:endParaRPr>
          </a:p>
          <a:p>
            <a:r>
              <a:rPr lang="fr-FR" sz="1200" dirty="0">
                <a:latin typeface="Vrinda" pitchFamily="2" charset="0"/>
                <a:cs typeface="Vrinda" pitchFamily="2" charset="0"/>
              </a:rPr>
              <a:t>Si on ajoute le </a:t>
            </a:r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workflow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(personnalisable),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vos collaborateurs peuvent recevoir tous les derniers lundi du mois,</a:t>
            </a:r>
          </a:p>
          <a:p>
            <a:r>
              <a:rPr lang="fr-FR" sz="1200" dirty="0">
                <a:latin typeface="Vrinda" pitchFamily="2" charset="0"/>
                <a:cs typeface="Vrinda" pitchFamily="2" charset="0"/>
              </a:rPr>
              <a:t>leur CRA avec leur mission et leur congés déjà renseigné.</a:t>
            </a:r>
          </a:p>
        </p:txBody>
      </p:sp>
      <p:pic>
        <p:nvPicPr>
          <p:cNvPr id="9218" name="Picture 2" descr="D:\B-HIVE\profile\profilCol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5984" y="2000240"/>
            <a:ext cx="457200" cy="457200"/>
          </a:xfrm>
          <a:prstGeom prst="rect">
            <a:avLst/>
          </a:prstGeom>
          <a:noFill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4825" y="2500313"/>
            <a:ext cx="8134350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Flèche droite 10"/>
          <p:cNvSpPr/>
          <p:nvPr/>
        </p:nvSpPr>
        <p:spPr>
          <a:xfrm rot="10800000">
            <a:off x="1571604" y="2571744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 droite 13"/>
          <p:cNvSpPr/>
          <p:nvPr/>
        </p:nvSpPr>
        <p:spPr>
          <a:xfrm>
            <a:off x="642910" y="2928934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 droite 14"/>
          <p:cNvSpPr/>
          <p:nvPr/>
        </p:nvSpPr>
        <p:spPr>
          <a:xfrm rot="12793563">
            <a:off x="2512298" y="3996686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èche droite 15"/>
          <p:cNvSpPr/>
          <p:nvPr/>
        </p:nvSpPr>
        <p:spPr>
          <a:xfrm rot="12793563">
            <a:off x="5845884" y="3996686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Personnalisable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Impact pour le directeur d’agence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990754" y="1730390"/>
            <a:ext cx="70006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>
                <a:latin typeface="Vrinda" pitchFamily="2" charset="0"/>
                <a:cs typeface="Vrinda" pitchFamily="2" charset="0"/>
              </a:rPr>
              <a:t>La création de la mission a des impacts sur le directeur d’agence</a:t>
            </a:r>
          </a:p>
          <a:p>
            <a:r>
              <a:rPr lang="fr-FR" sz="1200" dirty="0">
                <a:latin typeface="Vrinda" pitchFamily="2" charset="0"/>
                <a:cs typeface="Vrinda" pitchFamily="2" charset="0"/>
              </a:rPr>
              <a:t>Pour le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prouver, retournons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voir son listing des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prestations réalisées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dans le mois avec son profile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2000232" y="5072074"/>
            <a:ext cx="600079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latin typeface="Vrinda" pitchFamily="2" charset="0"/>
                <a:cs typeface="Vrinda" pitchFamily="2" charset="0"/>
              </a:rPr>
              <a:t>Vous pouvez toute de suite constater que toutes les interfaces de prestation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/>
            </a:r>
            <a:br>
              <a:rPr lang="fr-FR" sz="1200" dirty="0" smtClean="0">
                <a:latin typeface="Vrinda" pitchFamily="2" charset="0"/>
                <a:cs typeface="Vrinda" pitchFamily="2" charset="0"/>
              </a:rPr>
            </a:br>
            <a:r>
              <a:rPr lang="fr-FR" sz="1200" dirty="0" smtClean="0">
                <a:latin typeface="Vrinda" pitchFamily="2" charset="0"/>
                <a:cs typeface="Vrinda" pitchFamily="2" charset="0"/>
              </a:rPr>
              <a:t>	tiennent compte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de la nouvelle mission</a:t>
            </a:r>
          </a:p>
          <a:p>
            <a:pPr algn="ctr"/>
            <a:endParaRPr lang="fr-FR" sz="1200" dirty="0">
              <a:latin typeface="Vrinda" pitchFamily="2" charset="0"/>
              <a:cs typeface="Vrinda" pitchFamily="2" charset="0"/>
            </a:endParaRPr>
          </a:p>
          <a:p>
            <a:pPr algn="ctr"/>
            <a:r>
              <a:rPr lang="fr-FR" sz="1200" dirty="0">
                <a:latin typeface="Vrinda" pitchFamily="2" charset="0"/>
                <a:cs typeface="Vrinda" pitchFamily="2" charset="0"/>
              </a:rPr>
              <a:t>Votre directeur d’agence connaît en temps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réel,</a:t>
            </a:r>
          </a:p>
          <a:p>
            <a:pPr algn="ctr"/>
            <a:r>
              <a:rPr lang="fr-FR" sz="1200" dirty="0" smtClean="0">
                <a:latin typeface="Vrinda" pitchFamily="2" charset="0"/>
                <a:cs typeface="Vrinda" pitchFamily="2" charset="0"/>
              </a:rPr>
              <a:t>les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prochaines factures qui devra établir pour le mois en cours </a:t>
            </a:r>
          </a:p>
          <a:p>
            <a:pPr algn="ctr"/>
            <a:r>
              <a:rPr lang="fr-FR" sz="1200" dirty="0">
                <a:latin typeface="Vrinda" pitchFamily="2" charset="0"/>
                <a:cs typeface="Vrinda" pitchFamily="2" charset="0"/>
              </a:rPr>
              <a:t>mais également sur les mois à venir.</a:t>
            </a:r>
          </a:p>
          <a:p>
            <a:pPr algn="ctr"/>
            <a:endParaRPr lang="fr-FR" sz="1200" dirty="0">
              <a:latin typeface="Vrinda" pitchFamily="2" charset="0"/>
              <a:cs typeface="Vrinda" pitchFamily="2" charset="0"/>
            </a:endParaRPr>
          </a:p>
          <a:p>
            <a:pPr algn="ctr"/>
            <a:r>
              <a:rPr lang="fr-FR" sz="1200" dirty="0">
                <a:latin typeface="Vrinda" pitchFamily="2" charset="0"/>
                <a:cs typeface="Vrinda" pitchFamily="2" charset="0"/>
              </a:rPr>
              <a:t>La seule condition étant de créer et de mettre à jour la mission</a:t>
            </a:r>
          </a:p>
        </p:txBody>
      </p:sp>
      <p:pic>
        <p:nvPicPr>
          <p:cNvPr id="4098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00156" y="1714488"/>
            <a:ext cx="457200" cy="457200"/>
          </a:xfrm>
          <a:prstGeom prst="rect">
            <a:avLst/>
          </a:prstGeom>
          <a:noFill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61975" y="2285992"/>
            <a:ext cx="802005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Flèche droite 10"/>
          <p:cNvSpPr/>
          <p:nvPr/>
        </p:nvSpPr>
        <p:spPr>
          <a:xfrm rot="10800000">
            <a:off x="2214546" y="228599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 droite 11"/>
          <p:cNvSpPr/>
          <p:nvPr/>
        </p:nvSpPr>
        <p:spPr>
          <a:xfrm>
            <a:off x="500034" y="3429000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 droite 12"/>
          <p:cNvSpPr/>
          <p:nvPr/>
        </p:nvSpPr>
        <p:spPr>
          <a:xfrm rot="12793563">
            <a:off x="4012496" y="3718570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Simplicité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Recherche de profile correspondant à une mission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990754" y="1730390"/>
            <a:ext cx="63914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B-Hive permet aux commerciaux de trouver les bons profiles suivants les caractéristiques </a:t>
            </a:r>
          </a:p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de la mission.</a:t>
            </a: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  <p:pic>
        <p:nvPicPr>
          <p:cNvPr id="4098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00156" y="1714488"/>
            <a:ext cx="457200" cy="457200"/>
          </a:xfrm>
          <a:prstGeom prst="rect">
            <a:avLst/>
          </a:prstGeom>
          <a:noFill/>
        </p:spPr>
      </p:pic>
      <p:pic>
        <p:nvPicPr>
          <p:cNvPr id="14" name="Picture 2" descr="D:\B-HIVE\profile\profilCom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71528" y="1714488"/>
            <a:ext cx="457200" cy="457200"/>
          </a:xfrm>
          <a:prstGeom prst="rect">
            <a:avLst/>
          </a:prstGeom>
          <a:noFill/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14414" y="2643182"/>
            <a:ext cx="6737771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Flèche droite 17"/>
          <p:cNvSpPr/>
          <p:nvPr/>
        </p:nvSpPr>
        <p:spPr>
          <a:xfrm rot="10800000">
            <a:off x="2285985" y="264318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 droite 18"/>
          <p:cNvSpPr/>
          <p:nvPr/>
        </p:nvSpPr>
        <p:spPr>
          <a:xfrm>
            <a:off x="1428728" y="3786190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 droite 19"/>
          <p:cNvSpPr/>
          <p:nvPr/>
        </p:nvSpPr>
        <p:spPr>
          <a:xfrm rot="12793563">
            <a:off x="7227206" y="3790008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Evolutif 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Utiliser la facturation de B-Hive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990754" y="1730390"/>
            <a:ext cx="502092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B-Hive permet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de créer une facture à partir des prestations réalisées.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2357430"/>
            <a:ext cx="8186754" cy="2451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 descr="D:\B-HIVE\profile\profilDI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00156" y="1714488"/>
            <a:ext cx="457200" cy="457200"/>
          </a:xfrm>
          <a:prstGeom prst="rect">
            <a:avLst/>
          </a:prstGeom>
          <a:noFill/>
        </p:spPr>
      </p:pic>
      <p:sp>
        <p:nvSpPr>
          <p:cNvPr id="18" name="Flèche droite 17"/>
          <p:cNvSpPr/>
          <p:nvPr/>
        </p:nvSpPr>
        <p:spPr>
          <a:xfrm rot="10800000">
            <a:off x="2571736" y="2428868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 droite 18"/>
          <p:cNvSpPr/>
          <p:nvPr/>
        </p:nvSpPr>
        <p:spPr>
          <a:xfrm>
            <a:off x="642910" y="2786058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571604" y="5455523"/>
            <a:ext cx="660950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Remarque :</a:t>
            </a:r>
          </a:p>
          <a:p>
            <a:pPr>
              <a:buFontTx/>
              <a:buChar char="-"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La facturation n’est pas à créer entièrement. B-Hive récupère toutes les informations sur le client (Coût – Référence – Adresse) et le collaborateur puis propose la création de la facture (état « Virtuelle »)</a:t>
            </a:r>
          </a:p>
          <a:p>
            <a:pPr>
              <a:buFontTx/>
              <a:buChar char="-"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Les factures « Créée » correspondent à des factures virtuelles qui ont été créées</a:t>
            </a: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 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Quelques statistiques de facturation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990754" y="1730390"/>
            <a:ext cx="627287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Plusieurs statistique permet ainsi de suivre l’évolution des factures ou du chiffre d’affaire</a:t>
            </a:r>
          </a:p>
        </p:txBody>
      </p:sp>
      <p:pic>
        <p:nvPicPr>
          <p:cNvPr id="4098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00156" y="1714488"/>
            <a:ext cx="457200" cy="457200"/>
          </a:xfrm>
          <a:prstGeom prst="rect">
            <a:avLst/>
          </a:prstGeom>
          <a:noFill/>
        </p:spPr>
      </p:pic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571604" y="5455523"/>
            <a:ext cx="660950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Remarque :</a:t>
            </a:r>
          </a:p>
          <a:p>
            <a:pPr>
              <a:buFontTx/>
              <a:buChar char="-"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 Les évolutions sont gratuites, alors n’hésitez pas à nous demander la création de nouveaux statistiques.</a:t>
            </a: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29256" y="2357430"/>
            <a:ext cx="3138487" cy="175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643174" y="3214686"/>
            <a:ext cx="4476757" cy="2385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285852" y="2500306"/>
            <a:ext cx="3352592" cy="150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ZoneTexte 16"/>
          <p:cNvSpPr txBox="1">
            <a:spLocks noChangeArrowheads="1"/>
          </p:cNvSpPr>
          <p:nvPr/>
        </p:nvSpPr>
        <p:spPr bwMode="auto">
          <a:xfrm rot="16200000">
            <a:off x="6819631" y="44056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Réactivité 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Ecologique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B-Hive et le module S.S.I.I</a:t>
            </a: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285720" y="2000240"/>
            <a:ext cx="853281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			</a:t>
            </a:r>
            <a:r>
              <a:rPr lang="fr-FR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D’autres fonctionnalités </a:t>
            </a:r>
            <a:r>
              <a:rPr lang="fr-FR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existent </a:t>
            </a:r>
          </a:p>
          <a:p>
            <a:r>
              <a:rPr lang="fr-FR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		mais certaines ne sont pas disponible </a:t>
            </a:r>
          </a:p>
          <a:p>
            <a:r>
              <a:rPr lang="fr-FR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			dans l’environnement de test</a:t>
            </a:r>
            <a:endParaRPr lang="fr-FR" dirty="0">
              <a:solidFill>
                <a:schemeClr val="accent2"/>
              </a:solidFill>
              <a:latin typeface="Vrinda" pitchFamily="2" charset="0"/>
              <a:cs typeface="Vrinda" pitchFamily="2" charset="0"/>
            </a:endParaRP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2357422" y="3643314"/>
            <a:ext cx="600079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dirty="0">
                <a:latin typeface="Vrinda" pitchFamily="2" charset="0"/>
                <a:cs typeface="Vrinda" pitchFamily="2" charset="0"/>
              </a:rPr>
              <a:t>Exemple</a:t>
            </a:r>
          </a:p>
          <a:p>
            <a:r>
              <a:rPr lang="fr-FR" sz="1200" dirty="0">
                <a:latin typeface="Vrinda" pitchFamily="2" charset="0"/>
                <a:cs typeface="Vrinda" pitchFamily="2" charset="0"/>
                <a:sym typeface="Wingdings" pitchFamily="2" charset="2"/>
              </a:rPr>
              <a:t>	 Utilisez le </a:t>
            </a:r>
            <a:r>
              <a:rPr lang="fr-FR" sz="1200" dirty="0" err="1">
                <a:latin typeface="Vrinda" pitchFamily="2" charset="0"/>
                <a:cs typeface="Vrinda" pitchFamily="2" charset="0"/>
                <a:sym typeface="Wingdings" pitchFamily="2" charset="2"/>
              </a:rPr>
              <a:t>process</a:t>
            </a:r>
            <a:r>
              <a:rPr lang="fr-FR" sz="1200" dirty="0">
                <a:latin typeface="Vrinda" pitchFamily="2" charset="0"/>
                <a:cs typeface="Vrinda" pitchFamily="2" charset="0"/>
                <a:sym typeface="Wingdings" pitchFamily="2" charset="2"/>
              </a:rPr>
              <a:t> des congés</a:t>
            </a:r>
          </a:p>
          <a:p>
            <a:r>
              <a:rPr lang="fr-FR" sz="1200" dirty="0">
                <a:latin typeface="Vrinda" pitchFamily="2" charset="0"/>
                <a:cs typeface="Vrinda" pitchFamily="2" charset="0"/>
                <a:sym typeface="Wingdings" pitchFamily="2" charset="2"/>
              </a:rPr>
              <a:t>	 Utilisez le </a:t>
            </a:r>
            <a:r>
              <a:rPr lang="fr-FR" sz="1200" dirty="0" err="1">
                <a:latin typeface="Vrinda" pitchFamily="2" charset="0"/>
                <a:cs typeface="Vrinda" pitchFamily="2" charset="0"/>
                <a:sym typeface="Wingdings" pitchFamily="2" charset="2"/>
              </a:rPr>
              <a:t>process</a:t>
            </a:r>
            <a:r>
              <a:rPr lang="fr-FR" sz="1200" dirty="0">
                <a:latin typeface="Vrinda" pitchFamily="2" charset="0"/>
                <a:cs typeface="Vrinda" pitchFamily="2" charset="0"/>
                <a:sym typeface="Wingdings" pitchFamily="2" charset="2"/>
              </a:rPr>
              <a:t> de validation des CRA (avec des envois automatique par mail)</a:t>
            </a:r>
          </a:p>
          <a:p>
            <a:r>
              <a:rPr lang="fr-FR" sz="1200" dirty="0">
                <a:latin typeface="Vrinda" pitchFamily="2" charset="0"/>
                <a:cs typeface="Vrinda" pitchFamily="2" charset="0"/>
                <a:sym typeface="Wingdings" pitchFamily="2" charset="2"/>
              </a:rPr>
              <a:t>	 Recevez par mail </a:t>
            </a:r>
            <a:r>
              <a:rPr lang="fr-FR" sz="1200" dirty="0" smtClean="0">
                <a:latin typeface="Vrinda" pitchFamily="2" charset="0"/>
                <a:cs typeface="Vrinda" pitchFamily="2" charset="0"/>
                <a:sym typeface="Wingdings" pitchFamily="2" charset="2"/>
              </a:rPr>
              <a:t>le CV des </a:t>
            </a:r>
            <a:r>
              <a:rPr lang="fr-FR" sz="1200" dirty="0">
                <a:latin typeface="Vrinda" pitchFamily="2" charset="0"/>
                <a:cs typeface="Vrinda" pitchFamily="2" charset="0"/>
                <a:sym typeface="Wingdings" pitchFamily="2" charset="2"/>
              </a:rPr>
              <a:t>collaborateurs terminant prochainement leur mission</a:t>
            </a:r>
          </a:p>
          <a:p>
            <a:r>
              <a:rPr lang="fr-FR" sz="1200" dirty="0">
                <a:latin typeface="Vrinda" pitchFamily="2" charset="0"/>
                <a:cs typeface="Vrinda" pitchFamily="2" charset="0"/>
                <a:sym typeface="Wingdings" pitchFamily="2" charset="2"/>
              </a:rPr>
              <a:t>	 </a:t>
            </a:r>
            <a:r>
              <a:rPr lang="fr-FR" sz="1200" dirty="0" err="1">
                <a:latin typeface="Vrinda" pitchFamily="2" charset="0"/>
                <a:cs typeface="Vrinda" pitchFamily="2" charset="0"/>
                <a:sym typeface="Wingdings" pitchFamily="2" charset="2"/>
              </a:rPr>
              <a:t>etc</a:t>
            </a:r>
            <a:r>
              <a:rPr lang="fr-FR" sz="1200" dirty="0">
                <a:latin typeface="Vrinda" pitchFamily="2" charset="0"/>
                <a:cs typeface="Vrinda" pitchFamily="2" charset="0"/>
                <a:sym typeface="Wingdings" pitchFamily="2" charset="2"/>
              </a:rPr>
              <a:t> …</a:t>
            </a: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  <p:pic>
        <p:nvPicPr>
          <p:cNvPr id="5122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488" y="1328726"/>
            <a:ext cx="457200" cy="457200"/>
          </a:xfrm>
          <a:prstGeom prst="rect">
            <a:avLst/>
          </a:prstGeom>
          <a:noFill/>
        </p:spPr>
      </p:pic>
      <p:pic>
        <p:nvPicPr>
          <p:cNvPr id="5123" name="Picture 3" descr="D:\B-HIVE\profile\profilCom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043362" y="1328726"/>
            <a:ext cx="457200" cy="457200"/>
          </a:xfrm>
          <a:prstGeom prst="rect">
            <a:avLst/>
          </a:prstGeom>
          <a:noFill/>
        </p:spPr>
      </p:pic>
      <p:pic>
        <p:nvPicPr>
          <p:cNvPr id="5124" name="Picture 4" descr="D:\B-HIVE\profile\profilCol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29246" y="1328726"/>
            <a:ext cx="457200" cy="457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ZoneTexte 27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Ergonomie conviviale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2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Le Concept de B-Hive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30" name="Image 29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graphicFrame>
        <p:nvGraphicFramePr>
          <p:cNvPr id="31" name="Espace réservé du contenu 3"/>
          <p:cNvGraphicFramePr>
            <a:graphicFrameLocks/>
          </p:cNvGraphicFramePr>
          <p:nvPr/>
        </p:nvGraphicFramePr>
        <p:xfrm>
          <a:off x="1000100" y="1142984"/>
          <a:ext cx="7572428" cy="4929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32" name="Groupe 31"/>
          <p:cNvGrpSpPr/>
          <p:nvPr/>
        </p:nvGrpSpPr>
        <p:grpSpPr>
          <a:xfrm>
            <a:off x="4000496" y="2125149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3" name="Hexagone 32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CRA</a:t>
              </a:r>
              <a:endParaRPr lang="fr-FR" sz="1700" kern="1200" dirty="0"/>
            </a:p>
          </p:txBody>
        </p:sp>
      </p:grpSp>
      <p:grpSp>
        <p:nvGrpSpPr>
          <p:cNvPr id="35" name="Groupe 34"/>
          <p:cNvGrpSpPr/>
          <p:nvPr/>
        </p:nvGrpSpPr>
        <p:grpSpPr>
          <a:xfrm>
            <a:off x="4000496" y="3161215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6" name="Hexagone 35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</p:sp>
        <p:sp>
          <p:nvSpPr>
            <p:cNvPr id="37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Choix</a:t>
              </a:r>
            </a:p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dirty="0" smtClean="0"/>
                <a:t>Client</a:t>
              </a:r>
              <a:endParaRPr lang="fr-FR" sz="1700" kern="1200" dirty="0"/>
            </a:p>
          </p:txBody>
        </p:sp>
      </p:grpSp>
      <p:grpSp>
        <p:nvGrpSpPr>
          <p:cNvPr id="40" name="Groupe 39"/>
          <p:cNvGrpSpPr/>
          <p:nvPr/>
        </p:nvGrpSpPr>
        <p:grpSpPr>
          <a:xfrm>
            <a:off x="2643174" y="3661281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3" name="Hexagone 42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46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dirty="0" smtClean="0"/>
                <a:t>Budget</a:t>
              </a:r>
              <a:endParaRPr lang="fr-FR" sz="1700" kern="1200" dirty="0"/>
            </a:p>
          </p:txBody>
        </p:sp>
      </p:grpSp>
      <p:grpSp>
        <p:nvGrpSpPr>
          <p:cNvPr id="49" name="Groupe 48"/>
          <p:cNvGrpSpPr/>
          <p:nvPr/>
        </p:nvGrpSpPr>
        <p:grpSpPr>
          <a:xfrm>
            <a:off x="3978183" y="4161347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2" name="Hexagone 51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53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Reporting</a:t>
              </a:r>
              <a:endParaRPr lang="fr-FR" sz="1700" kern="1200" dirty="0"/>
            </a:p>
          </p:txBody>
        </p:sp>
      </p:grpSp>
      <p:grpSp>
        <p:nvGrpSpPr>
          <p:cNvPr id="54" name="Groupe 53"/>
          <p:cNvGrpSpPr/>
          <p:nvPr/>
        </p:nvGrpSpPr>
        <p:grpSpPr>
          <a:xfrm>
            <a:off x="5357818" y="2643182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5" name="Hexagone 54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56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Statistique</a:t>
              </a:r>
              <a:endParaRPr lang="fr-FR" sz="1700" kern="1200" dirty="0"/>
            </a:p>
          </p:txBody>
        </p:sp>
      </p:grpSp>
      <p:grpSp>
        <p:nvGrpSpPr>
          <p:cNvPr id="57" name="Groupe 56"/>
          <p:cNvGrpSpPr/>
          <p:nvPr/>
        </p:nvGrpSpPr>
        <p:grpSpPr>
          <a:xfrm>
            <a:off x="5335505" y="3696785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8" name="Hexagone 57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59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Planning</a:t>
              </a:r>
              <a:endParaRPr lang="fr-FR" sz="1700" kern="1200" dirty="0"/>
            </a:p>
          </p:txBody>
        </p:sp>
      </p:grpSp>
      <p:grpSp>
        <p:nvGrpSpPr>
          <p:cNvPr id="60" name="Groupe 59"/>
          <p:cNvGrpSpPr/>
          <p:nvPr/>
        </p:nvGrpSpPr>
        <p:grpSpPr>
          <a:xfrm>
            <a:off x="2643174" y="2643182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61" name="Hexagone 60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Congés</a:t>
              </a:r>
              <a:endParaRPr lang="fr-FR" sz="17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642910" y="1610013"/>
            <a:ext cx="79296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Sélectionnez le modèle selon votre méthodologie</a:t>
            </a:r>
          </a:p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Construisez votre workflow  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14" name="ZoneTexte 13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Interface simplifiée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5" name="Image 14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6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Paramétrable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28717">
            <a:off x="3733620" y="2357435"/>
            <a:ext cx="1357290" cy="1272087"/>
          </a:xfrm>
          <a:prstGeom prst="rect">
            <a:avLst/>
          </a:prstGeom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00496" y="4000504"/>
            <a:ext cx="92392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Image 21" descr="doc_118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36" y="3500438"/>
            <a:ext cx="785818" cy="785818"/>
          </a:xfrm>
          <a:prstGeom prst="rect">
            <a:avLst/>
          </a:prstGeom>
        </p:spPr>
      </p:pic>
      <p:pic>
        <p:nvPicPr>
          <p:cNvPr id="23" name="Image 22" descr="doc_16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330" y="3500438"/>
            <a:ext cx="857256" cy="814393"/>
          </a:xfrm>
          <a:prstGeom prst="rect">
            <a:avLst/>
          </a:prstGeom>
        </p:spPr>
      </p:pic>
      <p:pic>
        <p:nvPicPr>
          <p:cNvPr id="26" name="Image 25" descr="co_037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2330" y="4429132"/>
            <a:ext cx="714380" cy="714380"/>
          </a:xfrm>
          <a:prstGeom prst="rect">
            <a:avLst/>
          </a:prstGeom>
        </p:spPr>
      </p:pic>
      <p:pic>
        <p:nvPicPr>
          <p:cNvPr id="27" name="Image 26" descr="co_003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392288">
            <a:off x="6215074" y="4357694"/>
            <a:ext cx="714380" cy="714380"/>
          </a:xfrm>
          <a:prstGeom prst="rect">
            <a:avLst/>
          </a:prstGeom>
        </p:spPr>
      </p:pic>
      <p:sp>
        <p:nvSpPr>
          <p:cNvPr id="28" name="Flèche droite 27"/>
          <p:cNvSpPr/>
          <p:nvPr/>
        </p:nvSpPr>
        <p:spPr>
          <a:xfrm>
            <a:off x="1643042" y="2928934"/>
            <a:ext cx="1571636" cy="428628"/>
          </a:xfrm>
          <a:prstGeom prst="rightArrow">
            <a:avLst>
              <a:gd name="adj1" fmla="val 65283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Modèle</a:t>
            </a:r>
            <a:endParaRPr lang="fr-FR" dirty="0"/>
          </a:p>
        </p:txBody>
      </p:sp>
      <p:sp>
        <p:nvSpPr>
          <p:cNvPr id="29" name="Flèche droite 28"/>
          <p:cNvSpPr/>
          <p:nvPr/>
        </p:nvSpPr>
        <p:spPr>
          <a:xfrm>
            <a:off x="5214942" y="4429132"/>
            <a:ext cx="92869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Flèche droite 29"/>
          <p:cNvSpPr/>
          <p:nvPr/>
        </p:nvSpPr>
        <p:spPr>
          <a:xfrm>
            <a:off x="1643042" y="4286256"/>
            <a:ext cx="1571636" cy="428628"/>
          </a:xfrm>
          <a:prstGeom prst="rightArrow">
            <a:avLst>
              <a:gd name="adj1" fmla="val 65283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Workflow</a:t>
            </a:r>
            <a:endParaRPr lang="fr-FR" dirty="0"/>
          </a:p>
        </p:txBody>
      </p:sp>
      <p:sp>
        <p:nvSpPr>
          <p:cNvPr id="31" name="Flèche droite 30"/>
          <p:cNvSpPr/>
          <p:nvPr/>
        </p:nvSpPr>
        <p:spPr>
          <a:xfrm>
            <a:off x="1643042" y="5929330"/>
            <a:ext cx="1571636" cy="428628"/>
          </a:xfrm>
          <a:prstGeom prst="rightArrow">
            <a:avLst>
              <a:gd name="adj1" fmla="val 65283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Autre</a:t>
            </a:r>
            <a:endParaRPr lang="fr-FR" dirty="0"/>
          </a:p>
        </p:txBody>
      </p:sp>
      <p:pic>
        <p:nvPicPr>
          <p:cNvPr id="32" name="Picture 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786182" y="5429264"/>
            <a:ext cx="1428750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100% Web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3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Faites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évoluer gratuitement B-Hive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1714480" y="2428868"/>
            <a:ext cx="642942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B-Hive est un produit qui fonctionne par module, puis par modèle.</a:t>
            </a:r>
          </a:p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Ici on vous a montré un exemple d’utilisation du module SSII. </a:t>
            </a:r>
          </a:p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Le modèle correspond à la manière dont vous désirez utiliser le module. Exemple pour le CRA, vous pouvez avoir le modèle « CRA sans validation » et le modèle « CRA avec validation 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»</a:t>
            </a:r>
            <a:endParaRPr lang="fr-FR" sz="1200" dirty="0" smtClean="0">
              <a:latin typeface="Vrinda" pitchFamily="2" charset="0"/>
              <a:cs typeface="Vrinda" pitchFamily="2" charset="0"/>
            </a:endParaRPr>
          </a:p>
          <a:p>
            <a:r>
              <a:rPr lang="fr-FR" sz="1200" b="1" dirty="0" smtClean="0">
                <a:latin typeface="Vrinda" pitchFamily="2" charset="0"/>
                <a:cs typeface="Vrinda" pitchFamily="2" charset="0"/>
              </a:rPr>
              <a:t>Si un module ou un modèle n’existe </a:t>
            </a:r>
            <a:r>
              <a:rPr lang="fr-FR" sz="1200" b="1" dirty="0" smtClean="0">
                <a:latin typeface="Vrinda" pitchFamily="2" charset="0"/>
                <a:cs typeface="Vrinda" pitchFamily="2" charset="0"/>
              </a:rPr>
              <a:t>pas. </a:t>
            </a:r>
          </a:p>
          <a:p>
            <a:r>
              <a:rPr lang="fr-FR" sz="1200" b="1" dirty="0" smtClean="0">
                <a:latin typeface="Vrinda" pitchFamily="2" charset="0"/>
                <a:cs typeface="Vrinda" pitchFamily="2" charset="0"/>
              </a:rPr>
              <a:t>Faites </a:t>
            </a:r>
            <a:r>
              <a:rPr lang="fr-FR" sz="1200" b="1" dirty="0" smtClean="0">
                <a:latin typeface="Vrinda" pitchFamily="2" charset="0"/>
                <a:cs typeface="Vrinda" pitchFamily="2" charset="0"/>
              </a:rPr>
              <a:t>le nous savoir, </a:t>
            </a:r>
            <a:r>
              <a:rPr lang="fr-FR" sz="1200" b="1" dirty="0" smtClean="0">
                <a:latin typeface="Vrinda" pitchFamily="2" charset="0"/>
                <a:cs typeface="Vrinda" pitchFamily="2" charset="0"/>
              </a:rPr>
              <a:t>nous </a:t>
            </a:r>
            <a:r>
              <a:rPr lang="fr-FR" sz="1200" b="1" dirty="0" smtClean="0">
                <a:latin typeface="Vrinda" pitchFamily="2" charset="0"/>
                <a:cs typeface="Vrinda" pitchFamily="2" charset="0"/>
              </a:rPr>
              <a:t>le mettrons à votre </a:t>
            </a:r>
            <a:r>
              <a:rPr lang="fr-FR" sz="1200" b="1" dirty="0" smtClean="0">
                <a:latin typeface="Vrinda" pitchFamily="2" charset="0"/>
                <a:cs typeface="Vrinda" pitchFamily="2" charset="0"/>
              </a:rPr>
              <a:t>disposition G R A T U I T E M E N T.</a:t>
            </a:r>
          </a:p>
          <a:p>
            <a:endParaRPr lang="fr-FR" sz="1200" b="1" dirty="0" smtClean="0">
              <a:latin typeface="Vrinda" pitchFamily="2" charset="0"/>
              <a:cs typeface="Vrinda" pitchFamily="2" charset="0"/>
            </a:endParaRPr>
          </a:p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B-Hive est un produit qui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évolue en fonction du besoin de ses clients.</a:t>
            </a:r>
          </a:p>
          <a:p>
            <a:r>
              <a:rPr lang="fr-FR" sz="1200" b="1" dirty="0" smtClean="0">
                <a:latin typeface="Vrinda" pitchFamily="2" charset="0"/>
                <a:cs typeface="Vrinda" pitchFamily="2" charset="0"/>
              </a:rPr>
              <a:t>Si une interface ou une fonctionnalité n’existe pas.</a:t>
            </a:r>
            <a:endParaRPr lang="fr-FR" sz="1200" b="1" dirty="0" smtClean="0">
              <a:latin typeface="Vrinda" pitchFamily="2" charset="0"/>
              <a:cs typeface="Vrinda" pitchFamily="2" charset="0"/>
            </a:endParaRPr>
          </a:p>
          <a:p>
            <a:r>
              <a:rPr lang="fr-FR" sz="1200" b="1" dirty="0" smtClean="0">
                <a:latin typeface="Vrinda" pitchFamily="2" charset="0"/>
                <a:cs typeface="Vrinda" pitchFamily="2" charset="0"/>
              </a:rPr>
              <a:t>Faites le nous savoir, </a:t>
            </a:r>
            <a:r>
              <a:rPr lang="fr-FR" sz="1200" b="1" dirty="0" smtClean="0">
                <a:latin typeface="Vrinda" pitchFamily="2" charset="0"/>
                <a:cs typeface="Vrinda" pitchFamily="2" charset="0"/>
              </a:rPr>
              <a:t>nous </a:t>
            </a:r>
            <a:r>
              <a:rPr lang="fr-FR" sz="1200" b="1" dirty="0" smtClean="0">
                <a:latin typeface="Vrinda" pitchFamily="2" charset="0"/>
                <a:cs typeface="Vrinda" pitchFamily="2" charset="0"/>
              </a:rPr>
              <a:t>le mettrons à votre disposition G R A T U I T E M E N T.</a:t>
            </a:r>
          </a:p>
          <a:p>
            <a:endParaRPr lang="fr-FR" sz="1200" b="1" dirty="0" smtClean="0">
              <a:latin typeface="Vrinda" pitchFamily="2" charset="0"/>
              <a:cs typeface="Vrinda" pitchFamily="2" charset="0"/>
            </a:endParaRPr>
          </a:p>
          <a:p>
            <a:endParaRPr lang="fr-FR" sz="1200" dirty="0" smtClean="0">
              <a:latin typeface="Vrinda" pitchFamily="2" charset="0"/>
              <a:cs typeface="Vrinda" pitchFamily="2" charset="0"/>
            </a:endParaRPr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285720" y="1714488"/>
            <a:ext cx="85328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sz="16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  <a:sym typeface="Wingdings" pitchFamily="2" charset="2"/>
              </a:rPr>
              <a:t>		B-Hive </a:t>
            </a:r>
            <a:r>
              <a:rPr lang="fr-FR" sz="1600" b="1" dirty="0">
                <a:solidFill>
                  <a:schemeClr val="accent2"/>
                </a:solidFill>
                <a:latin typeface="Vrinda" pitchFamily="2" charset="0"/>
                <a:cs typeface="Vrinda" pitchFamily="2" charset="0"/>
                <a:sym typeface="Wingdings" pitchFamily="2" charset="2"/>
              </a:rPr>
              <a:t>se construit avec vous et selon vous en </a:t>
            </a:r>
            <a:r>
              <a:rPr lang="fr-FR" sz="16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  <a:sym typeface="Wingdings" pitchFamily="2" charset="2"/>
              </a:rPr>
              <a:t>						toute </a:t>
            </a:r>
            <a:r>
              <a:rPr lang="fr-FR" sz="1600" b="1" dirty="0">
                <a:solidFill>
                  <a:schemeClr val="accent2"/>
                </a:solidFill>
                <a:latin typeface="Vrinda" pitchFamily="2" charset="0"/>
                <a:cs typeface="Vrinda" pitchFamily="2" charset="0"/>
                <a:sym typeface="Wingdings" pitchFamily="2" charset="2"/>
              </a:rPr>
              <a:t>simplicité</a:t>
            </a:r>
            <a:endParaRPr lang="fr-FR" sz="1600" b="1" dirty="0">
              <a:solidFill>
                <a:schemeClr val="accent2"/>
              </a:solidFill>
              <a:latin typeface="Vrinda" pitchFamily="2" charset="0"/>
              <a:cs typeface="Vrinda" pitchFamily="2" charset="0"/>
            </a:endParaRPr>
          </a:p>
        </p:txBody>
      </p:sp>
      <p:pic>
        <p:nvPicPr>
          <p:cNvPr id="6146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28916" y="1257288"/>
            <a:ext cx="457200" cy="457200"/>
          </a:xfrm>
          <a:prstGeom prst="rect">
            <a:avLst/>
          </a:prstGeom>
          <a:noFill/>
        </p:spPr>
      </p:pic>
      <p:pic>
        <p:nvPicPr>
          <p:cNvPr id="6147" name="Picture 3" descr="D:\B-HIVE\profile\profilCom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14800" y="1257288"/>
            <a:ext cx="457200" cy="457200"/>
          </a:xfrm>
          <a:prstGeom prst="rect">
            <a:avLst/>
          </a:prstGeom>
          <a:noFill/>
        </p:spPr>
      </p:pic>
      <p:pic>
        <p:nvPicPr>
          <p:cNvPr id="6148" name="Picture 4" descr="D:\B-HIVE\profile\profilCol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29246" y="1285860"/>
            <a:ext cx="457200" cy="457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Software</a:t>
            </a:r>
          </a:p>
          <a:p>
            <a:r>
              <a:rPr lang="fr-FR" sz="1800" dirty="0" smtClean="0">
                <a:latin typeface="Arial" charset="0"/>
                <a:cs typeface="Arial" charset="0"/>
              </a:rPr>
              <a:t>contact@beesoftware.net</a:t>
            </a: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Calibri" pitchFamily="34" charset="0"/>
              </a:rPr>
              <a:t>Tel.   33 (0)3 62 27 62 38</a:t>
            </a:r>
          </a:p>
          <a:p>
            <a:r>
              <a:rPr lang="fr-FR" sz="1800" dirty="0" smtClean="0">
                <a:latin typeface="Calibri" pitchFamily="34" charset="0"/>
              </a:rPr>
              <a:t>Gsm 33 (0)6 26 08 62 84</a:t>
            </a:r>
          </a:p>
          <a:p>
            <a:r>
              <a:rPr lang="fr-FR" sz="1800" dirty="0" smtClean="0">
                <a:latin typeface="Calibri" pitchFamily="34" charset="0"/>
              </a:rPr>
              <a:t>Fax.  33 (0)3 62 27 62 39</a:t>
            </a: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http://www.beesoftware.net</a:t>
            </a: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/>
              <a:t>Copyright © 2008 beesoftware.net. All Rights Reserved</a:t>
            </a:r>
            <a:endParaRPr lang="fr-FR" sz="110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357818" y="3714752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3289</TotalTime>
  <Words>889</Words>
  <Application>Microsoft PowerPoint</Application>
  <PresentationFormat>Affichage à l'écran (4:3)</PresentationFormat>
  <Paragraphs>166</Paragraphs>
  <Slides>17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298</cp:revision>
  <dcterms:created xsi:type="dcterms:W3CDTF">2008-08-18T15:51:12Z</dcterms:created>
  <dcterms:modified xsi:type="dcterms:W3CDTF">2009-10-01T13:36:19Z</dcterms:modified>
</cp:coreProperties>
</file>