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1" r:id="rId2"/>
    <p:sldId id="292" r:id="rId3"/>
    <p:sldId id="293" r:id="rId4"/>
    <p:sldId id="294" r:id="rId5"/>
    <p:sldId id="295" r:id="rId6"/>
    <p:sldId id="304" r:id="rId7"/>
    <p:sldId id="297" r:id="rId8"/>
    <p:sldId id="298" r:id="rId9"/>
    <p:sldId id="303" r:id="rId10"/>
    <p:sldId id="308" r:id="rId11"/>
    <p:sldId id="309" r:id="rId12"/>
    <p:sldId id="310" r:id="rId13"/>
    <p:sldId id="312" r:id="rId14"/>
    <p:sldId id="305" r:id="rId15"/>
    <p:sldId id="306" r:id="rId16"/>
    <p:sldId id="307" r:id="rId17"/>
    <p:sldId id="296" r:id="rId18"/>
    <p:sldId id="302" r:id="rId19"/>
  </p:sldIdLst>
  <p:sldSz cx="9144000" cy="6858000" type="screen4x3"/>
  <p:notesSz cx="9144000" cy="6858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66CCFF"/>
    <a:srgbClr val="A50021"/>
    <a:srgbClr val="3028D0"/>
  </p:clrMru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4801" autoAdjust="0"/>
    <p:restoredTop sz="87207" autoAdjust="0"/>
  </p:normalViewPr>
  <p:slideViewPr>
    <p:cSldViewPr>
      <p:cViewPr>
        <p:scale>
          <a:sx n="70" d="100"/>
          <a:sy n="70" d="100"/>
        </p:scale>
        <p:origin x="-156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56FDCA-F10A-4569-ADA3-BC521BBB95DE}" type="doc">
      <dgm:prSet loTypeId="urn:microsoft.com/office/officeart/2005/8/layout/cycle6" loCatId="relationship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EA455704-5F2F-43FD-B4F4-C82835626BFF}">
      <dgm:prSet phldrT="[Texte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>
        <a:solidFill>
          <a:srgbClr val="C00000"/>
        </a:solidFill>
      </dgm:spPr>
      <dgm:t>
        <a:bodyPr/>
        <a:lstStyle/>
        <a:p>
          <a:r>
            <a:rPr lang="fr-FR" sz="1600" dirty="0" smtClean="0"/>
            <a:t>TMA</a:t>
          </a:r>
          <a:endParaRPr lang="fr-FR" sz="1600" dirty="0"/>
        </a:p>
      </dgm:t>
    </dgm:pt>
    <dgm:pt modelId="{99D18549-E2C4-4E25-9708-E34BF8829F36}" type="parTrans" cxnId="{C45BB2C7-C506-4202-8857-CA26D46DC94E}">
      <dgm:prSet/>
      <dgm:spPr/>
      <dgm:t>
        <a:bodyPr/>
        <a:lstStyle/>
        <a:p>
          <a:endParaRPr lang="fr-FR"/>
        </a:p>
      </dgm:t>
    </dgm:pt>
    <dgm:pt modelId="{6A62E854-9050-47A6-9A98-30E1267DB04E}" type="sibTrans" cxnId="{C45BB2C7-C506-4202-8857-CA26D46DC94E}">
      <dgm:prSet/>
      <dgm:spPr/>
      <dgm:t>
        <a:bodyPr/>
        <a:lstStyle/>
        <a:p>
          <a:endParaRPr lang="fr-FR"/>
        </a:p>
      </dgm:t>
    </dgm:pt>
    <dgm:pt modelId="{7E08A364-1B19-4A0F-91E0-A92D2153AAD1}">
      <dgm:prSet phldrT="[Texte]" custT="1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fr-FR" sz="1600" dirty="0" smtClean="0"/>
            <a:t>SSII</a:t>
          </a:r>
          <a:endParaRPr lang="fr-FR" sz="1600" dirty="0"/>
        </a:p>
      </dgm:t>
    </dgm:pt>
    <dgm:pt modelId="{B5FDC29C-535E-44EC-AD19-6E37407AEC93}" type="parTrans" cxnId="{888A8256-ECA8-4225-A559-8DFC41148E6A}">
      <dgm:prSet/>
      <dgm:spPr/>
      <dgm:t>
        <a:bodyPr/>
        <a:lstStyle/>
        <a:p>
          <a:endParaRPr lang="fr-FR"/>
        </a:p>
      </dgm:t>
    </dgm:pt>
    <dgm:pt modelId="{D102889D-A39B-4F39-8EB2-93205C06052E}" type="sibTrans" cxnId="{888A8256-ECA8-4225-A559-8DFC41148E6A}">
      <dgm:prSet/>
      <dgm:spPr/>
      <dgm:t>
        <a:bodyPr/>
        <a:lstStyle/>
        <a:p>
          <a:endParaRPr lang="fr-FR"/>
        </a:p>
      </dgm:t>
    </dgm:pt>
    <dgm:pt modelId="{E3BE4FB8-7A21-45D5-AA9D-469C75CB2913}">
      <dgm:prSet phldrT="[Texte]" custT="1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>
        <a:solidFill>
          <a:srgbClr val="FFC000"/>
        </a:solidFill>
      </dgm:spPr>
      <dgm:t>
        <a:bodyPr/>
        <a:lstStyle/>
        <a:p>
          <a:r>
            <a:rPr lang="fr-FR" sz="1600" dirty="0" smtClean="0">
              <a:solidFill>
                <a:schemeClr val="tx1"/>
              </a:solidFill>
            </a:rPr>
            <a:t>Support</a:t>
          </a:r>
        </a:p>
      </dgm:t>
    </dgm:pt>
    <dgm:pt modelId="{A0581428-8DE2-4B5A-9A0A-B9DB3DA29E40}" type="parTrans" cxnId="{CF1286AB-A03A-4A4C-9CDB-595E00CD9D1C}">
      <dgm:prSet/>
      <dgm:spPr/>
      <dgm:t>
        <a:bodyPr/>
        <a:lstStyle/>
        <a:p>
          <a:endParaRPr lang="fr-FR"/>
        </a:p>
      </dgm:t>
    </dgm:pt>
    <dgm:pt modelId="{50F04CEB-7AF8-4CAD-9094-08F7E526303B}" type="sibTrans" cxnId="{CF1286AB-A03A-4A4C-9CDB-595E00CD9D1C}">
      <dgm:prSet/>
      <dgm:spPr/>
      <dgm:t>
        <a:bodyPr/>
        <a:lstStyle/>
        <a:p>
          <a:endParaRPr lang="fr-FR"/>
        </a:p>
      </dgm:t>
    </dgm:pt>
    <dgm:pt modelId="{7D02C143-9D02-43F1-8B3A-3C55D8CA4863}">
      <dgm:prSet phldrT="[Texte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solidFill>
          <a:srgbClr val="7030A0"/>
        </a:solidFill>
      </dgm:spPr>
      <dgm:t>
        <a:bodyPr/>
        <a:lstStyle/>
        <a:p>
          <a:r>
            <a:rPr lang="fr-FR" dirty="0" smtClean="0">
              <a:solidFill>
                <a:schemeClr val="tx1"/>
              </a:solidFill>
            </a:rPr>
            <a:t>Maintenance technique</a:t>
          </a:r>
        </a:p>
        <a:p>
          <a:r>
            <a:rPr lang="fr-FR" i="1" dirty="0" smtClean="0">
              <a:solidFill>
                <a:schemeClr val="tx1"/>
              </a:solidFill>
            </a:rPr>
            <a:t>(en cours)</a:t>
          </a:r>
          <a:endParaRPr lang="fr-FR" i="1" dirty="0">
            <a:solidFill>
              <a:schemeClr val="tx1"/>
            </a:solidFill>
          </a:endParaRPr>
        </a:p>
      </dgm:t>
    </dgm:pt>
    <dgm:pt modelId="{F2D5BC4F-0DEA-4BAC-8FB3-CDA3EB26E16A}" type="parTrans" cxnId="{540C8494-521B-4568-98F6-06ECF8301129}">
      <dgm:prSet/>
      <dgm:spPr/>
      <dgm:t>
        <a:bodyPr/>
        <a:lstStyle/>
        <a:p>
          <a:endParaRPr lang="fr-FR"/>
        </a:p>
      </dgm:t>
    </dgm:pt>
    <dgm:pt modelId="{BB435B31-F1C2-4FC0-AE3A-8EEBA2DFF0A6}" type="sibTrans" cxnId="{540C8494-521B-4568-98F6-06ECF8301129}">
      <dgm:prSet/>
      <dgm:spPr/>
      <dgm:t>
        <a:bodyPr/>
        <a:lstStyle/>
        <a:p>
          <a:endParaRPr lang="fr-FR"/>
        </a:p>
      </dgm:t>
    </dgm:pt>
    <dgm:pt modelId="{07A2DC56-C94B-4913-A2C0-7C3E275F49D8}">
      <dgm:prSet phldrT="[Texte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r-FR" dirty="0" smtClean="0"/>
            <a:t>Dossier administratif</a:t>
          </a:r>
        </a:p>
        <a:p>
          <a:r>
            <a:rPr lang="fr-FR" i="1" dirty="0" smtClean="0"/>
            <a:t>(commandé)</a:t>
          </a:r>
          <a:endParaRPr lang="fr-FR" i="1" dirty="0"/>
        </a:p>
      </dgm:t>
    </dgm:pt>
    <dgm:pt modelId="{78BAD516-8F4D-4653-A083-1AA583402308}" type="parTrans" cxnId="{09A40662-5321-43C3-A6F9-5B2701ABB9F5}">
      <dgm:prSet/>
      <dgm:spPr/>
      <dgm:t>
        <a:bodyPr/>
        <a:lstStyle/>
        <a:p>
          <a:endParaRPr lang="fr-FR"/>
        </a:p>
      </dgm:t>
    </dgm:pt>
    <dgm:pt modelId="{D1DE37D7-10F8-441C-BD99-A179B1A11102}" type="sibTrans" cxnId="{09A40662-5321-43C3-A6F9-5B2701ABB9F5}">
      <dgm:prSet/>
      <dgm:spPr/>
      <dgm:t>
        <a:bodyPr/>
        <a:lstStyle/>
        <a:p>
          <a:endParaRPr lang="fr-FR"/>
        </a:p>
      </dgm:t>
    </dgm:pt>
    <dgm:pt modelId="{53A21FAC-9293-4616-87F5-68FAF285BF46}">
      <dgm:prSet phldrT="[Texte]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r-FR" dirty="0" smtClean="0"/>
            <a:t>Projet Informatique</a:t>
          </a:r>
        </a:p>
        <a:p>
          <a:r>
            <a:rPr lang="fr-FR" i="1" dirty="0" smtClean="0"/>
            <a:t>(commandé)</a:t>
          </a:r>
          <a:endParaRPr lang="fr-FR" i="1" dirty="0"/>
        </a:p>
      </dgm:t>
    </dgm:pt>
    <dgm:pt modelId="{7CFFA4C9-2B38-4561-95C9-0BCA1303970B}" type="parTrans" cxnId="{71E4351A-1CE8-406E-B692-50EFDD6BE9AB}">
      <dgm:prSet/>
      <dgm:spPr/>
      <dgm:t>
        <a:bodyPr/>
        <a:lstStyle/>
        <a:p>
          <a:endParaRPr lang="fr-FR"/>
        </a:p>
      </dgm:t>
    </dgm:pt>
    <dgm:pt modelId="{55739EB1-8861-45A4-ADED-30CAF50CDC6A}" type="sibTrans" cxnId="{71E4351A-1CE8-406E-B692-50EFDD6BE9AB}">
      <dgm:prSet/>
      <dgm:spPr/>
      <dgm:t>
        <a:bodyPr/>
        <a:lstStyle/>
        <a:p>
          <a:endParaRPr lang="fr-FR"/>
        </a:p>
      </dgm:t>
    </dgm:pt>
    <dgm:pt modelId="{7F844286-09E2-4BC5-9445-06BA24E38650}">
      <dgm:prSet phldrT="[Texte]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solidFill>
          <a:srgbClr val="00B050"/>
        </a:solidFill>
      </dgm:spPr>
      <dgm:t>
        <a:bodyPr/>
        <a:lstStyle/>
        <a:p>
          <a:r>
            <a:rPr lang="fr-FR" dirty="0" smtClean="0"/>
            <a:t>Autre ?</a:t>
          </a:r>
        </a:p>
        <a:p>
          <a:r>
            <a:rPr lang="fr-FR" dirty="0" smtClean="0"/>
            <a:t>Demander-le gratuitement</a:t>
          </a:r>
          <a:endParaRPr lang="fr-FR" dirty="0"/>
        </a:p>
      </dgm:t>
    </dgm:pt>
    <dgm:pt modelId="{2E29C0F5-C4FE-41BE-944D-B2651460A040}" type="parTrans" cxnId="{A71723DB-2F3F-435B-A4B9-7E2AA2B8211F}">
      <dgm:prSet/>
      <dgm:spPr/>
      <dgm:t>
        <a:bodyPr/>
        <a:lstStyle/>
        <a:p>
          <a:endParaRPr lang="fr-FR"/>
        </a:p>
      </dgm:t>
    </dgm:pt>
    <dgm:pt modelId="{EDF081BA-037B-4F88-B8A6-09FCC189ED3A}" type="sibTrans" cxnId="{A71723DB-2F3F-435B-A4B9-7E2AA2B8211F}">
      <dgm:prSet/>
      <dgm:spPr/>
      <dgm:t>
        <a:bodyPr/>
        <a:lstStyle/>
        <a:p>
          <a:endParaRPr lang="fr-FR"/>
        </a:p>
      </dgm:t>
    </dgm:pt>
    <dgm:pt modelId="{3201E424-A068-4F3B-97D6-0CA306B6D64D}" type="pres">
      <dgm:prSet presAssocID="{F656FDCA-F10A-4569-ADA3-BC521BBB95DE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F44EBCF5-0279-4B00-960E-60E517681875}" type="pres">
      <dgm:prSet presAssocID="{EA455704-5F2F-43FD-B4F4-C82835626BFF}" presName="node" presStyleLbl="node1" presStyleIdx="0" presStyleCnt="7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38BF02AB-C339-4458-AF40-E697F25613A9}" type="pres">
      <dgm:prSet presAssocID="{EA455704-5F2F-43FD-B4F4-C82835626BFF}" presName="spNode" presStyleCnt="0"/>
      <dgm:spPr/>
      <dgm:t>
        <a:bodyPr/>
        <a:lstStyle/>
        <a:p>
          <a:endParaRPr lang="fr-FR"/>
        </a:p>
      </dgm:t>
    </dgm:pt>
    <dgm:pt modelId="{64862357-9BFF-45E2-BBCC-A284ABF2E115}" type="pres">
      <dgm:prSet presAssocID="{6A62E854-9050-47A6-9A98-30E1267DB04E}" presName="sibTrans" presStyleLbl="sibTrans1D1" presStyleIdx="0" presStyleCnt="7"/>
      <dgm:spPr/>
      <dgm:t>
        <a:bodyPr/>
        <a:lstStyle/>
        <a:p>
          <a:endParaRPr lang="fr-FR"/>
        </a:p>
      </dgm:t>
    </dgm:pt>
    <dgm:pt modelId="{D1231913-354D-4C8D-A792-BBDCB407C560}" type="pres">
      <dgm:prSet presAssocID="{7E08A364-1B19-4A0F-91E0-A92D2153AAD1}" presName="node" presStyleLbl="node1" presStyleIdx="1" presStyleCnt="7" custRadScaleRad="132855" custRadScaleInc="107406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3BCF6BFA-AF75-4D15-826C-5609175548DC}" type="pres">
      <dgm:prSet presAssocID="{7E08A364-1B19-4A0F-91E0-A92D2153AAD1}" presName="spNode" presStyleCnt="0"/>
      <dgm:spPr/>
      <dgm:t>
        <a:bodyPr/>
        <a:lstStyle/>
        <a:p>
          <a:endParaRPr lang="fr-FR"/>
        </a:p>
      </dgm:t>
    </dgm:pt>
    <dgm:pt modelId="{A2AE8883-E62E-41A8-A0F4-F6DBAC0F149E}" type="pres">
      <dgm:prSet presAssocID="{D102889D-A39B-4F39-8EB2-93205C06052E}" presName="sibTrans" presStyleLbl="sibTrans1D1" presStyleIdx="1" presStyleCnt="7"/>
      <dgm:spPr/>
      <dgm:t>
        <a:bodyPr/>
        <a:lstStyle/>
        <a:p>
          <a:endParaRPr lang="fr-FR"/>
        </a:p>
      </dgm:t>
    </dgm:pt>
    <dgm:pt modelId="{492ADD7D-816E-4975-8D8E-F24D7E7766A8}" type="pres">
      <dgm:prSet presAssocID="{E3BE4FB8-7A21-45D5-AA9D-469C75CB2913}" presName="node" presStyleLbl="node1" presStyleIdx="2" presStyleCnt="7" custRadScaleRad="142161" custRadScaleInc="3171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D0356398-50E5-4F28-99A1-595731B50864}" type="pres">
      <dgm:prSet presAssocID="{E3BE4FB8-7A21-45D5-AA9D-469C75CB2913}" presName="spNode" presStyleCnt="0"/>
      <dgm:spPr/>
      <dgm:t>
        <a:bodyPr/>
        <a:lstStyle/>
        <a:p>
          <a:endParaRPr lang="fr-FR"/>
        </a:p>
      </dgm:t>
    </dgm:pt>
    <dgm:pt modelId="{0E18C0ED-E3AA-4807-8BC8-CBAE1DA5AAC8}" type="pres">
      <dgm:prSet presAssocID="{50F04CEB-7AF8-4CAD-9094-08F7E526303B}" presName="sibTrans" presStyleLbl="sibTrans1D1" presStyleIdx="2" presStyleCnt="7"/>
      <dgm:spPr/>
      <dgm:t>
        <a:bodyPr/>
        <a:lstStyle/>
        <a:p>
          <a:endParaRPr lang="fr-FR"/>
        </a:p>
      </dgm:t>
    </dgm:pt>
    <dgm:pt modelId="{BDB31EBE-10D9-4728-9A76-C587114A9906}" type="pres">
      <dgm:prSet presAssocID="{7D02C143-9D02-43F1-8B3A-3C55D8CA4863}" presName="node" presStyleLbl="node1" presStyleIdx="3" presStyleCnt="7" custRadScaleRad="103960" custRadScaleInc="-67116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8B5575FD-CC7F-4A1E-A242-BC6DACEBDF72}" type="pres">
      <dgm:prSet presAssocID="{7D02C143-9D02-43F1-8B3A-3C55D8CA4863}" presName="spNode" presStyleCnt="0"/>
      <dgm:spPr/>
      <dgm:t>
        <a:bodyPr/>
        <a:lstStyle/>
        <a:p>
          <a:endParaRPr lang="fr-FR"/>
        </a:p>
      </dgm:t>
    </dgm:pt>
    <dgm:pt modelId="{5C93FF07-E27F-4D81-8CA8-1A7830F2370C}" type="pres">
      <dgm:prSet presAssocID="{BB435B31-F1C2-4FC0-AE3A-8EEBA2DFF0A6}" presName="sibTrans" presStyleLbl="sibTrans1D1" presStyleIdx="3" presStyleCnt="7"/>
      <dgm:spPr/>
      <dgm:t>
        <a:bodyPr/>
        <a:lstStyle/>
        <a:p>
          <a:endParaRPr lang="fr-FR"/>
        </a:p>
      </dgm:t>
    </dgm:pt>
    <dgm:pt modelId="{BEC28C30-E4E4-467A-9EF5-128D35C90D7D}" type="pres">
      <dgm:prSet presAssocID="{07A2DC56-C94B-4913-A2C0-7C3E275F49D8}" presName="node" presStyleLbl="node1" presStyleIdx="4" presStyleCnt="7" custRadScaleRad="104934" custRadScaleInc="71168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E6F78F18-F53F-4F5D-A02E-226E75BB6CE1}" type="pres">
      <dgm:prSet presAssocID="{07A2DC56-C94B-4913-A2C0-7C3E275F49D8}" presName="spNode" presStyleCnt="0"/>
      <dgm:spPr/>
      <dgm:t>
        <a:bodyPr/>
        <a:lstStyle/>
        <a:p>
          <a:endParaRPr lang="fr-FR"/>
        </a:p>
      </dgm:t>
    </dgm:pt>
    <dgm:pt modelId="{320A98BF-409C-4B70-B662-0BA7B2D4A362}" type="pres">
      <dgm:prSet presAssocID="{D1DE37D7-10F8-441C-BD99-A179B1A11102}" presName="sibTrans" presStyleLbl="sibTrans1D1" presStyleIdx="4" presStyleCnt="7"/>
      <dgm:spPr/>
      <dgm:t>
        <a:bodyPr/>
        <a:lstStyle/>
        <a:p>
          <a:endParaRPr lang="fr-FR"/>
        </a:p>
      </dgm:t>
    </dgm:pt>
    <dgm:pt modelId="{1C33056A-9E0D-446D-AF62-32FDC13FEDDD}" type="pres">
      <dgm:prSet presAssocID="{53A21FAC-9293-4616-87F5-68FAF285BF46}" presName="node" presStyleLbl="node1" presStyleIdx="5" presStyleCnt="7" custRadScaleRad="140516" custRadScaleInc="-10762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D424BAA7-C406-4485-BD7D-2A72EB476CAA}" type="pres">
      <dgm:prSet presAssocID="{53A21FAC-9293-4616-87F5-68FAF285BF46}" presName="spNode" presStyleCnt="0"/>
      <dgm:spPr/>
      <dgm:t>
        <a:bodyPr/>
        <a:lstStyle/>
        <a:p>
          <a:endParaRPr lang="fr-FR"/>
        </a:p>
      </dgm:t>
    </dgm:pt>
    <dgm:pt modelId="{EB720F68-0B3D-48A5-8BD7-8E8AF7B109F9}" type="pres">
      <dgm:prSet presAssocID="{55739EB1-8861-45A4-ADED-30CAF50CDC6A}" presName="sibTrans" presStyleLbl="sibTrans1D1" presStyleIdx="5" presStyleCnt="7"/>
      <dgm:spPr/>
      <dgm:t>
        <a:bodyPr/>
        <a:lstStyle/>
        <a:p>
          <a:endParaRPr lang="fr-FR"/>
        </a:p>
      </dgm:t>
    </dgm:pt>
    <dgm:pt modelId="{107D47FB-942F-49C4-B22B-99208A808380}" type="pres">
      <dgm:prSet presAssocID="{7F844286-09E2-4BC5-9445-06BA24E38650}" presName="node" presStyleLbl="node1" presStyleIdx="6" presStyleCnt="7" custRadScaleRad="130627" custRadScaleInc="-105312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3E69F0B6-12CC-4E69-BB0F-59AA5E86B2B5}" type="pres">
      <dgm:prSet presAssocID="{7F844286-09E2-4BC5-9445-06BA24E38650}" presName="spNode" presStyleCnt="0"/>
      <dgm:spPr/>
    </dgm:pt>
    <dgm:pt modelId="{A9168A6C-8B1A-47EC-9E75-A03E4CBFB538}" type="pres">
      <dgm:prSet presAssocID="{EDF081BA-037B-4F88-B8A6-09FCC189ED3A}" presName="sibTrans" presStyleLbl="sibTrans1D1" presStyleIdx="6" presStyleCnt="7"/>
      <dgm:spPr/>
      <dgm:t>
        <a:bodyPr/>
        <a:lstStyle/>
        <a:p>
          <a:endParaRPr lang="fr-FR"/>
        </a:p>
      </dgm:t>
    </dgm:pt>
  </dgm:ptLst>
  <dgm:cxnLst>
    <dgm:cxn modelId="{8E5118AC-68BD-4611-B30D-F1DA7CE08612}" type="presOf" srcId="{EDF081BA-037B-4F88-B8A6-09FCC189ED3A}" destId="{A9168A6C-8B1A-47EC-9E75-A03E4CBFB538}" srcOrd="0" destOrd="0" presId="urn:microsoft.com/office/officeart/2005/8/layout/cycle6"/>
    <dgm:cxn modelId="{9CEC6B68-0FA2-40AA-B95D-844E02E3BFC8}" type="presOf" srcId="{7E08A364-1B19-4A0F-91E0-A92D2153AAD1}" destId="{D1231913-354D-4C8D-A792-BBDCB407C560}" srcOrd="0" destOrd="0" presId="urn:microsoft.com/office/officeart/2005/8/layout/cycle6"/>
    <dgm:cxn modelId="{A71723DB-2F3F-435B-A4B9-7E2AA2B8211F}" srcId="{F656FDCA-F10A-4569-ADA3-BC521BBB95DE}" destId="{7F844286-09E2-4BC5-9445-06BA24E38650}" srcOrd="6" destOrd="0" parTransId="{2E29C0F5-C4FE-41BE-944D-B2651460A040}" sibTransId="{EDF081BA-037B-4F88-B8A6-09FCC189ED3A}"/>
    <dgm:cxn modelId="{E6CC0F0E-9B74-426B-8C1F-C7EA181CB1C4}" type="presOf" srcId="{53A21FAC-9293-4616-87F5-68FAF285BF46}" destId="{1C33056A-9E0D-446D-AF62-32FDC13FEDDD}" srcOrd="0" destOrd="0" presId="urn:microsoft.com/office/officeart/2005/8/layout/cycle6"/>
    <dgm:cxn modelId="{61BD4997-0A2C-4E49-AE45-06B0D06CA50F}" type="presOf" srcId="{E3BE4FB8-7A21-45D5-AA9D-469C75CB2913}" destId="{492ADD7D-816E-4975-8D8E-F24D7E7766A8}" srcOrd="0" destOrd="0" presId="urn:microsoft.com/office/officeart/2005/8/layout/cycle6"/>
    <dgm:cxn modelId="{ED88D5D4-6248-4026-9509-6FD6A920FAFB}" type="presOf" srcId="{EA455704-5F2F-43FD-B4F4-C82835626BFF}" destId="{F44EBCF5-0279-4B00-960E-60E517681875}" srcOrd="0" destOrd="0" presId="urn:microsoft.com/office/officeart/2005/8/layout/cycle6"/>
    <dgm:cxn modelId="{09A40662-5321-43C3-A6F9-5B2701ABB9F5}" srcId="{F656FDCA-F10A-4569-ADA3-BC521BBB95DE}" destId="{07A2DC56-C94B-4913-A2C0-7C3E275F49D8}" srcOrd="4" destOrd="0" parTransId="{78BAD516-8F4D-4653-A083-1AA583402308}" sibTransId="{D1DE37D7-10F8-441C-BD99-A179B1A11102}"/>
    <dgm:cxn modelId="{231ADC1E-93DF-4FE5-B9B5-A61CF11D1606}" type="presOf" srcId="{6A62E854-9050-47A6-9A98-30E1267DB04E}" destId="{64862357-9BFF-45E2-BBCC-A284ABF2E115}" srcOrd="0" destOrd="0" presId="urn:microsoft.com/office/officeart/2005/8/layout/cycle6"/>
    <dgm:cxn modelId="{888A8256-ECA8-4225-A559-8DFC41148E6A}" srcId="{F656FDCA-F10A-4569-ADA3-BC521BBB95DE}" destId="{7E08A364-1B19-4A0F-91E0-A92D2153AAD1}" srcOrd="1" destOrd="0" parTransId="{B5FDC29C-535E-44EC-AD19-6E37407AEC93}" sibTransId="{D102889D-A39B-4F39-8EB2-93205C06052E}"/>
    <dgm:cxn modelId="{CF1286AB-A03A-4A4C-9CDB-595E00CD9D1C}" srcId="{F656FDCA-F10A-4569-ADA3-BC521BBB95DE}" destId="{E3BE4FB8-7A21-45D5-AA9D-469C75CB2913}" srcOrd="2" destOrd="0" parTransId="{A0581428-8DE2-4B5A-9A0A-B9DB3DA29E40}" sibTransId="{50F04CEB-7AF8-4CAD-9094-08F7E526303B}"/>
    <dgm:cxn modelId="{7F9F3AD2-54BD-4C82-8E39-285B9BF6B73D}" type="presOf" srcId="{F656FDCA-F10A-4569-ADA3-BC521BBB95DE}" destId="{3201E424-A068-4F3B-97D6-0CA306B6D64D}" srcOrd="0" destOrd="0" presId="urn:microsoft.com/office/officeart/2005/8/layout/cycle6"/>
    <dgm:cxn modelId="{7B63677E-C4DB-46C1-B3A6-A1A6B3D0625B}" type="presOf" srcId="{D1DE37D7-10F8-441C-BD99-A179B1A11102}" destId="{320A98BF-409C-4B70-B662-0BA7B2D4A362}" srcOrd="0" destOrd="0" presId="urn:microsoft.com/office/officeart/2005/8/layout/cycle6"/>
    <dgm:cxn modelId="{C45BB2C7-C506-4202-8857-CA26D46DC94E}" srcId="{F656FDCA-F10A-4569-ADA3-BC521BBB95DE}" destId="{EA455704-5F2F-43FD-B4F4-C82835626BFF}" srcOrd="0" destOrd="0" parTransId="{99D18549-E2C4-4E25-9708-E34BF8829F36}" sibTransId="{6A62E854-9050-47A6-9A98-30E1267DB04E}"/>
    <dgm:cxn modelId="{EA0E4F29-9DFD-4C83-B8A5-80D6B5B48A8B}" type="presOf" srcId="{7D02C143-9D02-43F1-8B3A-3C55D8CA4863}" destId="{BDB31EBE-10D9-4728-9A76-C587114A9906}" srcOrd="0" destOrd="0" presId="urn:microsoft.com/office/officeart/2005/8/layout/cycle6"/>
    <dgm:cxn modelId="{3267DEF0-7D3D-4603-83FE-02EE195176BA}" type="presOf" srcId="{50F04CEB-7AF8-4CAD-9094-08F7E526303B}" destId="{0E18C0ED-E3AA-4807-8BC8-CBAE1DA5AAC8}" srcOrd="0" destOrd="0" presId="urn:microsoft.com/office/officeart/2005/8/layout/cycle6"/>
    <dgm:cxn modelId="{45DF47BD-EA1E-4412-BF39-A6A687C63943}" type="presOf" srcId="{D102889D-A39B-4F39-8EB2-93205C06052E}" destId="{A2AE8883-E62E-41A8-A0F4-F6DBAC0F149E}" srcOrd="0" destOrd="0" presId="urn:microsoft.com/office/officeart/2005/8/layout/cycle6"/>
    <dgm:cxn modelId="{71E4351A-1CE8-406E-B692-50EFDD6BE9AB}" srcId="{F656FDCA-F10A-4569-ADA3-BC521BBB95DE}" destId="{53A21FAC-9293-4616-87F5-68FAF285BF46}" srcOrd="5" destOrd="0" parTransId="{7CFFA4C9-2B38-4561-95C9-0BCA1303970B}" sibTransId="{55739EB1-8861-45A4-ADED-30CAF50CDC6A}"/>
    <dgm:cxn modelId="{3CB8E802-2A6A-4217-936F-FD5734B75863}" type="presOf" srcId="{BB435B31-F1C2-4FC0-AE3A-8EEBA2DFF0A6}" destId="{5C93FF07-E27F-4D81-8CA8-1A7830F2370C}" srcOrd="0" destOrd="0" presId="urn:microsoft.com/office/officeart/2005/8/layout/cycle6"/>
    <dgm:cxn modelId="{8C5A61F7-7782-4338-BD57-42BD6CEFC452}" type="presOf" srcId="{07A2DC56-C94B-4913-A2C0-7C3E275F49D8}" destId="{BEC28C30-E4E4-467A-9EF5-128D35C90D7D}" srcOrd="0" destOrd="0" presId="urn:microsoft.com/office/officeart/2005/8/layout/cycle6"/>
    <dgm:cxn modelId="{540C8494-521B-4568-98F6-06ECF8301129}" srcId="{F656FDCA-F10A-4569-ADA3-BC521BBB95DE}" destId="{7D02C143-9D02-43F1-8B3A-3C55D8CA4863}" srcOrd="3" destOrd="0" parTransId="{F2D5BC4F-0DEA-4BAC-8FB3-CDA3EB26E16A}" sibTransId="{BB435B31-F1C2-4FC0-AE3A-8EEBA2DFF0A6}"/>
    <dgm:cxn modelId="{ABB241D3-7C1E-40EA-B260-4C883F6DC505}" type="presOf" srcId="{55739EB1-8861-45A4-ADED-30CAF50CDC6A}" destId="{EB720F68-0B3D-48A5-8BD7-8E8AF7B109F9}" srcOrd="0" destOrd="0" presId="urn:microsoft.com/office/officeart/2005/8/layout/cycle6"/>
    <dgm:cxn modelId="{B6CF9FFF-8B9C-4FD5-9AF0-D05C67DA0CED}" type="presOf" srcId="{7F844286-09E2-4BC5-9445-06BA24E38650}" destId="{107D47FB-942F-49C4-B22B-99208A808380}" srcOrd="0" destOrd="0" presId="urn:microsoft.com/office/officeart/2005/8/layout/cycle6"/>
    <dgm:cxn modelId="{0FEFBA54-74CC-405F-8428-E13C463AA62A}" type="presParOf" srcId="{3201E424-A068-4F3B-97D6-0CA306B6D64D}" destId="{F44EBCF5-0279-4B00-960E-60E517681875}" srcOrd="0" destOrd="0" presId="urn:microsoft.com/office/officeart/2005/8/layout/cycle6"/>
    <dgm:cxn modelId="{D46CB93A-94D1-49D6-98EE-0FB9BD6A999B}" type="presParOf" srcId="{3201E424-A068-4F3B-97D6-0CA306B6D64D}" destId="{38BF02AB-C339-4458-AF40-E697F25613A9}" srcOrd="1" destOrd="0" presId="urn:microsoft.com/office/officeart/2005/8/layout/cycle6"/>
    <dgm:cxn modelId="{DF3B7DDC-0D0D-49FE-9074-CD0C79E8E3A5}" type="presParOf" srcId="{3201E424-A068-4F3B-97D6-0CA306B6D64D}" destId="{64862357-9BFF-45E2-BBCC-A284ABF2E115}" srcOrd="2" destOrd="0" presId="urn:microsoft.com/office/officeart/2005/8/layout/cycle6"/>
    <dgm:cxn modelId="{941E2AF3-BD3C-48DE-A7EE-45BE810D8774}" type="presParOf" srcId="{3201E424-A068-4F3B-97D6-0CA306B6D64D}" destId="{D1231913-354D-4C8D-A792-BBDCB407C560}" srcOrd="3" destOrd="0" presId="urn:microsoft.com/office/officeart/2005/8/layout/cycle6"/>
    <dgm:cxn modelId="{6D17BD0B-5709-4C83-9DEF-71F9EF61191D}" type="presParOf" srcId="{3201E424-A068-4F3B-97D6-0CA306B6D64D}" destId="{3BCF6BFA-AF75-4D15-826C-5609175548DC}" srcOrd="4" destOrd="0" presId="urn:microsoft.com/office/officeart/2005/8/layout/cycle6"/>
    <dgm:cxn modelId="{80ECB2A8-D4FF-4627-AC3A-B4638D132C1B}" type="presParOf" srcId="{3201E424-A068-4F3B-97D6-0CA306B6D64D}" destId="{A2AE8883-E62E-41A8-A0F4-F6DBAC0F149E}" srcOrd="5" destOrd="0" presId="urn:microsoft.com/office/officeart/2005/8/layout/cycle6"/>
    <dgm:cxn modelId="{1E441B09-AFB5-4135-83A4-ADECA042CBAB}" type="presParOf" srcId="{3201E424-A068-4F3B-97D6-0CA306B6D64D}" destId="{492ADD7D-816E-4975-8D8E-F24D7E7766A8}" srcOrd="6" destOrd="0" presId="urn:microsoft.com/office/officeart/2005/8/layout/cycle6"/>
    <dgm:cxn modelId="{550EAC18-774C-4DC5-A947-D2A8324D7814}" type="presParOf" srcId="{3201E424-A068-4F3B-97D6-0CA306B6D64D}" destId="{D0356398-50E5-4F28-99A1-595731B50864}" srcOrd="7" destOrd="0" presId="urn:microsoft.com/office/officeart/2005/8/layout/cycle6"/>
    <dgm:cxn modelId="{BC511473-58F8-4BF7-9DC1-74EC43A480C9}" type="presParOf" srcId="{3201E424-A068-4F3B-97D6-0CA306B6D64D}" destId="{0E18C0ED-E3AA-4807-8BC8-CBAE1DA5AAC8}" srcOrd="8" destOrd="0" presId="urn:microsoft.com/office/officeart/2005/8/layout/cycle6"/>
    <dgm:cxn modelId="{8EF2E5FD-BD8D-4E3A-9B9D-AF9314D85FD1}" type="presParOf" srcId="{3201E424-A068-4F3B-97D6-0CA306B6D64D}" destId="{BDB31EBE-10D9-4728-9A76-C587114A9906}" srcOrd="9" destOrd="0" presId="urn:microsoft.com/office/officeart/2005/8/layout/cycle6"/>
    <dgm:cxn modelId="{1C5E4E80-BF6F-4CD0-A933-14200E00A3D6}" type="presParOf" srcId="{3201E424-A068-4F3B-97D6-0CA306B6D64D}" destId="{8B5575FD-CC7F-4A1E-A242-BC6DACEBDF72}" srcOrd="10" destOrd="0" presId="urn:microsoft.com/office/officeart/2005/8/layout/cycle6"/>
    <dgm:cxn modelId="{3E8DAC30-74E9-4964-94DB-1CE77D082B1E}" type="presParOf" srcId="{3201E424-A068-4F3B-97D6-0CA306B6D64D}" destId="{5C93FF07-E27F-4D81-8CA8-1A7830F2370C}" srcOrd="11" destOrd="0" presId="urn:microsoft.com/office/officeart/2005/8/layout/cycle6"/>
    <dgm:cxn modelId="{6586899C-710F-475F-A92A-EADEE592AFC1}" type="presParOf" srcId="{3201E424-A068-4F3B-97D6-0CA306B6D64D}" destId="{BEC28C30-E4E4-467A-9EF5-128D35C90D7D}" srcOrd="12" destOrd="0" presId="urn:microsoft.com/office/officeart/2005/8/layout/cycle6"/>
    <dgm:cxn modelId="{7D974C4E-322F-423F-875F-803A4791E6B1}" type="presParOf" srcId="{3201E424-A068-4F3B-97D6-0CA306B6D64D}" destId="{E6F78F18-F53F-4F5D-A02E-226E75BB6CE1}" srcOrd="13" destOrd="0" presId="urn:microsoft.com/office/officeart/2005/8/layout/cycle6"/>
    <dgm:cxn modelId="{48DCD1A7-BA7A-43B1-9918-A1A902EC88D3}" type="presParOf" srcId="{3201E424-A068-4F3B-97D6-0CA306B6D64D}" destId="{320A98BF-409C-4B70-B662-0BA7B2D4A362}" srcOrd="14" destOrd="0" presId="urn:microsoft.com/office/officeart/2005/8/layout/cycle6"/>
    <dgm:cxn modelId="{07786FEA-DDEC-4F3E-994E-1F1746681964}" type="presParOf" srcId="{3201E424-A068-4F3B-97D6-0CA306B6D64D}" destId="{1C33056A-9E0D-446D-AF62-32FDC13FEDDD}" srcOrd="15" destOrd="0" presId="urn:microsoft.com/office/officeart/2005/8/layout/cycle6"/>
    <dgm:cxn modelId="{7F0E2635-23DD-441C-AF15-7E4042870EFC}" type="presParOf" srcId="{3201E424-A068-4F3B-97D6-0CA306B6D64D}" destId="{D424BAA7-C406-4485-BD7D-2A72EB476CAA}" srcOrd="16" destOrd="0" presId="urn:microsoft.com/office/officeart/2005/8/layout/cycle6"/>
    <dgm:cxn modelId="{B6230B5F-EAB9-4AF5-9A6F-829DF69A02F6}" type="presParOf" srcId="{3201E424-A068-4F3B-97D6-0CA306B6D64D}" destId="{EB720F68-0B3D-48A5-8BD7-8E8AF7B109F9}" srcOrd="17" destOrd="0" presId="urn:microsoft.com/office/officeart/2005/8/layout/cycle6"/>
    <dgm:cxn modelId="{4612F638-2DAA-4054-91FB-FB03BF9CCE49}" type="presParOf" srcId="{3201E424-A068-4F3B-97D6-0CA306B6D64D}" destId="{107D47FB-942F-49C4-B22B-99208A808380}" srcOrd="18" destOrd="0" presId="urn:microsoft.com/office/officeart/2005/8/layout/cycle6"/>
    <dgm:cxn modelId="{CD93B067-B901-44A0-AB7E-6D7969C04BED}" type="presParOf" srcId="{3201E424-A068-4F3B-97D6-0CA306B6D64D}" destId="{3E69F0B6-12CC-4E69-BB0F-59AA5E86B2B5}" srcOrd="19" destOrd="0" presId="urn:microsoft.com/office/officeart/2005/8/layout/cycle6"/>
    <dgm:cxn modelId="{7B9127AC-A73D-4226-8E35-B81B14D6F183}" type="presParOf" srcId="{3201E424-A068-4F3B-97D6-0CA306B6D64D}" destId="{A9168A6C-8B1A-47EC-9E75-A03E4CBFB538}" srcOrd="20" destOrd="0" presId="urn:microsoft.com/office/officeart/2005/8/layout/cycle6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96D707-4BF9-4416-815E-7FBB62B5D3FB}" type="datetimeFigureOut">
              <a:rPr lang="fr-FR"/>
              <a:pPr>
                <a:defRPr/>
              </a:pPr>
              <a:t>24/09/2009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9C113EF-EFAE-4E56-A4CD-2354ECA6279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028"/>
            <a:ext cx="7772400" cy="147042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F701B-1A8E-4393-B155-FBB43ECA9A63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E60B1-84BB-4F9C-A980-E51473995D0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1784" y="44065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1784" y="2906316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E90F4-C108-49B4-949C-C2E13BA695E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736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FE6D-2A41-4831-A6C1-EAC601A8844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503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4716"/>
            <a:ext cx="4040717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5272"/>
            <a:ext cx="4040717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6085" y="1534716"/>
            <a:ext cx="4040716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6085" y="2175272"/>
            <a:ext cx="4040716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D94D4-AFC8-4770-BF7E-648C4A5DFFC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4C9F1-5BD5-4DC2-8838-1EB259572760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E74AD-B0B7-4E42-A636-484A2FD68FFA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2654"/>
            <a:ext cx="30077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1" y="272653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4703"/>
            <a:ext cx="30077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6BCDC-7445-46C4-9A39-7CF115F760DD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817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817" y="61317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817" y="5367337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B2B7A-534A-4F86-9D30-7DBAD6B9B942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0424D-4E16-40E1-AB72-499712588C9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1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1" y="609600"/>
            <a:ext cx="56261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73EF7-CF1F-4008-B78B-0AC241F12776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les styles du texte du masque</a:t>
            </a:r>
          </a:p>
          <a:p>
            <a:pPr lvl="1"/>
            <a:r>
              <a:rPr lang="en-GB" smtClean="0"/>
              <a:t>Deuxième niveau</a:t>
            </a:r>
          </a:p>
          <a:p>
            <a:pPr lvl="2"/>
            <a:r>
              <a:rPr lang="en-GB" smtClean="0"/>
              <a:t>Troisième niveau</a:t>
            </a:r>
          </a:p>
          <a:p>
            <a:pPr lvl="3"/>
            <a:r>
              <a:rPr lang="en-GB" smtClean="0"/>
              <a:t>Quatrième niveau</a:t>
            </a:r>
          </a:p>
          <a:p>
            <a:pPr lvl="4"/>
            <a:r>
              <a:rPr lang="en-GB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6C8F8472-4403-4D36-A783-8BB39D8EEF98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gif"/><Relationship Id="rId7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jpe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6.jpe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4.jpe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6.jpeg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gif"/><Relationship Id="rId7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6.jpeg"/><Relationship Id="rId4" Type="http://schemas.openxmlformats.org/officeDocument/2006/relationships/image" Target="../media/image4.jpe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gif"/><Relationship Id="rId3" Type="http://schemas.openxmlformats.org/officeDocument/2006/relationships/image" Target="../media/image3.gif"/><Relationship Id="rId7" Type="http://schemas.openxmlformats.org/officeDocument/2006/relationships/image" Target="../media/image30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gif"/><Relationship Id="rId5" Type="http://schemas.openxmlformats.org/officeDocument/2006/relationships/image" Target="../media/image28.gif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33.jpeg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6357938" y="1785938"/>
            <a:ext cx="2428875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4200" dirty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Bee Software</a:t>
            </a:r>
          </a:p>
        </p:txBody>
      </p:sp>
      <p:sp>
        <p:nvSpPr>
          <p:cNvPr id="7175" name="ZoneTexte 3"/>
          <p:cNvSpPr txBox="1">
            <a:spLocks noChangeArrowheads="1"/>
          </p:cNvSpPr>
          <p:nvPr/>
        </p:nvSpPr>
        <p:spPr bwMode="auto">
          <a:xfrm>
            <a:off x="6429375" y="2527300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200" dirty="0" smtClean="0">
                <a:latin typeface="Calibri" pitchFamily="34" charset="0"/>
              </a:rPr>
              <a:t>Tel. 33 (0)3 62 27 62 38</a:t>
            </a:r>
          </a:p>
          <a:p>
            <a:pPr algn="ctr"/>
            <a:r>
              <a:rPr lang="fr-FR" sz="1200" dirty="0" smtClean="0">
                <a:latin typeface="Calibri" pitchFamily="34" charset="0"/>
              </a:rPr>
              <a:t>Gsm 33 (0)6 26 08 62 84</a:t>
            </a:r>
          </a:p>
          <a:p>
            <a:pPr algn="ctr"/>
            <a:r>
              <a:rPr lang="fr-FR" sz="1200" dirty="0" smtClean="0">
                <a:latin typeface="Calibri" pitchFamily="34" charset="0"/>
              </a:rPr>
              <a:t>Fax. 33 (0)3 62 27 62 39</a:t>
            </a:r>
          </a:p>
          <a:p>
            <a:pPr algn="ctr"/>
            <a:endParaRPr lang="fr-FR" sz="1200" dirty="0" smtClean="0">
              <a:latin typeface="Calibri" pitchFamily="34" charset="0"/>
            </a:endParaRPr>
          </a:p>
          <a:p>
            <a:pPr algn="ctr"/>
            <a:r>
              <a:rPr lang="fr-FR" sz="1200" dirty="0" smtClean="0">
                <a:latin typeface="Calibri" pitchFamily="34" charset="0"/>
              </a:rPr>
              <a:t>E-mail</a:t>
            </a:r>
            <a:r>
              <a:rPr lang="fr-FR" sz="1200" dirty="0">
                <a:latin typeface="Calibri" pitchFamily="34" charset="0"/>
              </a:rPr>
              <a:t>. contact@beesoftware.net</a:t>
            </a:r>
          </a:p>
        </p:txBody>
      </p:sp>
      <p:pic>
        <p:nvPicPr>
          <p:cNvPr id="7176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43688" y="5357813"/>
            <a:ext cx="200025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7" name="ZoneTexte 13"/>
          <p:cNvSpPr txBox="1">
            <a:spLocks noChangeArrowheads="1"/>
          </p:cNvSpPr>
          <p:nvPr/>
        </p:nvSpPr>
        <p:spPr bwMode="auto">
          <a:xfrm rot="5400000">
            <a:off x="-730250" y="5770563"/>
            <a:ext cx="1785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000" dirty="0" err="1"/>
              <a:t>Beesoftware</a:t>
            </a:r>
            <a:r>
              <a:rPr lang="fr-FR" sz="1000" dirty="0"/>
              <a:t> – Septembre 2008</a:t>
            </a:r>
          </a:p>
        </p:txBody>
      </p:sp>
      <p:sp>
        <p:nvSpPr>
          <p:cNvPr id="10" name="ZoneTexte 8"/>
          <p:cNvSpPr txBox="1">
            <a:spLocks noChangeArrowheads="1"/>
          </p:cNvSpPr>
          <p:nvPr/>
        </p:nvSpPr>
        <p:spPr bwMode="auto">
          <a:xfrm>
            <a:off x="857250" y="5572125"/>
            <a:ext cx="5000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fr-FR" sz="4800" dirty="0" smtClean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www.beesoftware.net</a:t>
            </a:r>
            <a:endParaRPr lang="fr-FR" sz="4800" dirty="0">
              <a:solidFill>
                <a:schemeClr val="accent2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71604" y="0"/>
            <a:ext cx="43577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Test du module T.M.A</a:t>
            </a:r>
          </a:p>
        </p:txBody>
      </p:sp>
      <p:grpSp>
        <p:nvGrpSpPr>
          <p:cNvPr id="28" name="Groupe 59"/>
          <p:cNvGrpSpPr/>
          <p:nvPr/>
        </p:nvGrpSpPr>
        <p:grpSpPr>
          <a:xfrm>
            <a:off x="906349" y="2232091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9" name="Hexagone 28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Congés</a:t>
              </a:r>
              <a:endParaRPr lang="fr-FR" sz="1700" kern="1200" dirty="0"/>
            </a:p>
          </p:txBody>
        </p:sp>
      </p:grpSp>
      <p:grpSp>
        <p:nvGrpSpPr>
          <p:cNvPr id="50" name="Groupe 62"/>
          <p:cNvGrpSpPr/>
          <p:nvPr/>
        </p:nvGrpSpPr>
        <p:grpSpPr>
          <a:xfrm>
            <a:off x="2263671" y="1714058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1" name="Hexagone 50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52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CRA</a:t>
              </a:r>
              <a:endParaRPr lang="fr-FR" sz="1700" kern="1200" dirty="0"/>
            </a:p>
          </p:txBody>
        </p:sp>
      </p:grpSp>
      <p:grpSp>
        <p:nvGrpSpPr>
          <p:cNvPr id="53" name="Groupe 68"/>
          <p:cNvGrpSpPr/>
          <p:nvPr/>
        </p:nvGrpSpPr>
        <p:grpSpPr>
          <a:xfrm>
            <a:off x="906349" y="3250190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4" name="Hexagone 53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55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dirty="0" smtClean="0"/>
                <a:t>Budget</a:t>
              </a:r>
              <a:endParaRPr lang="fr-FR" sz="1700" kern="1200" dirty="0"/>
            </a:p>
          </p:txBody>
        </p:sp>
      </p:grpSp>
      <p:grpSp>
        <p:nvGrpSpPr>
          <p:cNvPr id="56" name="Groupe 71"/>
          <p:cNvGrpSpPr/>
          <p:nvPr/>
        </p:nvGrpSpPr>
        <p:grpSpPr>
          <a:xfrm>
            <a:off x="2241358" y="3821694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7" name="Hexagone 56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58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err="1" smtClean="0"/>
                <a:t>Reporting</a:t>
              </a:r>
              <a:endParaRPr lang="fr-FR" sz="1700" kern="1200" dirty="0"/>
            </a:p>
          </p:txBody>
        </p:sp>
      </p:grpSp>
      <p:grpSp>
        <p:nvGrpSpPr>
          <p:cNvPr id="59" name="Groupe 74"/>
          <p:cNvGrpSpPr/>
          <p:nvPr/>
        </p:nvGrpSpPr>
        <p:grpSpPr>
          <a:xfrm>
            <a:off x="3620993" y="2232091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60" name="Hexagone 59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Statistique</a:t>
              </a:r>
              <a:endParaRPr lang="fr-FR" sz="1700" kern="1200" dirty="0"/>
            </a:p>
          </p:txBody>
        </p:sp>
      </p:grpSp>
      <p:grpSp>
        <p:nvGrpSpPr>
          <p:cNvPr id="62" name="Groupe 77"/>
          <p:cNvGrpSpPr/>
          <p:nvPr/>
        </p:nvGrpSpPr>
        <p:grpSpPr>
          <a:xfrm>
            <a:off x="3598680" y="3285694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63" name="Hexagone 62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Planning</a:t>
              </a:r>
              <a:endParaRPr lang="fr-FR" sz="1700" kern="1200" dirty="0"/>
            </a:p>
          </p:txBody>
        </p:sp>
      </p:grpSp>
      <p:grpSp>
        <p:nvGrpSpPr>
          <p:cNvPr id="65" name="Groupe 62"/>
          <p:cNvGrpSpPr/>
          <p:nvPr/>
        </p:nvGrpSpPr>
        <p:grpSpPr>
          <a:xfrm>
            <a:off x="2263671" y="2750124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66" name="Hexagone 65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C0000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67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T.M.A</a:t>
              </a:r>
              <a:endParaRPr lang="fr-FR" sz="1700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3"/>
          <p:cNvSpPr txBox="1">
            <a:spLocks noChangeArrowheads="1"/>
          </p:cNvSpPr>
          <p:nvPr/>
        </p:nvSpPr>
        <p:spPr bwMode="auto">
          <a:xfrm>
            <a:off x="1643042" y="1357298"/>
            <a:ext cx="6929486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R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esponsable de service ou DSI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>
                <a:latin typeface="Vrinda" pitchFamily="2" charset="0"/>
              </a:rPr>
              <a:t> Il correspond au chef du service, il met en place la stratégie budgétaire, contrôle les budgets consommés et les prestations mensuelles.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>
                <a:latin typeface="Vrinda" pitchFamily="2" charset="0"/>
              </a:rPr>
              <a:t> En fonction du </a:t>
            </a:r>
            <a:r>
              <a:rPr lang="fr-FR" sz="1200" dirty="0" err="1" smtClean="0">
                <a:latin typeface="Vrinda" pitchFamily="2" charset="0"/>
              </a:rPr>
              <a:t>workflow</a:t>
            </a:r>
            <a:r>
              <a:rPr lang="fr-FR" sz="1200" dirty="0" smtClean="0">
                <a:latin typeface="Vrinda" pitchFamily="2" charset="0"/>
              </a:rPr>
              <a:t>, il peut gérer les congés et consulter tous les plannings mis a disposition par B-Hive.</a:t>
            </a:r>
          </a:p>
          <a:p>
            <a:pPr>
              <a:defRPr/>
            </a:pPr>
            <a:endParaRPr lang="fr-FR" sz="1000" dirty="0">
              <a:latin typeface="Vrinda" pitchFamily="2" charset="0"/>
              <a:cs typeface="Vrinda" pitchFamily="2" charset="0"/>
            </a:endParaRPr>
          </a:p>
        </p:txBody>
      </p:sp>
      <p:sp>
        <p:nvSpPr>
          <p:cNvPr id="10247" name="ZoneTexte 6"/>
          <p:cNvSpPr txBox="1">
            <a:spLocks noChangeArrowheads="1"/>
          </p:cNvSpPr>
          <p:nvPr/>
        </p:nvSpPr>
        <p:spPr bwMode="auto">
          <a:xfrm>
            <a:off x="3000364" y="357166"/>
            <a:ext cx="571504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Les profiles TMA de B-Hive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Suivi en temps réel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5" name="ZoneTexte 3"/>
          <p:cNvSpPr txBox="1">
            <a:spLocks noChangeArrowheads="1"/>
          </p:cNvSpPr>
          <p:nvPr/>
        </p:nvSpPr>
        <p:spPr bwMode="auto">
          <a:xfrm>
            <a:off x="1643042" y="2714620"/>
            <a:ext cx="7000924" cy="1508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R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esponsable d’application ou Chef de projet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>
                <a:latin typeface="Vrinda" pitchFamily="2" charset="0"/>
              </a:rPr>
              <a:t> Il correspond au chef de l'équipe ou au responsable de l'application.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>
                <a:latin typeface="Vrinda" pitchFamily="2" charset="0"/>
              </a:rPr>
              <a:t> Il reçoit par mail les nouvelles demandes et l'état d’avancement des livraisons (ou petit projet) en cours.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>
                <a:latin typeface="Vrinda" pitchFamily="2" charset="0"/>
              </a:rPr>
              <a:t> Il consulte les diagrammes de Gant, les </a:t>
            </a:r>
            <a:r>
              <a:rPr lang="fr-FR" sz="1200" dirty="0" err="1" smtClean="0">
                <a:latin typeface="Vrinda" pitchFamily="2" charset="0"/>
              </a:rPr>
              <a:t>reportings</a:t>
            </a:r>
            <a:r>
              <a:rPr lang="fr-FR" sz="1200" dirty="0" smtClean="0">
                <a:latin typeface="Vrinda" pitchFamily="2" charset="0"/>
              </a:rPr>
              <a:t>, les statistiques et les plannings afin de diriger son équipe et tenir ses objectifs. </a:t>
            </a:r>
            <a:endParaRPr lang="fr-FR" sz="1200" dirty="0">
              <a:latin typeface="Vrinda" pitchFamily="2" charset="0"/>
            </a:endParaRPr>
          </a:p>
        </p:txBody>
      </p:sp>
      <p:sp>
        <p:nvSpPr>
          <p:cNvPr id="16" name="ZoneTexte 3"/>
          <p:cNvSpPr txBox="1">
            <a:spLocks noChangeArrowheads="1"/>
          </p:cNvSpPr>
          <p:nvPr/>
        </p:nvSpPr>
        <p:spPr bwMode="auto">
          <a:xfrm>
            <a:off x="1643042" y="4188275"/>
            <a:ext cx="5929354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D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éveloppeur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>
                <a:latin typeface="Vrinda" pitchFamily="2" charset="0"/>
              </a:rPr>
              <a:t> II correspond à un membre d'une équipe informatique, il résout l'incident, et saisi son activité hebdomadaire.</a:t>
            </a:r>
          </a:p>
          <a:p>
            <a:pPr>
              <a:defRPr/>
            </a:pPr>
            <a:endParaRPr lang="fr-FR" sz="1400" dirty="0">
              <a:latin typeface="Vrinda" pitchFamily="2" charset="0"/>
              <a:cs typeface="Vrinda" pitchFamily="2" charset="0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pic>
        <p:nvPicPr>
          <p:cNvPr id="1026" name="Picture 2" descr="D:\B-HIVE\profile\profilD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2" y="1500174"/>
            <a:ext cx="457200" cy="457200"/>
          </a:xfrm>
          <a:prstGeom prst="rect">
            <a:avLst/>
          </a:prstGeom>
          <a:noFill/>
        </p:spPr>
      </p:pic>
      <p:pic>
        <p:nvPicPr>
          <p:cNvPr id="1028" name="Picture 4" descr="D:\B-HIVE\profile\profilCol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28662" y="4257684"/>
            <a:ext cx="457200" cy="457200"/>
          </a:xfrm>
          <a:prstGeom prst="rect">
            <a:avLst/>
          </a:prstGeom>
          <a:noFill/>
        </p:spPr>
      </p:pic>
      <p:pic>
        <p:nvPicPr>
          <p:cNvPr id="2" name="Picture 2" descr="D:\B-HIVE\profile\profilCP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28662" y="2757486"/>
            <a:ext cx="457200" cy="457200"/>
          </a:xfrm>
          <a:prstGeom prst="rect">
            <a:avLst/>
          </a:prstGeom>
          <a:noFill/>
        </p:spPr>
      </p:pic>
      <p:pic>
        <p:nvPicPr>
          <p:cNvPr id="4" name="Picture 3" descr="D:\B-HIVE\profile\profilUser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28662" y="5186378"/>
            <a:ext cx="457200" cy="457200"/>
          </a:xfrm>
          <a:prstGeom prst="rect">
            <a:avLst/>
          </a:prstGeom>
          <a:noFill/>
        </p:spPr>
      </p:pic>
      <p:sp>
        <p:nvSpPr>
          <p:cNvPr id="14" name="ZoneTexte 3"/>
          <p:cNvSpPr txBox="1">
            <a:spLocks noChangeArrowheads="1"/>
          </p:cNvSpPr>
          <p:nvPr/>
        </p:nvSpPr>
        <p:spPr bwMode="auto">
          <a:xfrm>
            <a:off x="1643042" y="5072074"/>
            <a:ext cx="5929354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U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tilisateur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>
                <a:latin typeface="Vrinda" pitchFamily="2" charset="0"/>
              </a:rPr>
              <a:t> Il correspond a un employé qui utilise un logiciel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>
                <a:latin typeface="Vrinda" pitchFamily="2" charset="0"/>
              </a:rPr>
              <a:t> Il peut uniquement remonter les problèmes qu'il rencontre. C'est à dire, créer un incident dans B-Hive.</a:t>
            </a:r>
          </a:p>
          <a:p>
            <a:pPr>
              <a:defRPr/>
            </a:pPr>
            <a:endParaRPr lang="fr-FR" sz="1400" dirty="0">
              <a:latin typeface="Vrinda" pitchFamily="2" charset="0"/>
              <a:cs typeface="Vrinda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Accessible sur Internet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2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Mise à jour de la feuille de temps (CRA)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20766" y="1412874"/>
            <a:ext cx="775176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dirty="0">
                <a:latin typeface="Vrinda" pitchFamily="2" charset="0"/>
              </a:rPr>
              <a:t>La feuille de temps est extrêmement </a:t>
            </a:r>
            <a:r>
              <a:rPr lang="fr-FR" sz="1200" dirty="0" smtClean="0">
                <a:latin typeface="Vrinda" pitchFamily="2" charset="0"/>
              </a:rPr>
              <a:t>importante </a:t>
            </a:r>
            <a:r>
              <a:rPr lang="fr-FR" sz="1200" dirty="0">
                <a:latin typeface="Vrinda" pitchFamily="2" charset="0"/>
              </a:rPr>
              <a:t>pour B-Hive, c’est </a:t>
            </a:r>
            <a:r>
              <a:rPr lang="fr-FR" sz="1200" dirty="0" smtClean="0">
                <a:latin typeface="Vrinda" pitchFamily="2" charset="0"/>
              </a:rPr>
              <a:t>elle </a:t>
            </a:r>
            <a:r>
              <a:rPr lang="fr-FR" sz="1200" dirty="0">
                <a:latin typeface="Vrinda" pitchFamily="2" charset="0"/>
              </a:rPr>
              <a:t>qui permet de donner l’avancement sur les demandes en </a:t>
            </a:r>
            <a:r>
              <a:rPr lang="fr-FR" sz="1200" dirty="0" smtClean="0">
                <a:latin typeface="Vrinda" pitchFamily="2" charset="0"/>
              </a:rPr>
              <a:t>cours. Selon </a:t>
            </a:r>
            <a:r>
              <a:rPr lang="fr-FR" sz="1200" dirty="0">
                <a:latin typeface="Vrinda" pitchFamily="2" charset="0"/>
              </a:rPr>
              <a:t>toute logique, seul les utilisateurs ne saisissent pas leur temps. Par contre le responsable d’agence ou le responsable d’application, </a:t>
            </a:r>
            <a:r>
              <a:rPr lang="fr-FR" sz="1200" dirty="0" smtClean="0">
                <a:latin typeface="Vrinda" pitchFamily="2" charset="0"/>
              </a:rPr>
              <a:t>saisissent </a:t>
            </a:r>
            <a:r>
              <a:rPr lang="fr-FR" sz="1200" dirty="0">
                <a:latin typeface="Vrinda" pitchFamily="2" charset="0"/>
              </a:rPr>
              <a:t>leur journée sur une tache de « Suivi de projet » ou autres … Et les développeurs, sur les incidents </a:t>
            </a:r>
            <a:r>
              <a:rPr lang="fr-FR" sz="1200" dirty="0" smtClean="0">
                <a:latin typeface="Vrinda" pitchFamily="2" charset="0"/>
              </a:rPr>
              <a:t>résolues </a:t>
            </a:r>
            <a:r>
              <a:rPr lang="fr-FR" sz="1200" dirty="0">
                <a:latin typeface="Vrinda" pitchFamily="2" charset="0"/>
              </a:rPr>
              <a:t>dans la journée.</a:t>
            </a:r>
          </a:p>
          <a:p>
            <a:endParaRPr lang="fr-FR" sz="1200" dirty="0">
              <a:latin typeface="Vrinda" pitchFamily="2" charset="0"/>
            </a:endParaRPr>
          </a:p>
          <a:p>
            <a:r>
              <a:rPr lang="fr-FR" sz="1200" dirty="0">
                <a:latin typeface="Vrinda" pitchFamily="2" charset="0"/>
                <a:sym typeface="Wingdings" pitchFamily="2" charset="2"/>
              </a:rPr>
              <a:t> Pour réaliser votre CRA, choisissez un </a:t>
            </a:r>
            <a:r>
              <a:rPr lang="fr-FR" sz="1200" b="1" dirty="0">
                <a:solidFill>
                  <a:schemeClr val="accent2"/>
                </a:solidFill>
                <a:latin typeface="Vrinda" pitchFamily="2" charset="0"/>
                <a:sym typeface="Wingdings" pitchFamily="2" charset="2"/>
              </a:rPr>
              <a:t>profile informatique</a:t>
            </a:r>
            <a:endParaRPr lang="fr-FR" sz="1200" b="1" dirty="0">
              <a:solidFill>
                <a:schemeClr val="accent2"/>
              </a:solidFill>
              <a:latin typeface="Vrinda" pitchFamily="2" charset="0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785786" y="4929199"/>
            <a:ext cx="7929618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  <a:latin typeface="Vrinda" pitchFamily="2" charset="0"/>
                <a:sym typeface="Wingdings" pitchFamily="2" charset="2"/>
              </a:rPr>
              <a:t>Remarque :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 	 Le CRA a une impact sur le diagramme de </a:t>
            </a:r>
            <a:r>
              <a:rPr lang="fr-FR" sz="1200" dirty="0" err="1">
                <a:latin typeface="Vrinda" pitchFamily="2" charset="0"/>
                <a:sym typeface="Wingdings" pitchFamily="2" charset="2"/>
              </a:rPr>
              <a:t>gantt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, le temps passé et la date de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début de 	résolution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dépendent du CRA</a:t>
            </a:r>
          </a:p>
          <a:p>
            <a:r>
              <a:rPr lang="fr-FR" sz="1200" dirty="0">
                <a:latin typeface="Vrinda" pitchFamily="2" charset="0"/>
                <a:sym typeface="Wingdings" pitchFamily="2" charset="2"/>
              </a:rPr>
              <a:t>	 Le CRA est aussi utilisé afin de connaître le « reste à faire » sur une demande mais aussi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	pour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un ensemble de demande regroupé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en «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 release » (ce sont des mini projets »)</a:t>
            </a:r>
          </a:p>
          <a:p>
            <a:r>
              <a:rPr lang="fr-FR" sz="1200" dirty="0">
                <a:latin typeface="Vrinda" pitchFamily="2" charset="0"/>
                <a:sym typeface="Wingdings" pitchFamily="2" charset="2"/>
              </a:rPr>
              <a:t>	 Vous avez aussi constaté que vous saisissez votre CRA sur les demandes incidents (ou sur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	une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tache Hors TMA) et non sur un code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projet ou un </a:t>
            </a:r>
            <a:r>
              <a:rPr lang="fr-FR" sz="1200" smtClean="0">
                <a:latin typeface="Vrinda" pitchFamily="2" charset="0"/>
                <a:sym typeface="Wingdings" pitchFamily="2" charset="2"/>
              </a:rPr>
              <a:t>code budget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/>
            </a:r>
            <a:br>
              <a:rPr lang="fr-FR" sz="1200" dirty="0">
                <a:latin typeface="Vrinda" pitchFamily="2" charset="0"/>
                <a:sym typeface="Wingdings" pitchFamily="2" charset="2"/>
              </a:rPr>
            </a:br>
            <a:r>
              <a:rPr lang="fr-FR" sz="1200" dirty="0">
                <a:latin typeface="Vrinda" pitchFamily="2" charset="0"/>
                <a:sym typeface="Wingdings" pitchFamily="2" charset="2"/>
              </a:rPr>
              <a:t>	Ces fiches sont automatiquement présentes dés qu’elles sont affectées à une personne.</a:t>
            </a:r>
            <a:br>
              <a:rPr lang="fr-FR" sz="1200" dirty="0">
                <a:latin typeface="Vrinda" pitchFamily="2" charset="0"/>
                <a:sym typeface="Wingdings" pitchFamily="2" charset="2"/>
              </a:rPr>
            </a:br>
            <a:r>
              <a:rPr lang="fr-FR" sz="1200" dirty="0">
                <a:latin typeface="Vrinda" pitchFamily="2" charset="0"/>
                <a:sym typeface="Wingdings" pitchFamily="2" charset="2"/>
              </a:rPr>
              <a:t>	Le développeur n’a donc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plus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besoin de se souvenir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des incidents qu’il a résolu dans la journée</a:t>
            </a:r>
            <a:endParaRPr lang="fr-FR" sz="1200" dirty="0">
              <a:latin typeface="Vrinda" pitchFamily="2" charset="0"/>
            </a:endParaRPr>
          </a:p>
        </p:txBody>
      </p:sp>
      <p:pic>
        <p:nvPicPr>
          <p:cNvPr id="18" name="Picture 2" descr="D:\B-HIVE\profile\profilD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32" y="1500174"/>
            <a:ext cx="457200" cy="457200"/>
          </a:xfrm>
          <a:prstGeom prst="rect">
            <a:avLst/>
          </a:prstGeom>
          <a:noFill/>
        </p:spPr>
      </p:pic>
      <p:pic>
        <p:nvPicPr>
          <p:cNvPr id="19" name="Picture 4" descr="D:\B-HIVE\profile\profilCol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1928802"/>
            <a:ext cx="457200" cy="457200"/>
          </a:xfrm>
          <a:prstGeom prst="rect">
            <a:avLst/>
          </a:prstGeom>
          <a:noFill/>
        </p:spPr>
      </p:pic>
      <p:pic>
        <p:nvPicPr>
          <p:cNvPr id="20" name="Picture 2" descr="D:\B-HIVE\profile\profilCP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8596" y="1500174"/>
            <a:ext cx="457200" cy="457200"/>
          </a:xfrm>
          <a:prstGeom prst="rect">
            <a:avLst/>
          </a:prstGeom>
          <a:noFill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285852" y="2633673"/>
            <a:ext cx="6505575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Flèche droite 20"/>
          <p:cNvSpPr/>
          <p:nvPr/>
        </p:nvSpPr>
        <p:spPr>
          <a:xfrm>
            <a:off x="1214414" y="300037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lèche droite 21"/>
          <p:cNvSpPr/>
          <p:nvPr/>
        </p:nvSpPr>
        <p:spPr>
          <a:xfrm rot="10800000">
            <a:off x="2000233" y="264318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lèche droite 22"/>
          <p:cNvSpPr/>
          <p:nvPr/>
        </p:nvSpPr>
        <p:spPr>
          <a:xfrm rot="12793563">
            <a:off x="5584132" y="413956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Innovant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4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Création d’un incident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928662" y="1628774"/>
            <a:ext cx="771530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dirty="0">
                <a:latin typeface="Vrinda" pitchFamily="2" charset="0"/>
              </a:rPr>
              <a:t>La création d’un incident peut se faire par tous les profiles, la seule condition étant d’appartenir à une équipe qui travaille sur une application</a:t>
            </a:r>
          </a:p>
          <a:p>
            <a:r>
              <a:rPr lang="fr-FR" sz="1200" dirty="0">
                <a:latin typeface="Vrinda" pitchFamily="2" charset="0"/>
              </a:rPr>
              <a:t>Dans l’environnement de test, vous pouvez utiliser le profile que vous voulez pour créer votre incident.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928662" y="4643446"/>
            <a:ext cx="55771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>
                <a:latin typeface="Vrinda" pitchFamily="2" charset="0"/>
              </a:rPr>
              <a:t>Une fois l’incident créé, le responsable de l’application reçoit un mail, </a:t>
            </a:r>
            <a:endParaRPr lang="fr-FR" sz="1200" dirty="0" smtClean="0">
              <a:latin typeface="Vrinda" pitchFamily="2" charset="0"/>
            </a:endParaRPr>
          </a:p>
          <a:p>
            <a:r>
              <a:rPr lang="fr-FR" sz="1200" dirty="0" smtClean="0">
                <a:latin typeface="Vrinda" pitchFamily="2" charset="0"/>
              </a:rPr>
              <a:t>toute </a:t>
            </a:r>
            <a:r>
              <a:rPr lang="fr-FR" sz="1200" dirty="0">
                <a:latin typeface="Vrinda" pitchFamily="2" charset="0"/>
              </a:rPr>
              <a:t>fois cette fonctionnalité n’est pas </a:t>
            </a:r>
            <a:r>
              <a:rPr lang="fr-FR" sz="1200" dirty="0" smtClean="0">
                <a:latin typeface="Vrinda" pitchFamily="2" charset="0"/>
              </a:rPr>
              <a:t>disponible dans </a:t>
            </a:r>
            <a:r>
              <a:rPr lang="fr-FR" sz="1200" dirty="0">
                <a:latin typeface="Vrinda" pitchFamily="2" charset="0"/>
              </a:rPr>
              <a:t>l’environnement de test</a:t>
            </a:r>
          </a:p>
        </p:txBody>
      </p:sp>
      <p:pic>
        <p:nvPicPr>
          <p:cNvPr id="16" name="Picture 2" descr="D:\B-HIVE\profile\profilD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32" y="1500174"/>
            <a:ext cx="457200" cy="457200"/>
          </a:xfrm>
          <a:prstGeom prst="rect">
            <a:avLst/>
          </a:prstGeom>
          <a:noFill/>
        </p:spPr>
      </p:pic>
      <p:pic>
        <p:nvPicPr>
          <p:cNvPr id="17" name="Picture 4" descr="D:\B-HIVE\profile\profilCol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1928802"/>
            <a:ext cx="457200" cy="457200"/>
          </a:xfrm>
          <a:prstGeom prst="rect">
            <a:avLst/>
          </a:prstGeom>
          <a:noFill/>
        </p:spPr>
      </p:pic>
      <p:pic>
        <p:nvPicPr>
          <p:cNvPr id="18" name="Picture 2" descr="D:\B-HIVE\profile\profilCP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8596" y="1500174"/>
            <a:ext cx="457200" cy="457200"/>
          </a:xfrm>
          <a:prstGeom prst="rect">
            <a:avLst/>
          </a:prstGeom>
          <a:noFill/>
        </p:spPr>
      </p:pic>
      <p:pic>
        <p:nvPicPr>
          <p:cNvPr id="19" name="Picture 3" descr="D:\B-HIVE\profile\profilUser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0" y="1928802"/>
            <a:ext cx="457200" cy="457200"/>
          </a:xfrm>
          <a:prstGeom prst="rect">
            <a:avLst/>
          </a:prstGeom>
          <a:noFill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247775" y="2309813"/>
            <a:ext cx="6648450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Flèche droite 23"/>
          <p:cNvSpPr/>
          <p:nvPr/>
        </p:nvSpPr>
        <p:spPr>
          <a:xfrm>
            <a:off x="1285852" y="2500306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Flèche droite 24"/>
          <p:cNvSpPr/>
          <p:nvPr/>
        </p:nvSpPr>
        <p:spPr>
          <a:xfrm rot="10800000">
            <a:off x="2143109" y="228599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Ergonomie conviviale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5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Affectation de l’incident par le responsable d’application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0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00430" y="4874679"/>
            <a:ext cx="3878272" cy="1840469"/>
          </a:xfrm>
          <a:prstGeom prst="rect">
            <a:avLst/>
          </a:prstGeom>
          <a:noFill/>
        </p:spPr>
      </p:pic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000100" y="1571612"/>
            <a:ext cx="731482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>
                <a:latin typeface="Vrinda" pitchFamily="2" charset="0"/>
              </a:rPr>
              <a:t>Lorsque l’incident ou la demande de travaux a été créé, le responsable de l’application reçoit un mail.</a:t>
            </a:r>
          </a:p>
          <a:p>
            <a:r>
              <a:rPr lang="fr-FR" sz="1200" dirty="0">
                <a:latin typeface="Vrinda" pitchFamily="2" charset="0"/>
              </a:rPr>
              <a:t>Il peut affecter cette incident à l’un de ses développeurs après avoir vérifier </a:t>
            </a:r>
            <a:endParaRPr lang="fr-FR" sz="1200" dirty="0" smtClean="0">
              <a:latin typeface="Vrinda" pitchFamily="2" charset="0"/>
            </a:endParaRPr>
          </a:p>
          <a:p>
            <a:r>
              <a:rPr lang="fr-FR" sz="1200" dirty="0" smtClean="0">
                <a:latin typeface="Vrinda" pitchFamily="2" charset="0"/>
              </a:rPr>
              <a:t>la </a:t>
            </a:r>
            <a:r>
              <a:rPr lang="fr-FR" sz="1200" dirty="0">
                <a:latin typeface="Vrinda" pitchFamily="2" charset="0"/>
              </a:rPr>
              <a:t>charge de travail de toute son équipe.</a:t>
            </a:r>
          </a:p>
          <a:p>
            <a:r>
              <a:rPr lang="fr-FR" sz="1200" dirty="0">
                <a:latin typeface="Vrinda" pitchFamily="2" charset="0"/>
              </a:rPr>
              <a:t>Pour cela, utilisez le </a:t>
            </a:r>
            <a:r>
              <a:rPr lang="fr-FR" sz="1200" b="1" dirty="0">
                <a:solidFill>
                  <a:schemeClr val="accent2"/>
                </a:solidFill>
                <a:latin typeface="Vrinda" pitchFamily="2" charset="0"/>
              </a:rPr>
              <a:t>profile du responsable d’application</a:t>
            </a:r>
          </a:p>
        </p:txBody>
      </p:sp>
      <p:pic>
        <p:nvPicPr>
          <p:cNvPr id="13" name="Picture 2" descr="D:\B-HIVE\profile\profilCP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1500174"/>
            <a:ext cx="457200" cy="457200"/>
          </a:xfrm>
          <a:prstGeom prst="rect">
            <a:avLst/>
          </a:prstGeom>
          <a:noFill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847850" y="2457459"/>
            <a:ext cx="544830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Flèche droite 15"/>
          <p:cNvSpPr/>
          <p:nvPr/>
        </p:nvSpPr>
        <p:spPr>
          <a:xfrm>
            <a:off x="1571604" y="3643314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 droite 16"/>
          <p:cNvSpPr/>
          <p:nvPr/>
        </p:nvSpPr>
        <p:spPr>
          <a:xfrm rot="10800000">
            <a:off x="3071802" y="2428867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Flèche droite 17"/>
          <p:cNvSpPr/>
          <p:nvPr/>
        </p:nvSpPr>
        <p:spPr>
          <a:xfrm rot="13128556">
            <a:off x="5576207" y="2916377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 droite 18"/>
          <p:cNvSpPr/>
          <p:nvPr/>
        </p:nvSpPr>
        <p:spPr>
          <a:xfrm rot="7436557">
            <a:off x="7177903" y="4167959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Interface simplifiée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20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Prise en charge de l’incident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042989" y="1412874"/>
            <a:ext cx="752954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dirty="0">
                <a:latin typeface="Vrinda" pitchFamily="2" charset="0"/>
              </a:rPr>
              <a:t>Selon votre méthodologie, le responsable de l’application peut aussi laisser ses développeurs prendre en charge les fiches selon l’activité qu’ils ont.</a:t>
            </a:r>
          </a:p>
          <a:p>
            <a:r>
              <a:rPr lang="fr-FR" sz="1200" dirty="0">
                <a:latin typeface="Vrinda" pitchFamily="2" charset="0"/>
              </a:rPr>
              <a:t>Avec le </a:t>
            </a:r>
            <a:r>
              <a:rPr lang="fr-FR" sz="1200" b="1" dirty="0">
                <a:solidFill>
                  <a:schemeClr val="accent2"/>
                </a:solidFill>
                <a:latin typeface="Vrinda" pitchFamily="2" charset="0"/>
              </a:rPr>
              <a:t>profile d’un développeur</a:t>
            </a:r>
            <a:r>
              <a:rPr lang="fr-FR" sz="1200" dirty="0">
                <a:latin typeface="Vrinda" pitchFamily="2" charset="0"/>
              </a:rPr>
              <a:t>, vous pouvez prendre en charge un incident</a:t>
            </a:r>
          </a:p>
        </p:txBody>
      </p:sp>
      <p:pic>
        <p:nvPicPr>
          <p:cNvPr id="12" name="Picture 4" descr="D:\B-HIVE\profile\profilCol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1462" y="1500174"/>
            <a:ext cx="457200" cy="457200"/>
          </a:xfrm>
          <a:prstGeom prst="rect">
            <a:avLst/>
          </a:prstGeom>
          <a:noFill/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47713" y="2714625"/>
            <a:ext cx="7648575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Flèche droite 14"/>
          <p:cNvSpPr/>
          <p:nvPr/>
        </p:nvSpPr>
        <p:spPr>
          <a:xfrm rot="10800000">
            <a:off x="2214546" y="2714619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Flèche droite 15"/>
          <p:cNvSpPr/>
          <p:nvPr/>
        </p:nvSpPr>
        <p:spPr>
          <a:xfrm rot="3247901">
            <a:off x="7755224" y="3330441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Flèche droite 16"/>
          <p:cNvSpPr/>
          <p:nvPr/>
        </p:nvSpPr>
        <p:spPr>
          <a:xfrm>
            <a:off x="357158" y="300037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Gain de temps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2" name="Image 11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3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Estimer rapidement la charge de l’incident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042988" y="1412875"/>
            <a:ext cx="691567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>
                <a:latin typeface="Vrinda" pitchFamily="2" charset="0"/>
              </a:rPr>
              <a:t>Selon votre méthodologie, le responsable de l’application ou le développeur peuvent réaliser </a:t>
            </a:r>
            <a:endParaRPr lang="fr-FR" sz="1200" dirty="0" smtClean="0">
              <a:latin typeface="Vrinda" pitchFamily="2" charset="0"/>
            </a:endParaRPr>
          </a:p>
          <a:p>
            <a:r>
              <a:rPr lang="fr-FR" sz="1200" dirty="0" smtClean="0">
                <a:latin typeface="Vrinda" pitchFamily="2" charset="0"/>
              </a:rPr>
              <a:t>une </a:t>
            </a:r>
            <a:r>
              <a:rPr lang="fr-FR" sz="1200" dirty="0">
                <a:latin typeface="Vrinda" pitchFamily="2" charset="0"/>
              </a:rPr>
              <a:t>estimation (rapide) de charge sur la résolution de </a:t>
            </a:r>
            <a:r>
              <a:rPr lang="fr-FR" sz="1200" dirty="0" smtClean="0">
                <a:latin typeface="Vrinda" pitchFamily="2" charset="0"/>
              </a:rPr>
              <a:t>l’incident. Cette </a:t>
            </a:r>
            <a:r>
              <a:rPr lang="fr-FR" sz="1200" dirty="0">
                <a:latin typeface="Vrinda" pitchFamily="2" charset="0"/>
              </a:rPr>
              <a:t>estimation peut se faire </a:t>
            </a:r>
            <a:endParaRPr lang="fr-FR" sz="1200" dirty="0" smtClean="0">
              <a:latin typeface="Vrinda" pitchFamily="2" charset="0"/>
            </a:endParaRPr>
          </a:p>
          <a:p>
            <a:r>
              <a:rPr lang="fr-FR" sz="1200" dirty="0" smtClean="0">
                <a:latin typeface="Vrinda" pitchFamily="2" charset="0"/>
              </a:rPr>
              <a:t>a </a:t>
            </a:r>
            <a:r>
              <a:rPr lang="fr-FR" sz="1200" dirty="0">
                <a:latin typeface="Vrinda" pitchFamily="2" charset="0"/>
              </a:rPr>
              <a:t>tout moment, avant ou après avoir affecté la demande.</a:t>
            </a:r>
          </a:p>
          <a:p>
            <a:r>
              <a:rPr lang="fr-FR" sz="1200" dirty="0">
                <a:latin typeface="Vrinda" pitchFamily="2" charset="0"/>
              </a:rPr>
              <a:t>Avec le </a:t>
            </a:r>
            <a:r>
              <a:rPr lang="fr-FR" sz="1200" b="1" dirty="0">
                <a:solidFill>
                  <a:schemeClr val="accent2"/>
                </a:solidFill>
                <a:latin typeface="Vrinda" pitchFamily="2" charset="0"/>
              </a:rPr>
              <a:t>profile du responsable d’application ou d’un développeur</a:t>
            </a:r>
            <a:r>
              <a:rPr lang="fr-FR" sz="1200" dirty="0">
                <a:latin typeface="Vrinda" pitchFamily="2" charset="0"/>
              </a:rPr>
              <a:t>, créez une </a:t>
            </a:r>
            <a:r>
              <a:rPr lang="fr-FR" sz="1200" dirty="0" smtClean="0">
                <a:latin typeface="Vrinda" pitchFamily="2" charset="0"/>
              </a:rPr>
              <a:t>estimation.</a:t>
            </a:r>
            <a:endParaRPr lang="fr-FR" sz="1200" dirty="0">
              <a:latin typeface="Vrinda" pitchFamily="2" charset="0"/>
            </a:endParaRPr>
          </a:p>
          <a:p>
            <a:endParaRPr lang="fr-FR" sz="1200" dirty="0">
              <a:latin typeface="Vrinda" pitchFamily="2" charset="0"/>
            </a:endParaRPr>
          </a:p>
          <a:p>
            <a:r>
              <a:rPr lang="fr-FR" sz="1200" dirty="0">
                <a:latin typeface="Vrinda" pitchFamily="2" charset="0"/>
                <a:sym typeface="Wingdings" pitchFamily="2" charset="2"/>
              </a:rPr>
              <a:t> Ouvrez l’incident.</a:t>
            </a:r>
            <a:endParaRPr lang="fr-FR" sz="1200" dirty="0">
              <a:latin typeface="Vrinda" pitchFamily="2" charset="0"/>
            </a:endParaRPr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971550" y="3500438"/>
            <a:ext cx="14970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>
                <a:latin typeface="Vrinda" pitchFamily="2" charset="0"/>
                <a:sym typeface="Wingdings" pitchFamily="2" charset="2"/>
              </a:rPr>
              <a:t> Créez votre estimation</a:t>
            </a:r>
            <a:endParaRPr lang="fr-FR" sz="1200" dirty="0">
              <a:latin typeface="Vrinda" pitchFamily="2" charset="0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857224" y="5357826"/>
            <a:ext cx="771845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  <a:latin typeface="Vrinda" pitchFamily="2" charset="0"/>
                <a:sym typeface="Wingdings" pitchFamily="2" charset="2"/>
              </a:rPr>
              <a:t>Remarque :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	 Selon le </a:t>
            </a:r>
            <a:r>
              <a:rPr lang="fr-FR" sz="1200" dirty="0" err="1">
                <a:latin typeface="Vrinda" pitchFamily="2" charset="0"/>
                <a:sym typeface="Wingdings" pitchFamily="2" charset="2"/>
              </a:rPr>
              <a:t>workflow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 mise en place, B-Hive peut modifier l’état de l’incident et/ou envoyer un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	mail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lors de chaque action sur l’estimation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et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par conséquent informer en temps réel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,</a:t>
            </a:r>
          </a:p>
          <a:p>
            <a:r>
              <a:rPr lang="fr-FR" sz="1200" dirty="0" smtClean="0">
                <a:latin typeface="Vrinda" pitchFamily="2" charset="0"/>
                <a:sym typeface="Wingdings" pitchFamily="2" charset="2"/>
              </a:rPr>
              <a:t>	le responsable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de l’application ou l’utilisateur sur l’avancement de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l’incident.</a:t>
            </a:r>
            <a:endParaRPr lang="fr-FR" sz="1200" dirty="0">
              <a:latin typeface="Vrinda" pitchFamily="2" charset="0"/>
              <a:sym typeface="Wingdings" pitchFamily="2" charset="2"/>
            </a:endParaRPr>
          </a:p>
          <a:p>
            <a:r>
              <a:rPr lang="fr-FR" sz="1200" dirty="0">
                <a:latin typeface="Vrinda" pitchFamily="2" charset="0"/>
                <a:sym typeface="Wingdings" pitchFamily="2" charset="2"/>
              </a:rPr>
              <a:t>	 Lorsque l’estimation a été créée, il a une impact automatique sur le diagramme de Gantt, </a:t>
            </a:r>
          </a:p>
          <a:p>
            <a:r>
              <a:rPr lang="fr-FR" sz="1200" dirty="0">
                <a:latin typeface="Vrinda" pitchFamily="2" charset="0"/>
                <a:sym typeface="Wingdings" pitchFamily="2" charset="2"/>
              </a:rPr>
              <a:t>	celui-ci prend automatiquement ce délai comme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référence.</a:t>
            </a:r>
            <a:endParaRPr lang="fr-FR" sz="1200" dirty="0">
              <a:latin typeface="Vrinda" pitchFamily="2" charset="0"/>
              <a:sym typeface="Wingdings" pitchFamily="2" charset="2"/>
            </a:endParaRPr>
          </a:p>
          <a:p>
            <a:r>
              <a:rPr lang="fr-FR" sz="1200" dirty="0">
                <a:latin typeface="Vrinda" pitchFamily="2" charset="0"/>
                <a:sym typeface="Wingdings" pitchFamily="2" charset="2"/>
              </a:rPr>
              <a:t>	 Selon votre méthodologie et le </a:t>
            </a:r>
            <a:r>
              <a:rPr lang="fr-FR" sz="1200" dirty="0" err="1">
                <a:latin typeface="Vrinda" pitchFamily="2" charset="0"/>
                <a:sym typeface="Wingdings" pitchFamily="2" charset="2"/>
              </a:rPr>
              <a:t>workflow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, le responsable d’application peut valider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l’estimation.</a:t>
            </a:r>
            <a:endParaRPr lang="fr-FR" sz="1200" dirty="0">
              <a:latin typeface="Vrinda" pitchFamily="2" charset="0"/>
            </a:endParaRPr>
          </a:p>
        </p:txBody>
      </p:sp>
      <p:pic>
        <p:nvPicPr>
          <p:cNvPr id="18" name="Picture 4" descr="D:\B-HIVE\profile\profilCol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1928802"/>
            <a:ext cx="457200" cy="457200"/>
          </a:xfrm>
          <a:prstGeom prst="rect">
            <a:avLst/>
          </a:prstGeom>
          <a:noFill/>
        </p:spPr>
      </p:pic>
      <p:pic>
        <p:nvPicPr>
          <p:cNvPr id="22" name="Picture 2" descr="D:\B-HIVE\profile\profilCP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1500174"/>
            <a:ext cx="457200" cy="457200"/>
          </a:xfrm>
          <a:prstGeom prst="rect">
            <a:avLst/>
          </a:prstGeom>
          <a:noFill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357290" y="2571744"/>
            <a:ext cx="6276975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Flèche droite 22"/>
          <p:cNvSpPr/>
          <p:nvPr/>
        </p:nvSpPr>
        <p:spPr>
          <a:xfrm rot="10800000">
            <a:off x="2857488" y="2571744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Flèche droite 23"/>
          <p:cNvSpPr/>
          <p:nvPr/>
        </p:nvSpPr>
        <p:spPr>
          <a:xfrm rot="1236824">
            <a:off x="6734572" y="3165553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Flèche droite 24"/>
          <p:cNvSpPr/>
          <p:nvPr/>
        </p:nvSpPr>
        <p:spPr>
          <a:xfrm>
            <a:off x="1142976" y="300037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Flèche droite 25"/>
          <p:cNvSpPr/>
          <p:nvPr/>
        </p:nvSpPr>
        <p:spPr>
          <a:xfrm>
            <a:off x="1357290" y="2786058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933575" y="3748101"/>
            <a:ext cx="527685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Flèche droite 26"/>
          <p:cNvSpPr/>
          <p:nvPr/>
        </p:nvSpPr>
        <p:spPr>
          <a:xfrm rot="1829850">
            <a:off x="2015081" y="4273575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Personnalisable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Analyse fonctionnelle et Devis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042988" y="1412875"/>
            <a:ext cx="760097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dirty="0">
                <a:latin typeface="Vrinda" pitchFamily="2" charset="0"/>
              </a:rPr>
              <a:t>Selon votre méthodologie, le responsable de l’application ou le développeur peuvent réaliser une analyse fonctionnelle et le devis plus précis que </a:t>
            </a:r>
            <a:r>
              <a:rPr lang="fr-FR" sz="1200" dirty="0" smtClean="0">
                <a:latin typeface="Vrinda" pitchFamily="2" charset="0"/>
              </a:rPr>
              <a:t>l’estimation. </a:t>
            </a:r>
          </a:p>
          <a:p>
            <a:r>
              <a:rPr lang="fr-FR" sz="1200" dirty="0" smtClean="0">
                <a:latin typeface="Vrinda" pitchFamily="2" charset="0"/>
              </a:rPr>
              <a:t>Avec </a:t>
            </a:r>
            <a:r>
              <a:rPr lang="fr-FR" sz="1200" dirty="0">
                <a:latin typeface="Vrinda" pitchFamily="2" charset="0"/>
              </a:rPr>
              <a:t>le </a:t>
            </a:r>
            <a:r>
              <a:rPr lang="fr-FR" sz="1200" b="1" dirty="0">
                <a:solidFill>
                  <a:schemeClr val="accent2"/>
                </a:solidFill>
                <a:latin typeface="Vrinda" pitchFamily="2" charset="0"/>
              </a:rPr>
              <a:t>profile du responsable d’application ou d’un développeur</a:t>
            </a:r>
            <a:r>
              <a:rPr lang="fr-FR" sz="1200" dirty="0">
                <a:latin typeface="Vrinda" pitchFamily="2" charset="0"/>
              </a:rPr>
              <a:t>, créez votre analyse fonctionnelle, puis votre </a:t>
            </a:r>
            <a:r>
              <a:rPr lang="fr-FR" sz="1200" dirty="0" smtClean="0">
                <a:latin typeface="Vrinda" pitchFamily="2" charset="0"/>
              </a:rPr>
              <a:t>devis.</a:t>
            </a:r>
          </a:p>
          <a:p>
            <a:endParaRPr lang="fr-FR" sz="1200" dirty="0">
              <a:latin typeface="Vrinda" pitchFamily="2" charset="0"/>
            </a:endParaRPr>
          </a:p>
          <a:p>
            <a:r>
              <a:rPr lang="fr-FR" sz="1200" dirty="0">
                <a:latin typeface="Vrinda" pitchFamily="2" charset="0"/>
                <a:sym typeface="Wingdings" pitchFamily="2" charset="2"/>
              </a:rPr>
              <a:t> Ouvrez l’incident. Puis l’onglet « analyse fonctionnelle »</a:t>
            </a:r>
            <a:endParaRPr lang="fr-FR" sz="1200" dirty="0">
              <a:latin typeface="Vrinda" pitchFamily="2" charset="0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971550" y="3725866"/>
            <a:ext cx="16525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>
                <a:latin typeface="Vrinda" pitchFamily="2" charset="0"/>
                <a:sym typeface="Wingdings" pitchFamily="2" charset="2"/>
              </a:rPr>
              <a:t> Ensuite créez votre devis</a:t>
            </a:r>
            <a:endParaRPr lang="fr-FR" sz="1200" dirty="0">
              <a:latin typeface="Vrinda" pitchFamily="2" charset="0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785786" y="4960822"/>
            <a:ext cx="6999314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  <a:latin typeface="Vrinda" pitchFamily="2" charset="0"/>
                <a:sym typeface="Wingdings" pitchFamily="2" charset="2"/>
              </a:rPr>
              <a:t>Remarque :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	 Selon le </a:t>
            </a:r>
            <a:r>
              <a:rPr lang="fr-FR" sz="1200" dirty="0" err="1">
                <a:latin typeface="Vrinda" pitchFamily="2" charset="0"/>
                <a:sym typeface="Wingdings" pitchFamily="2" charset="2"/>
              </a:rPr>
              <a:t>workflow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 mise en place, B-Hive peut modifier l’état de l’incident et/ou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	envoyer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un mail lors de chaque action 	sur l’analyse fonctionnelle ou sur le devis et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	par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conséquent informer en temps réel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,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	le responsable de l’application ou l’utilisateur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	sur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l’avancement de l’incident</a:t>
            </a:r>
          </a:p>
          <a:p>
            <a:r>
              <a:rPr lang="fr-FR" sz="1200" dirty="0">
                <a:latin typeface="Vrinda" pitchFamily="2" charset="0"/>
                <a:sym typeface="Wingdings" pitchFamily="2" charset="2"/>
              </a:rPr>
              <a:t>	 Lorsque le devis a été créé, il a une impact automatique sur le diagramme de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	Gantt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,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celui-ci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prend automatiquement ce délai comme référence</a:t>
            </a:r>
          </a:p>
          <a:p>
            <a:r>
              <a:rPr lang="fr-FR" sz="1200" dirty="0">
                <a:latin typeface="Vrinda" pitchFamily="2" charset="0"/>
                <a:sym typeface="Wingdings" pitchFamily="2" charset="2"/>
              </a:rPr>
              <a:t>	 Selon votre méthodologie et le </a:t>
            </a:r>
            <a:r>
              <a:rPr lang="fr-FR" sz="1200" dirty="0" err="1">
                <a:latin typeface="Vrinda" pitchFamily="2" charset="0"/>
                <a:sym typeface="Wingdings" pitchFamily="2" charset="2"/>
              </a:rPr>
              <a:t>workflow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, le responsable d’application peut valider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	l’analyse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ou le devis réalisé</a:t>
            </a:r>
            <a:endParaRPr lang="fr-FR" sz="1200" dirty="0">
              <a:latin typeface="Vrinda" pitchFamily="2" charset="0"/>
            </a:endParaRPr>
          </a:p>
          <a:p>
            <a:endParaRPr lang="fr-FR" sz="1200" dirty="0">
              <a:latin typeface="Vrinda" pitchFamily="2" charset="0"/>
            </a:endParaRPr>
          </a:p>
        </p:txBody>
      </p:sp>
      <p:pic>
        <p:nvPicPr>
          <p:cNvPr id="19" name="Picture 4" descr="D:\B-HIVE\profile\profilCol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1928802"/>
            <a:ext cx="457200" cy="457200"/>
          </a:xfrm>
          <a:prstGeom prst="rect">
            <a:avLst/>
          </a:prstGeom>
          <a:noFill/>
        </p:spPr>
      </p:pic>
      <p:pic>
        <p:nvPicPr>
          <p:cNvPr id="20" name="Picture 2" descr="D:\B-HIVE\profile\profilCP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1500174"/>
            <a:ext cx="457200" cy="457200"/>
          </a:xfrm>
          <a:prstGeom prst="rect">
            <a:avLst/>
          </a:prstGeom>
          <a:noFill/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643042" y="2571744"/>
            <a:ext cx="556260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Flèche droite 20"/>
          <p:cNvSpPr/>
          <p:nvPr/>
        </p:nvSpPr>
        <p:spPr>
          <a:xfrm rot="12357158">
            <a:off x="3286116" y="2786057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433513" y="4062423"/>
            <a:ext cx="6276975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Flèche droite 21"/>
          <p:cNvSpPr/>
          <p:nvPr/>
        </p:nvSpPr>
        <p:spPr>
          <a:xfrm rot="12357158">
            <a:off x="3875699" y="4314885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Ecologique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Développement et Scénario de test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1" name="Picture 4" descr="D:\B-HIVE\profile\profilCol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1928802"/>
            <a:ext cx="457200" cy="457200"/>
          </a:xfrm>
          <a:prstGeom prst="rect">
            <a:avLst/>
          </a:prstGeom>
          <a:noFill/>
        </p:spPr>
      </p:pic>
      <p:pic>
        <p:nvPicPr>
          <p:cNvPr id="12" name="Picture 2" descr="D:\B-HIVE\profile\profilCP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1500174"/>
            <a:ext cx="457200" cy="457200"/>
          </a:xfrm>
          <a:prstGeom prst="rect">
            <a:avLst/>
          </a:prstGeom>
          <a:noFill/>
        </p:spPr>
      </p:pic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042988" y="1412875"/>
            <a:ext cx="577914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>
                <a:latin typeface="Vrinda" pitchFamily="2" charset="0"/>
              </a:rPr>
              <a:t>B-Hive permet la saisie de l’analyse technique et d’un (petit) scénario de test.</a:t>
            </a:r>
          </a:p>
          <a:p>
            <a:r>
              <a:rPr lang="fr-FR" sz="1200" dirty="0">
                <a:latin typeface="Vrinda" pitchFamily="2" charset="0"/>
              </a:rPr>
              <a:t>Ces </a:t>
            </a:r>
            <a:r>
              <a:rPr lang="fr-FR" sz="1200" dirty="0" smtClean="0">
                <a:latin typeface="Vrinda" pitchFamily="2" charset="0"/>
              </a:rPr>
              <a:t>informations </a:t>
            </a:r>
            <a:r>
              <a:rPr lang="fr-FR" sz="1200" dirty="0">
                <a:latin typeface="Vrinda" pitchFamily="2" charset="0"/>
              </a:rPr>
              <a:t>permettent de centraliser toutes les informations dans un PDF </a:t>
            </a:r>
            <a:endParaRPr lang="fr-FR" sz="1200" dirty="0" smtClean="0">
              <a:latin typeface="Vrinda" pitchFamily="2" charset="0"/>
            </a:endParaRPr>
          </a:p>
          <a:p>
            <a:r>
              <a:rPr lang="fr-FR" sz="1200" dirty="0" smtClean="0">
                <a:latin typeface="Vrinda" pitchFamily="2" charset="0"/>
              </a:rPr>
              <a:t>qui </a:t>
            </a:r>
            <a:r>
              <a:rPr lang="fr-FR" sz="1200" dirty="0">
                <a:latin typeface="Vrinda" pitchFamily="2" charset="0"/>
              </a:rPr>
              <a:t>constitueront le dossier d’analyse de </a:t>
            </a:r>
            <a:r>
              <a:rPr lang="fr-FR" sz="1200" dirty="0" smtClean="0">
                <a:latin typeface="Vrinda" pitchFamily="2" charset="0"/>
              </a:rPr>
              <a:t>l’incident. </a:t>
            </a:r>
          </a:p>
          <a:p>
            <a:r>
              <a:rPr lang="fr-FR" sz="1200" dirty="0" smtClean="0">
                <a:latin typeface="Vrinda" pitchFamily="2" charset="0"/>
              </a:rPr>
              <a:t>Avec </a:t>
            </a:r>
            <a:r>
              <a:rPr lang="fr-FR" sz="1200" dirty="0">
                <a:latin typeface="Vrinda" pitchFamily="2" charset="0"/>
              </a:rPr>
              <a:t>le </a:t>
            </a:r>
            <a:r>
              <a:rPr lang="fr-FR" sz="1200" b="1" dirty="0">
                <a:solidFill>
                  <a:schemeClr val="accent2"/>
                </a:solidFill>
                <a:latin typeface="Vrinda" pitchFamily="2" charset="0"/>
              </a:rPr>
              <a:t>profile du responsable d’application ou d’un développeur</a:t>
            </a:r>
            <a:r>
              <a:rPr lang="fr-FR" sz="1200" dirty="0">
                <a:latin typeface="Vrinda" pitchFamily="2" charset="0"/>
              </a:rPr>
              <a:t>, </a:t>
            </a:r>
            <a:endParaRPr lang="fr-FR" sz="1200" dirty="0" smtClean="0">
              <a:latin typeface="Vrinda" pitchFamily="2" charset="0"/>
            </a:endParaRPr>
          </a:p>
          <a:p>
            <a:r>
              <a:rPr lang="fr-FR" sz="1200" dirty="0" smtClean="0">
                <a:latin typeface="Vrinda" pitchFamily="2" charset="0"/>
              </a:rPr>
              <a:t>créez </a:t>
            </a:r>
            <a:r>
              <a:rPr lang="fr-FR" sz="1200" dirty="0">
                <a:latin typeface="Vrinda" pitchFamily="2" charset="0"/>
              </a:rPr>
              <a:t>votre analyse technique, puis votre scénario de test</a:t>
            </a:r>
          </a:p>
          <a:p>
            <a:r>
              <a:rPr lang="fr-FR" sz="1200" dirty="0">
                <a:latin typeface="Vrinda" pitchFamily="2" charset="0"/>
                <a:sym typeface="Wingdings" pitchFamily="2" charset="2"/>
              </a:rPr>
              <a:t> Ouvrez l’incident. Puis l’onglet « analyse technique »</a:t>
            </a:r>
            <a:endParaRPr lang="fr-FR" sz="1200" dirty="0">
              <a:latin typeface="Vrinda" pitchFamily="2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971550" y="3654428"/>
            <a:ext cx="22050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>
                <a:latin typeface="Vrinda" pitchFamily="2" charset="0"/>
                <a:sym typeface="Wingdings" pitchFamily="2" charset="2"/>
              </a:rPr>
              <a:t> Ensuite créez votre scénario de test</a:t>
            </a:r>
            <a:endParaRPr lang="fr-FR" sz="1200" dirty="0">
              <a:latin typeface="Vrinda" pitchFamily="2" charset="0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1000101" y="5000636"/>
            <a:ext cx="757242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  <a:latin typeface="Vrinda" pitchFamily="2" charset="0"/>
                <a:sym typeface="Wingdings" pitchFamily="2" charset="2"/>
              </a:rPr>
              <a:t>Remarque :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 	 Selon le </a:t>
            </a:r>
            <a:r>
              <a:rPr lang="fr-FR" sz="1200" dirty="0" err="1">
                <a:latin typeface="Vrinda" pitchFamily="2" charset="0"/>
                <a:sym typeface="Wingdings" pitchFamily="2" charset="2"/>
              </a:rPr>
              <a:t>workflow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 mise en place, B-Hive peut modifier l’état de l’incident et/ou envoyer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	un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mail lors de chaque action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sur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l’analyse technique ou sur le scénario de test et par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	conséquent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informer en temps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réel, le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responsable de l’application ou l’utilisateur sur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	l’avancement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de l’incident</a:t>
            </a:r>
          </a:p>
          <a:p>
            <a:r>
              <a:rPr lang="fr-FR" sz="1200" dirty="0">
                <a:latin typeface="Vrinda" pitchFamily="2" charset="0"/>
                <a:sym typeface="Wingdings" pitchFamily="2" charset="2"/>
              </a:rPr>
              <a:t>	 Il est également possible, lors de la soumission de test par le développeur, de mettre la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	fiche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en « Test croisé » et ainsi,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confier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l’incident à une autre personne qui va se charger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	de </a:t>
            </a:r>
            <a:r>
              <a:rPr lang="fr-FR" sz="1200" dirty="0" err="1">
                <a:latin typeface="Vrinda" pitchFamily="2" charset="0"/>
                <a:sym typeface="Wingdings" pitchFamily="2" charset="2"/>
              </a:rPr>
              <a:t>re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-tester</a:t>
            </a:r>
          </a:p>
          <a:p>
            <a:r>
              <a:rPr lang="fr-FR" sz="1200" dirty="0">
                <a:latin typeface="Vrinda" pitchFamily="2" charset="0"/>
                <a:sym typeface="Wingdings" pitchFamily="2" charset="2"/>
              </a:rPr>
              <a:t>	 Selon votre méthodologie et le </a:t>
            </a:r>
            <a:r>
              <a:rPr lang="fr-FR" sz="1200" dirty="0" err="1">
                <a:latin typeface="Vrinda" pitchFamily="2" charset="0"/>
                <a:sym typeface="Wingdings" pitchFamily="2" charset="2"/>
              </a:rPr>
              <a:t>workflow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, le responsable d’application peut valider l’analyse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	technique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ou les tests</a:t>
            </a:r>
            <a:endParaRPr lang="fr-FR" sz="1200" dirty="0">
              <a:latin typeface="Vrinda" pitchFamily="2" charset="0"/>
            </a:endParaRPr>
          </a:p>
          <a:p>
            <a:endParaRPr lang="fr-FR" sz="1200" dirty="0">
              <a:latin typeface="Vrinda" pitchFamily="2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04950" y="2571744"/>
            <a:ext cx="61341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Flèche droite 19"/>
          <p:cNvSpPr/>
          <p:nvPr/>
        </p:nvSpPr>
        <p:spPr>
          <a:xfrm rot="12357158">
            <a:off x="4553921" y="2786057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176338" y="3929066"/>
            <a:ext cx="679132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Flèche droite 20"/>
          <p:cNvSpPr/>
          <p:nvPr/>
        </p:nvSpPr>
        <p:spPr>
          <a:xfrm rot="12357158">
            <a:off x="6161715" y="4243447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Evolutif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2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Analyse des risques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pic>
        <p:nvPicPr>
          <p:cNvPr id="10" name="Picture 2" descr="D:\B-HIVE\profile\profilD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32" y="1500174"/>
            <a:ext cx="457200" cy="457200"/>
          </a:xfrm>
          <a:prstGeom prst="rect">
            <a:avLst/>
          </a:prstGeom>
          <a:noFill/>
        </p:spPr>
      </p:pic>
      <p:pic>
        <p:nvPicPr>
          <p:cNvPr id="17" name="Picture 2" descr="D:\B-HIVE\profile\profilCP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1500174"/>
            <a:ext cx="457200" cy="457200"/>
          </a:xfrm>
          <a:prstGeom prst="rect">
            <a:avLst/>
          </a:prstGeom>
          <a:noFill/>
        </p:spPr>
      </p:pic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1042988" y="1412875"/>
            <a:ext cx="764504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>
                <a:latin typeface="Vrinda" pitchFamily="2" charset="0"/>
              </a:rPr>
              <a:t>B-Hive permet </a:t>
            </a:r>
            <a:r>
              <a:rPr lang="fr-FR" sz="1200" dirty="0" smtClean="0">
                <a:latin typeface="Vrinda" pitchFamily="2" charset="0"/>
              </a:rPr>
              <a:t>de mémoriser tous les risques pouvant affecter les délais de la demande ou de la livraison.</a:t>
            </a:r>
          </a:p>
          <a:p>
            <a:r>
              <a:rPr lang="fr-FR" sz="1200" dirty="0" smtClean="0">
                <a:latin typeface="Vrinda" pitchFamily="2" charset="0"/>
              </a:rPr>
              <a:t>Ces analyses des risques sont ensuite afficher dans le suivi journalier de la livraison.</a:t>
            </a:r>
          </a:p>
          <a:p>
            <a:r>
              <a:rPr lang="fr-FR" sz="1200" dirty="0" smtClean="0">
                <a:latin typeface="Vrinda" pitchFamily="2" charset="0"/>
              </a:rPr>
              <a:t>Avec </a:t>
            </a:r>
            <a:r>
              <a:rPr lang="fr-FR" sz="1200" dirty="0">
                <a:latin typeface="Vrinda" pitchFamily="2" charset="0"/>
              </a:rPr>
              <a:t>le </a:t>
            </a:r>
            <a:r>
              <a:rPr lang="fr-FR" sz="1200" b="1" dirty="0">
                <a:solidFill>
                  <a:schemeClr val="accent2"/>
                </a:solidFill>
                <a:latin typeface="Vrinda" pitchFamily="2" charset="0"/>
              </a:rPr>
              <a:t>profile du responsable </a:t>
            </a:r>
            <a:r>
              <a:rPr lang="fr-FR" sz="1200" b="1" dirty="0" smtClean="0">
                <a:solidFill>
                  <a:schemeClr val="accent2"/>
                </a:solidFill>
                <a:latin typeface="Vrinda" pitchFamily="2" charset="0"/>
              </a:rPr>
              <a:t>d’application</a:t>
            </a:r>
            <a:r>
              <a:rPr lang="fr-FR" sz="1200" dirty="0" smtClean="0">
                <a:latin typeface="Vrinda" pitchFamily="2" charset="0"/>
              </a:rPr>
              <a:t>,  créez </a:t>
            </a:r>
            <a:r>
              <a:rPr lang="fr-FR" sz="1200" dirty="0">
                <a:latin typeface="Vrinda" pitchFamily="2" charset="0"/>
              </a:rPr>
              <a:t>votre analyse </a:t>
            </a:r>
            <a:r>
              <a:rPr lang="fr-FR" sz="1200" dirty="0" smtClean="0">
                <a:latin typeface="Vrinda" pitchFamily="2" charset="0"/>
              </a:rPr>
              <a:t>des risques</a:t>
            </a:r>
            <a:endParaRPr lang="fr-FR" sz="1200" dirty="0">
              <a:latin typeface="Vrinda" pitchFamily="2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00100" y="3714752"/>
            <a:ext cx="719137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000100" y="2285992"/>
            <a:ext cx="7391416" cy="1061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Flèche droite 18"/>
          <p:cNvSpPr/>
          <p:nvPr/>
        </p:nvSpPr>
        <p:spPr>
          <a:xfrm>
            <a:off x="1285852" y="3071810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lèche droite 19"/>
          <p:cNvSpPr/>
          <p:nvPr/>
        </p:nvSpPr>
        <p:spPr>
          <a:xfrm rot="10800000">
            <a:off x="3000365" y="228599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lèche droite 20"/>
          <p:cNvSpPr/>
          <p:nvPr/>
        </p:nvSpPr>
        <p:spPr>
          <a:xfrm rot="19237541">
            <a:off x="7504076" y="330020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467801" y="3896017"/>
            <a:ext cx="500063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Proposer votre module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4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Consulter les prestations en temps réel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7290" y="2285992"/>
            <a:ext cx="6286512" cy="1570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2" descr="D:\B-HIVE\profile\profilDI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-32" y="1500174"/>
            <a:ext cx="457200" cy="457200"/>
          </a:xfrm>
          <a:prstGeom prst="rect">
            <a:avLst/>
          </a:prstGeom>
          <a:noFill/>
        </p:spPr>
      </p:pic>
      <p:pic>
        <p:nvPicPr>
          <p:cNvPr id="15" name="Picture 2" descr="D:\B-HIVE\profile\profilCP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8596" y="1500174"/>
            <a:ext cx="457200" cy="457200"/>
          </a:xfrm>
          <a:prstGeom prst="rect">
            <a:avLst/>
          </a:prstGeom>
          <a:noFill/>
        </p:spPr>
      </p:pic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042988" y="1496785"/>
            <a:ext cx="77203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 smtClean="0">
                <a:latin typeface="Vrinda" pitchFamily="2" charset="0"/>
              </a:rPr>
              <a:t>B-Hive analyse automatiquement les CRA afin d’afficher les prestations par collaborateurs ou par prestataires.</a:t>
            </a:r>
          </a:p>
          <a:p>
            <a:r>
              <a:rPr lang="fr-FR" sz="1200" dirty="0" smtClean="0">
                <a:latin typeface="Vrinda" pitchFamily="2" charset="0"/>
              </a:rPr>
              <a:t>Avec </a:t>
            </a:r>
            <a:r>
              <a:rPr lang="fr-FR" sz="1200" dirty="0">
                <a:latin typeface="Vrinda" pitchFamily="2" charset="0"/>
              </a:rPr>
              <a:t>le </a:t>
            </a:r>
            <a:r>
              <a:rPr lang="fr-FR" sz="1200" b="1" dirty="0">
                <a:solidFill>
                  <a:schemeClr val="accent2"/>
                </a:solidFill>
                <a:latin typeface="Vrinda" pitchFamily="2" charset="0"/>
              </a:rPr>
              <a:t>profile du responsable </a:t>
            </a:r>
            <a:r>
              <a:rPr lang="fr-FR" sz="1200" b="1" dirty="0" smtClean="0">
                <a:solidFill>
                  <a:schemeClr val="accent2"/>
                </a:solidFill>
                <a:latin typeface="Vrinda" pitchFamily="2" charset="0"/>
              </a:rPr>
              <a:t>de service</a:t>
            </a:r>
            <a:r>
              <a:rPr lang="fr-FR" sz="1200" dirty="0" smtClean="0">
                <a:latin typeface="Vrinda" pitchFamily="2" charset="0"/>
              </a:rPr>
              <a:t>,  consultez les prestations.</a:t>
            </a:r>
            <a:endParaRPr lang="fr-FR" sz="1200" dirty="0">
              <a:latin typeface="Vrinda" pitchFamily="2" charset="0"/>
            </a:endParaRPr>
          </a:p>
        </p:txBody>
      </p:sp>
      <p:sp>
        <p:nvSpPr>
          <p:cNvPr id="17" name="Flèche droite 16"/>
          <p:cNvSpPr/>
          <p:nvPr/>
        </p:nvSpPr>
        <p:spPr>
          <a:xfrm>
            <a:off x="1285852" y="3429000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 droite 17"/>
          <p:cNvSpPr/>
          <p:nvPr/>
        </p:nvSpPr>
        <p:spPr>
          <a:xfrm rot="10800000">
            <a:off x="3286117" y="228599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Simplicité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4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Consulter le suivi d’avancement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2" name="Picture 2" descr="D:\B-HIVE\profile\profilD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32" y="1500174"/>
            <a:ext cx="457200" cy="457200"/>
          </a:xfrm>
          <a:prstGeom prst="rect">
            <a:avLst/>
          </a:prstGeom>
          <a:noFill/>
        </p:spPr>
      </p:pic>
      <p:pic>
        <p:nvPicPr>
          <p:cNvPr id="15" name="Picture 2" descr="D:\B-HIVE\profile\profilCP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1500174"/>
            <a:ext cx="457200" cy="457200"/>
          </a:xfrm>
          <a:prstGeom prst="rect">
            <a:avLst/>
          </a:prstGeom>
          <a:noFill/>
        </p:spPr>
      </p:pic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042988" y="1496785"/>
            <a:ext cx="56076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 smtClean="0">
                <a:latin typeface="Vrinda" pitchFamily="2" charset="0"/>
              </a:rPr>
              <a:t>B-Hive synthétise en temps réel le suivi d’avancement.</a:t>
            </a:r>
          </a:p>
          <a:p>
            <a:r>
              <a:rPr lang="fr-FR" sz="1200" dirty="0" smtClean="0">
                <a:latin typeface="Vrinda" pitchFamily="2" charset="0"/>
              </a:rPr>
              <a:t>Avec </a:t>
            </a:r>
            <a:r>
              <a:rPr lang="fr-FR" sz="1200" dirty="0">
                <a:latin typeface="Vrinda" pitchFamily="2" charset="0"/>
              </a:rPr>
              <a:t>le </a:t>
            </a:r>
            <a:r>
              <a:rPr lang="fr-FR" sz="1200" b="1" dirty="0">
                <a:solidFill>
                  <a:schemeClr val="accent2"/>
                </a:solidFill>
                <a:latin typeface="Vrinda" pitchFamily="2" charset="0"/>
              </a:rPr>
              <a:t>profile du responsable </a:t>
            </a:r>
            <a:r>
              <a:rPr lang="fr-FR" sz="1200" b="1" dirty="0" smtClean="0">
                <a:solidFill>
                  <a:schemeClr val="accent2"/>
                </a:solidFill>
                <a:latin typeface="Vrinda" pitchFamily="2" charset="0"/>
              </a:rPr>
              <a:t>d’application </a:t>
            </a:r>
            <a:r>
              <a:rPr lang="fr-FR" sz="1200" dirty="0" smtClean="0">
                <a:latin typeface="Vrinda" pitchFamily="2" charset="0"/>
              </a:rPr>
              <a:t>,  consultez le suivi d’avancement.</a:t>
            </a:r>
            <a:endParaRPr lang="fr-FR" sz="1200" dirty="0">
              <a:latin typeface="Vrinda" pitchFamily="2" charset="0"/>
            </a:endParaRPr>
          </a:p>
        </p:txBody>
      </p:sp>
      <p:pic>
        <p:nvPicPr>
          <p:cNvPr id="21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129357" y="5557861"/>
            <a:ext cx="1228725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3214679" y="5925941"/>
            <a:ext cx="350046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FR" sz="1200" dirty="0" smtClean="0">
                <a:latin typeface="Vrinda" pitchFamily="2" charset="0"/>
              </a:rPr>
              <a:t>Selon votre paramétrage, B-Hive peut envoyer le suivi d’avancement tous les matins aux utilisateurs sélectionnés</a:t>
            </a:r>
            <a:endParaRPr lang="fr-FR" sz="1200" dirty="0">
              <a:latin typeface="Vrinda" pitchFamily="2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57158" y="2214554"/>
            <a:ext cx="8358214" cy="3071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Flèche droite 16"/>
          <p:cNvSpPr/>
          <p:nvPr/>
        </p:nvSpPr>
        <p:spPr>
          <a:xfrm>
            <a:off x="714348" y="5000636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 droite 17"/>
          <p:cNvSpPr/>
          <p:nvPr/>
        </p:nvSpPr>
        <p:spPr>
          <a:xfrm rot="10800000">
            <a:off x="2500298" y="2214554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 droite 18"/>
          <p:cNvSpPr/>
          <p:nvPr/>
        </p:nvSpPr>
        <p:spPr>
          <a:xfrm>
            <a:off x="2143108" y="2714620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lèche droite 19"/>
          <p:cNvSpPr/>
          <p:nvPr/>
        </p:nvSpPr>
        <p:spPr>
          <a:xfrm>
            <a:off x="5214942" y="2714620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Simplicité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4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Consulter le suivi d’avancement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2" name="Picture 2" descr="D:\B-HIVE\profile\profilD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32" y="1500174"/>
            <a:ext cx="457200" cy="457200"/>
          </a:xfrm>
          <a:prstGeom prst="rect">
            <a:avLst/>
          </a:prstGeom>
          <a:noFill/>
        </p:spPr>
      </p:pic>
      <p:pic>
        <p:nvPicPr>
          <p:cNvPr id="15" name="Picture 2" descr="D:\B-HIVE\profile\profilCP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1500174"/>
            <a:ext cx="457200" cy="457200"/>
          </a:xfrm>
          <a:prstGeom prst="rect">
            <a:avLst/>
          </a:prstGeom>
          <a:noFill/>
        </p:spPr>
      </p:pic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042988" y="1496785"/>
            <a:ext cx="56076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 smtClean="0">
                <a:latin typeface="Vrinda" pitchFamily="2" charset="0"/>
              </a:rPr>
              <a:t>B-Hive synthétise en temps réel le suivi d’avancement.</a:t>
            </a:r>
          </a:p>
          <a:p>
            <a:r>
              <a:rPr lang="fr-FR" sz="1200" dirty="0" smtClean="0">
                <a:latin typeface="Vrinda" pitchFamily="2" charset="0"/>
              </a:rPr>
              <a:t>Avec </a:t>
            </a:r>
            <a:r>
              <a:rPr lang="fr-FR" sz="1200" dirty="0">
                <a:latin typeface="Vrinda" pitchFamily="2" charset="0"/>
              </a:rPr>
              <a:t>le </a:t>
            </a:r>
            <a:r>
              <a:rPr lang="fr-FR" sz="1200" b="1" dirty="0">
                <a:solidFill>
                  <a:schemeClr val="accent2"/>
                </a:solidFill>
                <a:latin typeface="Vrinda" pitchFamily="2" charset="0"/>
              </a:rPr>
              <a:t>profile du responsable </a:t>
            </a:r>
            <a:r>
              <a:rPr lang="fr-FR" sz="1200" b="1" dirty="0" smtClean="0">
                <a:solidFill>
                  <a:schemeClr val="accent2"/>
                </a:solidFill>
                <a:latin typeface="Vrinda" pitchFamily="2" charset="0"/>
              </a:rPr>
              <a:t>d’application </a:t>
            </a:r>
            <a:r>
              <a:rPr lang="fr-FR" sz="1200" dirty="0" smtClean="0">
                <a:latin typeface="Vrinda" pitchFamily="2" charset="0"/>
              </a:rPr>
              <a:t>,  consultez le suivi d’avancement.</a:t>
            </a:r>
            <a:endParaRPr lang="fr-FR" sz="1200" dirty="0">
              <a:latin typeface="Vrinda" pitchFamily="2" charset="0"/>
            </a:endParaRPr>
          </a:p>
        </p:txBody>
      </p:sp>
      <p:pic>
        <p:nvPicPr>
          <p:cNvPr id="21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129357" y="5557861"/>
            <a:ext cx="1228725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3214679" y="5925941"/>
            <a:ext cx="350046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FR" sz="1200" dirty="0" smtClean="0">
                <a:latin typeface="Vrinda" pitchFamily="2" charset="0"/>
              </a:rPr>
              <a:t>Selon votre paramétrage, B-Hive peut envoyer le suivi d’avancement tous les matins aux utilisateurs sélectionnés</a:t>
            </a:r>
            <a:endParaRPr lang="fr-FR" sz="1200" dirty="0">
              <a:latin typeface="Vrinda" pitchFamily="2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720" y="2357430"/>
            <a:ext cx="8429652" cy="1366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57158" y="3929066"/>
            <a:ext cx="3529009" cy="1533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643438" y="3929066"/>
            <a:ext cx="2714644" cy="1498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ZoneTexte 27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Ergonomie conviviale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2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Les modules de B-Hive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30" name="Image 29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graphicFrame>
        <p:nvGraphicFramePr>
          <p:cNvPr id="15" name="Espace réservé du contenu 3"/>
          <p:cNvGraphicFramePr>
            <a:graphicFrameLocks/>
          </p:cNvGraphicFramePr>
          <p:nvPr/>
        </p:nvGraphicFramePr>
        <p:xfrm>
          <a:off x="1000100" y="1142984"/>
          <a:ext cx="7572428" cy="4929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9" name="Groupe 18"/>
          <p:cNvGrpSpPr/>
          <p:nvPr/>
        </p:nvGrpSpPr>
        <p:grpSpPr>
          <a:xfrm>
            <a:off x="4000496" y="2125149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0" name="Hexagone 19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CRA</a:t>
              </a:r>
              <a:endParaRPr lang="fr-FR" sz="1700" kern="1200" dirty="0"/>
            </a:p>
          </p:txBody>
        </p:sp>
      </p:grpSp>
      <p:grpSp>
        <p:nvGrpSpPr>
          <p:cNvPr id="22" name="Groupe 21"/>
          <p:cNvGrpSpPr/>
          <p:nvPr/>
        </p:nvGrpSpPr>
        <p:grpSpPr>
          <a:xfrm>
            <a:off x="4000496" y="3161215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3" name="Hexagone 22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</p:sp>
        <p:sp>
          <p:nvSpPr>
            <p:cNvPr id="24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Choix</a:t>
              </a:r>
            </a:p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dirty="0" smtClean="0"/>
                <a:t>Client</a:t>
              </a:r>
              <a:endParaRPr lang="fr-FR" sz="1700" kern="1200" dirty="0"/>
            </a:p>
          </p:txBody>
        </p:sp>
      </p:grpSp>
      <p:grpSp>
        <p:nvGrpSpPr>
          <p:cNvPr id="25" name="Groupe 24"/>
          <p:cNvGrpSpPr/>
          <p:nvPr/>
        </p:nvGrpSpPr>
        <p:grpSpPr>
          <a:xfrm>
            <a:off x="2643174" y="3661281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8" name="Hexagone 37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dirty="0" smtClean="0"/>
                <a:t>Budget</a:t>
              </a:r>
              <a:endParaRPr lang="fr-FR" sz="1700" kern="1200" dirty="0"/>
            </a:p>
          </p:txBody>
        </p:sp>
      </p:grpSp>
      <p:grpSp>
        <p:nvGrpSpPr>
          <p:cNvPr id="40" name="Groupe 39"/>
          <p:cNvGrpSpPr/>
          <p:nvPr/>
        </p:nvGrpSpPr>
        <p:grpSpPr>
          <a:xfrm>
            <a:off x="3978183" y="4161347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1" name="Hexagone 40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err="1" smtClean="0"/>
                <a:t>Reporting</a:t>
              </a:r>
              <a:endParaRPr lang="fr-FR" sz="1700" kern="1200" dirty="0"/>
            </a:p>
          </p:txBody>
        </p:sp>
      </p:grpSp>
      <p:grpSp>
        <p:nvGrpSpPr>
          <p:cNvPr id="43" name="Groupe 42"/>
          <p:cNvGrpSpPr/>
          <p:nvPr/>
        </p:nvGrpSpPr>
        <p:grpSpPr>
          <a:xfrm>
            <a:off x="5357818" y="2643182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4" name="Hexagone 43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Statistique</a:t>
              </a:r>
              <a:endParaRPr lang="fr-FR" sz="1700" kern="1200" dirty="0"/>
            </a:p>
          </p:txBody>
        </p:sp>
      </p:grpSp>
      <p:grpSp>
        <p:nvGrpSpPr>
          <p:cNvPr id="46" name="Groupe 45"/>
          <p:cNvGrpSpPr/>
          <p:nvPr/>
        </p:nvGrpSpPr>
        <p:grpSpPr>
          <a:xfrm>
            <a:off x="5335505" y="3696785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7" name="Hexagone 46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48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Planning</a:t>
              </a:r>
              <a:endParaRPr lang="fr-FR" sz="1700" kern="1200" dirty="0"/>
            </a:p>
          </p:txBody>
        </p:sp>
      </p:grpSp>
      <p:grpSp>
        <p:nvGrpSpPr>
          <p:cNvPr id="49" name="Groupe 48"/>
          <p:cNvGrpSpPr/>
          <p:nvPr/>
        </p:nvGrpSpPr>
        <p:grpSpPr>
          <a:xfrm>
            <a:off x="2643174" y="2643182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0" name="Hexagone 49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51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Congés</a:t>
              </a:r>
              <a:endParaRPr lang="fr-FR" sz="1700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642910" y="1610013"/>
            <a:ext cx="79296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Sélectionnez le modèle selon votre méthodologie</a:t>
            </a:r>
          </a:p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Construisez votre </a:t>
            </a:r>
            <a:r>
              <a:rPr lang="fr-FR" dirty="0" err="1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workflow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  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14" name="ZoneTexte 13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Interface simplifiée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5" name="Image 14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6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Concept B-Hive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28717">
            <a:off x="3733620" y="2357435"/>
            <a:ext cx="1357290" cy="1272087"/>
          </a:xfrm>
          <a:prstGeom prst="rect">
            <a:avLst/>
          </a:prstGeom>
        </p:spPr>
      </p:pic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00496" y="4000504"/>
            <a:ext cx="92392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Image 21" descr="doc_118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36" y="3500438"/>
            <a:ext cx="785818" cy="785818"/>
          </a:xfrm>
          <a:prstGeom prst="rect">
            <a:avLst/>
          </a:prstGeom>
        </p:spPr>
      </p:pic>
      <p:pic>
        <p:nvPicPr>
          <p:cNvPr id="23" name="Image 22" descr="doc_164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330" y="3500438"/>
            <a:ext cx="857256" cy="814393"/>
          </a:xfrm>
          <a:prstGeom prst="rect">
            <a:avLst/>
          </a:prstGeom>
        </p:spPr>
      </p:pic>
      <p:pic>
        <p:nvPicPr>
          <p:cNvPr id="26" name="Image 25" descr="co_037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2330" y="4429132"/>
            <a:ext cx="714380" cy="714380"/>
          </a:xfrm>
          <a:prstGeom prst="rect">
            <a:avLst/>
          </a:prstGeom>
        </p:spPr>
      </p:pic>
      <p:pic>
        <p:nvPicPr>
          <p:cNvPr id="27" name="Image 26" descr="co_003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392288">
            <a:off x="6215074" y="4357694"/>
            <a:ext cx="714380" cy="714380"/>
          </a:xfrm>
          <a:prstGeom prst="rect">
            <a:avLst/>
          </a:prstGeom>
        </p:spPr>
      </p:pic>
      <p:sp>
        <p:nvSpPr>
          <p:cNvPr id="28" name="Flèche droite 27"/>
          <p:cNvSpPr/>
          <p:nvPr/>
        </p:nvSpPr>
        <p:spPr>
          <a:xfrm>
            <a:off x="1643042" y="2928934"/>
            <a:ext cx="1571636" cy="428628"/>
          </a:xfrm>
          <a:prstGeom prst="rightArrow">
            <a:avLst>
              <a:gd name="adj1" fmla="val 65283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Modèle</a:t>
            </a:r>
            <a:endParaRPr lang="fr-FR" dirty="0"/>
          </a:p>
        </p:txBody>
      </p:sp>
      <p:sp>
        <p:nvSpPr>
          <p:cNvPr id="29" name="Flèche droite 28"/>
          <p:cNvSpPr/>
          <p:nvPr/>
        </p:nvSpPr>
        <p:spPr>
          <a:xfrm>
            <a:off x="5214942" y="4429132"/>
            <a:ext cx="92869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Flèche droite 29"/>
          <p:cNvSpPr/>
          <p:nvPr/>
        </p:nvSpPr>
        <p:spPr>
          <a:xfrm>
            <a:off x="1643042" y="4286256"/>
            <a:ext cx="1571636" cy="428628"/>
          </a:xfrm>
          <a:prstGeom prst="rightArrow">
            <a:avLst>
              <a:gd name="adj1" fmla="val 65283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Workflow</a:t>
            </a:r>
            <a:endParaRPr lang="fr-FR" dirty="0"/>
          </a:p>
        </p:txBody>
      </p:sp>
      <p:sp>
        <p:nvSpPr>
          <p:cNvPr id="31" name="Flèche droite 30"/>
          <p:cNvSpPr/>
          <p:nvPr/>
        </p:nvSpPr>
        <p:spPr>
          <a:xfrm>
            <a:off x="1643042" y="5929330"/>
            <a:ext cx="1571636" cy="428628"/>
          </a:xfrm>
          <a:prstGeom prst="rightArrow">
            <a:avLst>
              <a:gd name="adj1" fmla="val 65283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Autre</a:t>
            </a:r>
            <a:endParaRPr lang="fr-FR" dirty="0"/>
          </a:p>
        </p:txBody>
      </p:sp>
      <p:pic>
        <p:nvPicPr>
          <p:cNvPr id="32" name="Picture 4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786182" y="5429264"/>
            <a:ext cx="1428750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100% Web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3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Faites évoluer B-Hive</a:t>
            </a: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357158" y="2357430"/>
            <a:ext cx="853281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B-Hive est un produit qui fonctionne par module, puis par modèle.</a:t>
            </a:r>
          </a:p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Ici on vous a montré un exemple d’utilisation du module TMA. </a:t>
            </a:r>
          </a:p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Le modèle correspond à la manière dont vous désirez utiliser le module. Exemple pour le CRA, vous pouvez avoir le modèle « CRA sans validation » et le modèle « CRA avec validation »</a:t>
            </a:r>
          </a:p>
          <a:p>
            <a:endParaRPr lang="fr-FR" sz="1200" dirty="0" smtClean="0">
              <a:latin typeface="Vrinda" pitchFamily="2" charset="0"/>
              <a:cs typeface="Vrinda" pitchFamily="2" charset="0"/>
            </a:endParaRPr>
          </a:p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Si un module ou un modèle n’existe pas …  … …. Faites le nous savoir, si celui-ci correspond à notre concept, nous le mettrons à votre disposition.</a:t>
            </a:r>
          </a:p>
          <a:p>
            <a:endParaRPr lang="fr-FR" sz="1200" dirty="0" smtClean="0">
              <a:latin typeface="Vrinda" pitchFamily="2" charset="0"/>
              <a:cs typeface="Vrinda" pitchFamily="2" charset="0"/>
            </a:endParaRPr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285720" y="1714488"/>
            <a:ext cx="853281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sz="16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  <a:sym typeface="Wingdings" pitchFamily="2" charset="2"/>
              </a:rPr>
              <a:t>		B-Hive </a:t>
            </a:r>
            <a:r>
              <a:rPr lang="fr-FR" sz="1600" b="1" dirty="0">
                <a:solidFill>
                  <a:schemeClr val="accent2"/>
                </a:solidFill>
                <a:latin typeface="Vrinda" pitchFamily="2" charset="0"/>
                <a:cs typeface="Vrinda" pitchFamily="2" charset="0"/>
                <a:sym typeface="Wingdings" pitchFamily="2" charset="2"/>
              </a:rPr>
              <a:t>se construit avec vous et selon vous en </a:t>
            </a:r>
            <a:r>
              <a:rPr lang="fr-FR" sz="16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  <a:sym typeface="Wingdings" pitchFamily="2" charset="2"/>
              </a:rPr>
              <a:t>						toute </a:t>
            </a:r>
            <a:r>
              <a:rPr lang="fr-FR" sz="1600" b="1" dirty="0">
                <a:solidFill>
                  <a:schemeClr val="accent2"/>
                </a:solidFill>
                <a:latin typeface="Vrinda" pitchFamily="2" charset="0"/>
                <a:cs typeface="Vrinda" pitchFamily="2" charset="0"/>
                <a:sym typeface="Wingdings" pitchFamily="2" charset="2"/>
              </a:rPr>
              <a:t>simplicité</a:t>
            </a:r>
            <a:endParaRPr lang="fr-FR" sz="1600" b="1" dirty="0">
              <a:solidFill>
                <a:schemeClr val="accent2"/>
              </a:solidFill>
              <a:latin typeface="Vrinda" pitchFamily="2" charset="0"/>
              <a:cs typeface="Vrinda" pitchFamily="2" charset="0"/>
            </a:endParaRPr>
          </a:p>
        </p:txBody>
      </p:sp>
      <p:pic>
        <p:nvPicPr>
          <p:cNvPr id="6146" name="Picture 2" descr="D:\B-HIVE\profile\profilD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28916" y="1257288"/>
            <a:ext cx="457200" cy="457200"/>
          </a:xfrm>
          <a:prstGeom prst="rect">
            <a:avLst/>
          </a:prstGeom>
          <a:noFill/>
        </p:spPr>
      </p:pic>
      <p:pic>
        <p:nvPicPr>
          <p:cNvPr id="6147" name="Picture 3" descr="D:\B-HIVE\profile\profilCom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14800" y="1257288"/>
            <a:ext cx="457200" cy="457200"/>
          </a:xfrm>
          <a:prstGeom prst="rect">
            <a:avLst/>
          </a:prstGeom>
          <a:noFill/>
        </p:spPr>
      </p:pic>
      <p:pic>
        <p:nvPicPr>
          <p:cNvPr id="6148" name="Picture 4" descr="D:\B-HIVE\profile\profilCol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29246" y="1285860"/>
            <a:ext cx="457200" cy="457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ZoneTexte 6"/>
          <p:cNvSpPr txBox="1">
            <a:spLocks noChangeArrowheads="1"/>
          </p:cNvSpPr>
          <p:nvPr/>
        </p:nvSpPr>
        <p:spPr bwMode="auto">
          <a:xfrm>
            <a:off x="4357686" y="2000240"/>
            <a:ext cx="3429028" cy="295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6000" dirty="0" smtClean="0">
                <a:latin typeface="CordiaUPC" pitchFamily="34" charset="-34"/>
                <a:cs typeface="CordiaUPC" pitchFamily="34" charset="-34"/>
              </a:rPr>
              <a:t>Bee Software</a:t>
            </a:r>
          </a:p>
          <a:p>
            <a:r>
              <a:rPr lang="fr-FR" sz="1800" dirty="0" smtClean="0">
                <a:latin typeface="Arial" charset="0"/>
                <a:cs typeface="Arial" charset="0"/>
              </a:rPr>
              <a:t>contact@beesoftware.net</a:t>
            </a: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Calibri" pitchFamily="34" charset="0"/>
              </a:rPr>
              <a:t>Tel. 33 (0)3 62 27 62 38</a:t>
            </a:r>
          </a:p>
          <a:p>
            <a:r>
              <a:rPr lang="fr-FR" sz="1800" dirty="0" smtClean="0">
                <a:latin typeface="Calibri" pitchFamily="34" charset="0"/>
              </a:rPr>
              <a:t>Gsm 33 (0)6 26 08 62 84</a:t>
            </a:r>
          </a:p>
          <a:p>
            <a:r>
              <a:rPr lang="fr-FR" sz="1800" dirty="0" smtClean="0">
                <a:latin typeface="Calibri" pitchFamily="34" charset="0"/>
              </a:rPr>
              <a:t>Fax. 33 (0)3 62 27 62 39</a:t>
            </a: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http://www.beesoftware.net</a:t>
            </a:r>
          </a:p>
        </p:txBody>
      </p:sp>
      <p:sp>
        <p:nvSpPr>
          <p:cNvPr id="4107" name="ZoneTexte 10"/>
          <p:cNvSpPr txBox="1">
            <a:spLocks noChangeArrowheads="1"/>
          </p:cNvSpPr>
          <p:nvPr/>
        </p:nvSpPr>
        <p:spPr bwMode="auto">
          <a:xfrm>
            <a:off x="0" y="6596063"/>
            <a:ext cx="3643313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/>
              <a:t>Copyright © 2008 beesoftware.net. All Rights Reserved</a:t>
            </a:r>
            <a:endParaRPr lang="fr-FR" sz="1100"/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Nous contacter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28564" y="2071678"/>
            <a:ext cx="8715436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« Faire simple est probablement l’objectif </a:t>
            </a:r>
          </a:p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le plus sophistiqué du monde »</a:t>
            </a:r>
            <a:endParaRPr lang="fr-FR" sz="4400" b="1" dirty="0">
              <a:latin typeface="Vivaldi" pitchFamily="66" charset="0"/>
              <a:cs typeface="Vrinda" pitchFamily="2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357818" y="3714752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Steve Jobs (Co-fondateur d’Apple INC)</a:t>
            </a:r>
            <a:endParaRPr lang="fr-FR" b="1" dirty="0">
              <a:solidFill>
                <a:schemeClr val="accent6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4786322"/>
            <a:ext cx="4070106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66CC"/>
      </a:hlink>
      <a:folHlink>
        <a:srgbClr val="0099CC"/>
      </a:folHlink>
    </a:clrScheme>
    <a:fontScheme name="Modèle par défaut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3363</TotalTime>
  <Words>1067</Words>
  <Application>Microsoft PowerPoint</Application>
  <PresentationFormat>Affichage à l'écran (4:3)</PresentationFormat>
  <Paragraphs>169</Paragraphs>
  <Slides>18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Modèle par défaut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L.Hermez</dc:creator>
  <cp:lastModifiedBy>Madgic</cp:lastModifiedBy>
  <cp:revision>315</cp:revision>
  <dcterms:created xsi:type="dcterms:W3CDTF">2008-08-18T15:51:12Z</dcterms:created>
  <dcterms:modified xsi:type="dcterms:W3CDTF">2009-09-24T07:57:17Z</dcterms:modified>
</cp:coreProperties>
</file>