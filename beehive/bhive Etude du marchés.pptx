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3399"/>
    <a:srgbClr val="75BFC5"/>
    <a:srgbClr val="98D0D4"/>
    <a:srgbClr val="8AD0DA"/>
    <a:srgbClr val="00FF00"/>
    <a:srgbClr val="FF66FF"/>
    <a:srgbClr val="FF99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918DD-896B-4BB6-BC91-7F9FAA89E76E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6A507-207A-4E71-BF8F-F7F4B3105411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443336-3611-4467-8FB5-88A378D978FE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DC7D2-F7C3-47DF-9106-2788DAD1CAF9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AD9D3-DDA5-4D00-9C6A-D551FB27CE27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5FD3C1-46C2-4DD3-8014-1C72C8E4DA1B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00B9E-FADD-4FEB-AA64-E24F5137291D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C44EA-92BB-49D5-B0F1-3012EE2EA91E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1595D-A3D7-4398-86D6-4B7954944017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29938A-41E8-428A-BD7E-982F0D9F93CD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86CCB-61C1-4306-846D-989EE27BD569}" type="slidenum">
              <a:rPr lang="fr-FR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3EBB78-8D94-437E-A5D2-459A26F47073}" type="slidenum">
              <a:rPr lang="fr-FR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3" name="Rectangle 69"/>
          <p:cNvSpPr>
            <a:spLocks noChangeArrowheads="1"/>
          </p:cNvSpPr>
          <p:nvPr/>
        </p:nvSpPr>
        <p:spPr bwMode="auto">
          <a:xfrm>
            <a:off x="287369" y="793727"/>
            <a:ext cx="1728787" cy="4302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Site Web</a:t>
            </a:r>
          </a:p>
        </p:txBody>
      </p:sp>
      <p:sp>
        <p:nvSpPr>
          <p:cNvPr id="6214" name="Rectangle 70"/>
          <p:cNvSpPr>
            <a:spLocks noChangeArrowheads="1"/>
          </p:cNvSpPr>
          <p:nvPr/>
        </p:nvSpPr>
        <p:spPr bwMode="auto">
          <a:xfrm>
            <a:off x="2016156" y="792139"/>
            <a:ext cx="6911975" cy="4333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fr-FR"/>
          </a:p>
        </p:txBody>
      </p:sp>
      <p:sp>
        <p:nvSpPr>
          <p:cNvPr id="6204" name="Rectangle 60"/>
          <p:cNvSpPr>
            <a:spLocks noChangeArrowheads="1"/>
          </p:cNvSpPr>
          <p:nvPr/>
        </p:nvSpPr>
        <p:spPr bwMode="auto">
          <a:xfrm>
            <a:off x="2016156" y="5687989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287369" y="1655739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 dirty="0"/>
              <a:t>Nombre de client</a:t>
            </a:r>
          </a:p>
          <a:p>
            <a:pPr algn="ctr"/>
            <a:r>
              <a:rPr lang="fr-FR" sz="1200" i="1" dirty="0">
                <a:solidFill>
                  <a:schemeClr val="bg1">
                    <a:lumMod val="50000"/>
                  </a:schemeClr>
                </a:solidFill>
              </a:rPr>
              <a:t>Chiffre d’affaire Annuel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87369" y="2376464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Concurrence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87369" y="1223939"/>
            <a:ext cx="1728787" cy="4302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Pays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 rot="16200000">
            <a:off x="-989775" y="1818458"/>
            <a:ext cx="2303463" cy="250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 b="1" dirty="0"/>
              <a:t>M A R C H E S 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287369" y="3527402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Documentation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87369" y="4248127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Technologie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287369" y="3097189"/>
            <a:ext cx="1728787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Hébergeur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 rot="16200000">
            <a:off x="-774668" y="3906814"/>
            <a:ext cx="1873250" cy="250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 b="1" dirty="0"/>
              <a:t>T E C H N O L O G I E S</a:t>
            </a: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287369" y="71414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 dirty="0"/>
              <a:t>Produit</a:t>
            </a:r>
          </a:p>
          <a:p>
            <a:pPr algn="ctr"/>
            <a:r>
              <a:rPr lang="fr-FR" sz="1200" i="1" dirty="0">
                <a:solidFill>
                  <a:schemeClr val="bg1">
                    <a:lumMod val="50000"/>
                  </a:schemeClr>
                </a:solidFill>
              </a:rPr>
              <a:t>Version - module</a:t>
            </a: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287369" y="4968852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Compétence</a:t>
            </a:r>
          </a:p>
          <a:p>
            <a:pPr algn="ctr"/>
            <a:r>
              <a:rPr lang="fr-FR" sz="1200"/>
              <a:t>recherché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2016156" y="71414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2016156" y="1222352"/>
            <a:ext cx="6911975" cy="4333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fr-FR"/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2016156" y="1655739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2016156" y="2376464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2016156" y="3097189"/>
            <a:ext cx="6911975" cy="431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2016156" y="3528989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2016156" y="4249714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2016156" y="4968852"/>
            <a:ext cx="691197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2016156" y="6408714"/>
            <a:ext cx="1770026" cy="404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fr-FR" dirty="0"/>
              <a:t>2008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3773494" y="6408714"/>
            <a:ext cx="1655762" cy="404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fr-FR"/>
              <a:t>2009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5429256" y="6408714"/>
            <a:ext cx="1655763" cy="404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fr-FR"/>
              <a:t>2010</a:t>
            </a:r>
          </a:p>
        </p:txBody>
      </p:sp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7072331" y="6408714"/>
            <a:ext cx="1714512" cy="404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fr-FR"/>
              <a:t>2011</a:t>
            </a:r>
          </a:p>
        </p:txBody>
      </p:sp>
      <p:sp>
        <p:nvSpPr>
          <p:cNvPr id="6178" name="Line 34"/>
          <p:cNvSpPr>
            <a:spLocks noChangeShapeType="1"/>
          </p:cNvSpPr>
          <p:nvPr/>
        </p:nvSpPr>
        <p:spPr bwMode="auto">
          <a:xfrm flipV="1">
            <a:off x="3779838" y="0"/>
            <a:ext cx="0" cy="638175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6179" name="Line 35"/>
          <p:cNvSpPr>
            <a:spLocks noChangeShapeType="1"/>
          </p:cNvSpPr>
          <p:nvPr/>
        </p:nvSpPr>
        <p:spPr bwMode="auto">
          <a:xfrm flipV="1">
            <a:off x="5435600" y="0"/>
            <a:ext cx="0" cy="63817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180" name="Line 36"/>
          <p:cNvSpPr>
            <a:spLocks noChangeShapeType="1"/>
          </p:cNvSpPr>
          <p:nvPr/>
        </p:nvSpPr>
        <p:spPr bwMode="auto">
          <a:xfrm flipV="1">
            <a:off x="7092950" y="0"/>
            <a:ext cx="0" cy="63817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181" name="Line 37"/>
          <p:cNvSpPr>
            <a:spLocks noChangeShapeType="1"/>
          </p:cNvSpPr>
          <p:nvPr/>
        </p:nvSpPr>
        <p:spPr bwMode="auto">
          <a:xfrm flipV="1">
            <a:off x="8748713" y="0"/>
            <a:ext cx="0" cy="63817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183" name="Rectangle 39"/>
          <p:cNvSpPr>
            <a:spLocks noChangeArrowheads="1"/>
          </p:cNvSpPr>
          <p:nvPr/>
        </p:nvSpPr>
        <p:spPr bwMode="auto">
          <a:xfrm>
            <a:off x="2087594" y="144439"/>
            <a:ext cx="1439862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B-Hive : V1</a:t>
            </a:r>
          </a:p>
          <a:p>
            <a:pPr algn="ctr"/>
            <a:r>
              <a:rPr lang="fr-FR" sz="1200" i="1" dirty="0">
                <a:solidFill>
                  <a:schemeClr val="bg2"/>
                </a:solidFill>
              </a:rPr>
              <a:t>SS</a:t>
            </a:r>
            <a:r>
              <a:rPr lang="fr-FR" sz="1200" dirty="0">
                <a:solidFill>
                  <a:schemeClr val="bg2"/>
                </a:solidFill>
              </a:rPr>
              <a:t>II</a:t>
            </a:r>
          </a:p>
        </p:txBody>
      </p:sp>
      <p:sp>
        <p:nvSpPr>
          <p:cNvPr id="6185" name="Rectangle 41"/>
          <p:cNvSpPr>
            <a:spLocks noChangeArrowheads="1"/>
          </p:cNvSpPr>
          <p:nvPr/>
        </p:nvSpPr>
        <p:spPr bwMode="auto">
          <a:xfrm>
            <a:off x="3743356" y="144439"/>
            <a:ext cx="1800225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V2 </a:t>
            </a:r>
          </a:p>
          <a:p>
            <a:pPr algn="ctr"/>
            <a:r>
              <a:rPr lang="fr-FR" sz="1200" i="1">
                <a:solidFill>
                  <a:schemeClr val="bg2"/>
                </a:solidFill>
              </a:rPr>
              <a:t>V1 + TMA </a:t>
            </a:r>
          </a:p>
        </p:txBody>
      </p:sp>
      <p:sp>
        <p:nvSpPr>
          <p:cNvPr id="6187" name="Rectangle 43"/>
          <p:cNvSpPr>
            <a:spLocks noChangeArrowheads="1"/>
          </p:cNvSpPr>
          <p:nvPr/>
        </p:nvSpPr>
        <p:spPr bwMode="auto">
          <a:xfrm>
            <a:off x="2303494" y="1728764"/>
            <a:ext cx="935037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1</a:t>
            </a:r>
          </a:p>
          <a:p>
            <a:pPr algn="ctr"/>
            <a:r>
              <a:rPr lang="fr-FR" sz="1200" i="1" dirty="0">
                <a:solidFill>
                  <a:schemeClr val="bg2"/>
                </a:solidFill>
              </a:rPr>
              <a:t>2.000€</a:t>
            </a:r>
          </a:p>
        </p:txBody>
      </p:sp>
      <p:sp>
        <p:nvSpPr>
          <p:cNvPr id="6189" name="Rectangle 45"/>
          <p:cNvSpPr>
            <a:spLocks noChangeArrowheads="1"/>
          </p:cNvSpPr>
          <p:nvPr/>
        </p:nvSpPr>
        <p:spPr bwMode="auto">
          <a:xfrm>
            <a:off x="5400706" y="1728764"/>
            <a:ext cx="1511300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30</a:t>
            </a:r>
            <a:r>
              <a:rPr lang="fr-FR" sz="1400"/>
              <a:t>-50</a:t>
            </a:r>
          </a:p>
          <a:p>
            <a:pPr algn="ctr"/>
            <a:r>
              <a:rPr lang="fr-FR" sz="1200" i="1">
                <a:solidFill>
                  <a:schemeClr val="bg2"/>
                </a:solidFill>
              </a:rPr>
              <a:t>60.000€ </a:t>
            </a:r>
            <a:r>
              <a:rPr lang="fr-FR" sz="1000" i="1">
                <a:solidFill>
                  <a:schemeClr val="bg2"/>
                </a:solidFill>
              </a:rPr>
              <a:t>- 100.000€</a:t>
            </a:r>
            <a:endParaRPr lang="fr-FR" sz="1000"/>
          </a:p>
        </p:txBody>
      </p:sp>
      <p:sp>
        <p:nvSpPr>
          <p:cNvPr id="6202" name="Rectangle 58"/>
          <p:cNvSpPr>
            <a:spLocks noChangeArrowheads="1"/>
          </p:cNvSpPr>
          <p:nvPr/>
        </p:nvSpPr>
        <p:spPr bwMode="auto">
          <a:xfrm rot="16200000">
            <a:off x="-557974" y="5563370"/>
            <a:ext cx="1439862" cy="250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 b="1"/>
              <a:t>R H </a:t>
            </a:r>
          </a:p>
        </p:txBody>
      </p:sp>
      <p:sp>
        <p:nvSpPr>
          <p:cNvPr id="6203" name="Rectangle 59"/>
          <p:cNvSpPr>
            <a:spLocks noChangeArrowheads="1"/>
          </p:cNvSpPr>
          <p:nvPr/>
        </p:nvSpPr>
        <p:spPr bwMode="auto">
          <a:xfrm>
            <a:off x="287369" y="5687989"/>
            <a:ext cx="1728787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fr-FR" sz="1200"/>
              <a:t>Nombre de salarié</a:t>
            </a:r>
          </a:p>
        </p:txBody>
      </p:sp>
      <p:sp>
        <p:nvSpPr>
          <p:cNvPr id="6205" name="Rectangle 61"/>
          <p:cNvSpPr>
            <a:spLocks noChangeArrowheads="1"/>
          </p:cNvSpPr>
          <p:nvPr/>
        </p:nvSpPr>
        <p:spPr bwMode="auto">
          <a:xfrm>
            <a:off x="2303494" y="5761014"/>
            <a:ext cx="1081087" cy="4318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0</a:t>
            </a:r>
          </a:p>
        </p:txBody>
      </p:sp>
      <p:sp>
        <p:nvSpPr>
          <p:cNvPr id="6206" name="Rectangle 62"/>
          <p:cNvSpPr>
            <a:spLocks noChangeArrowheads="1"/>
          </p:cNvSpPr>
          <p:nvPr/>
        </p:nvSpPr>
        <p:spPr bwMode="auto">
          <a:xfrm>
            <a:off x="3743356" y="5761014"/>
            <a:ext cx="1441450" cy="57467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1</a:t>
            </a:r>
          </a:p>
          <a:p>
            <a:pPr algn="ctr"/>
            <a:r>
              <a:rPr lang="fr-FR" sz="800" i="1">
                <a:solidFill>
                  <a:schemeClr val="bg2"/>
                </a:solidFill>
              </a:rPr>
              <a:t>1 Gestionnaire administratif</a:t>
            </a:r>
          </a:p>
          <a:p>
            <a:pPr algn="ctr"/>
            <a:r>
              <a:rPr lang="fr-FR" sz="800" i="1">
                <a:solidFill>
                  <a:schemeClr val="bg2"/>
                </a:solidFill>
              </a:rPr>
              <a:t>[stagiaire (comm &amp; info)]</a:t>
            </a:r>
          </a:p>
        </p:txBody>
      </p:sp>
      <p:sp>
        <p:nvSpPr>
          <p:cNvPr id="6207" name="Rectangle 63"/>
          <p:cNvSpPr>
            <a:spLocks noChangeArrowheads="1"/>
          </p:cNvSpPr>
          <p:nvPr/>
        </p:nvSpPr>
        <p:spPr bwMode="auto">
          <a:xfrm>
            <a:off x="5400706" y="5761014"/>
            <a:ext cx="1511300" cy="57467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2</a:t>
            </a:r>
            <a:r>
              <a:rPr lang="fr-FR" sz="1400"/>
              <a:t>-4</a:t>
            </a:r>
          </a:p>
          <a:p>
            <a:pPr algn="ctr"/>
            <a:r>
              <a:rPr lang="fr-FR" sz="800" i="1">
                <a:solidFill>
                  <a:schemeClr val="bg2"/>
                </a:solidFill>
              </a:rPr>
              <a:t>1 Responsable projet</a:t>
            </a:r>
          </a:p>
          <a:p>
            <a:pPr algn="ctr"/>
            <a:r>
              <a:rPr lang="fr-FR" sz="800" i="1">
                <a:solidFill>
                  <a:schemeClr val="bg2"/>
                </a:solidFill>
              </a:rPr>
              <a:t>[2 développeurs]</a:t>
            </a:r>
          </a:p>
        </p:txBody>
      </p:sp>
      <p:sp>
        <p:nvSpPr>
          <p:cNvPr id="6208" name="Rectangle 64"/>
          <p:cNvSpPr>
            <a:spLocks noChangeArrowheads="1"/>
          </p:cNvSpPr>
          <p:nvPr/>
        </p:nvSpPr>
        <p:spPr bwMode="auto">
          <a:xfrm>
            <a:off x="7200930" y="5761014"/>
            <a:ext cx="1443035" cy="596944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3</a:t>
            </a:r>
            <a:r>
              <a:rPr lang="fr-FR" sz="1400" dirty="0"/>
              <a:t>-5</a:t>
            </a:r>
          </a:p>
          <a:p>
            <a:pPr algn="ctr"/>
            <a:r>
              <a:rPr lang="fr-FR" sz="800" i="1" dirty="0">
                <a:solidFill>
                  <a:schemeClr val="bg2"/>
                </a:solidFill>
              </a:rPr>
              <a:t>1 Responsable vente</a:t>
            </a:r>
          </a:p>
        </p:txBody>
      </p:sp>
      <p:sp>
        <p:nvSpPr>
          <p:cNvPr id="6215" name="Rectangle 71"/>
          <p:cNvSpPr>
            <a:spLocks noChangeArrowheads="1"/>
          </p:cNvSpPr>
          <p:nvPr/>
        </p:nvSpPr>
        <p:spPr bwMode="auto">
          <a:xfrm>
            <a:off x="2376519" y="863577"/>
            <a:ext cx="1511300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V1</a:t>
            </a:r>
          </a:p>
        </p:txBody>
      </p:sp>
      <p:sp>
        <p:nvSpPr>
          <p:cNvPr id="6218" name="Line 74"/>
          <p:cNvSpPr>
            <a:spLocks noChangeShapeType="1"/>
          </p:cNvSpPr>
          <p:nvPr/>
        </p:nvSpPr>
        <p:spPr bwMode="auto">
          <a:xfrm flipH="1">
            <a:off x="8107418" y="741320"/>
            <a:ext cx="45719" cy="2859107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19" name="Line 75"/>
          <p:cNvSpPr>
            <a:spLocks noChangeShapeType="1"/>
          </p:cNvSpPr>
          <p:nvPr/>
        </p:nvSpPr>
        <p:spPr bwMode="auto">
          <a:xfrm>
            <a:off x="8280431" y="3816327"/>
            <a:ext cx="0" cy="504825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20" name="Line 76"/>
          <p:cNvSpPr>
            <a:spLocks noChangeShapeType="1"/>
          </p:cNvSpPr>
          <p:nvPr/>
        </p:nvSpPr>
        <p:spPr bwMode="auto">
          <a:xfrm>
            <a:off x="4032281" y="1079477"/>
            <a:ext cx="0" cy="576262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82" name="Rectangle 38"/>
          <p:cNvSpPr>
            <a:spLocks noChangeArrowheads="1"/>
          </p:cNvSpPr>
          <p:nvPr/>
        </p:nvSpPr>
        <p:spPr bwMode="auto">
          <a:xfrm>
            <a:off x="2376519" y="1295377"/>
            <a:ext cx="3816350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France</a:t>
            </a:r>
          </a:p>
        </p:txBody>
      </p:sp>
      <p:sp>
        <p:nvSpPr>
          <p:cNvPr id="6221" name="Line 77"/>
          <p:cNvSpPr>
            <a:spLocks noChangeShapeType="1"/>
          </p:cNvSpPr>
          <p:nvPr/>
        </p:nvSpPr>
        <p:spPr bwMode="auto">
          <a:xfrm>
            <a:off x="8424894" y="719114"/>
            <a:ext cx="0" cy="3889375"/>
          </a:xfrm>
          <a:prstGeom prst="line">
            <a:avLst/>
          </a:prstGeom>
          <a:ln>
            <a:headEnd type="diamond" w="sm" len="sm"/>
            <a:tailEnd type="diamond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7273956" y="1727177"/>
            <a:ext cx="1582738" cy="57626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&gt; 80</a:t>
            </a:r>
          </a:p>
          <a:p>
            <a:pPr algn="ctr"/>
            <a:r>
              <a:rPr lang="fr-FR" sz="1200" i="1">
                <a:solidFill>
                  <a:schemeClr val="bg2"/>
                </a:solidFill>
              </a:rPr>
              <a:t>&gt; 160.000€</a:t>
            </a:r>
          </a:p>
        </p:txBody>
      </p:sp>
      <p:sp>
        <p:nvSpPr>
          <p:cNvPr id="6184" name="Rectangle 40"/>
          <p:cNvSpPr>
            <a:spLocks noChangeArrowheads="1"/>
          </p:cNvSpPr>
          <p:nvPr/>
        </p:nvSpPr>
        <p:spPr bwMode="auto">
          <a:xfrm>
            <a:off x="7056469" y="1293789"/>
            <a:ext cx="1800225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International</a:t>
            </a:r>
          </a:p>
        </p:txBody>
      </p:sp>
      <p:sp>
        <p:nvSpPr>
          <p:cNvPr id="6216" name="Rectangle 72"/>
          <p:cNvSpPr>
            <a:spLocks noChangeArrowheads="1"/>
          </p:cNvSpPr>
          <p:nvPr/>
        </p:nvSpPr>
        <p:spPr bwMode="auto">
          <a:xfrm>
            <a:off x="7056469" y="936602"/>
            <a:ext cx="1800225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V3</a:t>
            </a:r>
            <a:r>
              <a:rPr lang="fr-FR" sz="1200" i="1" dirty="0">
                <a:solidFill>
                  <a:schemeClr val="bg2"/>
                </a:solidFill>
              </a:rPr>
              <a:t> traduit en anglais</a:t>
            </a:r>
          </a:p>
        </p:txBody>
      </p:sp>
      <p:sp>
        <p:nvSpPr>
          <p:cNvPr id="6222" name="Line 78"/>
          <p:cNvSpPr>
            <a:spLocks noChangeShapeType="1"/>
          </p:cNvSpPr>
          <p:nvPr/>
        </p:nvSpPr>
        <p:spPr bwMode="auto">
          <a:xfrm>
            <a:off x="2303494" y="4535464"/>
            <a:ext cx="0" cy="504825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23" name="Line 79"/>
          <p:cNvSpPr>
            <a:spLocks noChangeShapeType="1"/>
          </p:cNvSpPr>
          <p:nvPr/>
        </p:nvSpPr>
        <p:spPr bwMode="auto">
          <a:xfrm>
            <a:off x="4176744" y="4895827"/>
            <a:ext cx="0" cy="504825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99" name="Rectangle 55"/>
          <p:cNvSpPr>
            <a:spLocks noChangeArrowheads="1"/>
          </p:cNvSpPr>
          <p:nvPr/>
        </p:nvSpPr>
        <p:spPr bwMode="auto">
          <a:xfrm>
            <a:off x="2303494" y="5040289"/>
            <a:ext cx="2736850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Ajax – PHP – flash maani</a:t>
            </a:r>
          </a:p>
        </p:txBody>
      </p:sp>
      <p:sp>
        <p:nvSpPr>
          <p:cNvPr id="6224" name="Line 80"/>
          <p:cNvSpPr>
            <a:spLocks noChangeShapeType="1"/>
          </p:cNvSpPr>
          <p:nvPr/>
        </p:nvSpPr>
        <p:spPr bwMode="auto">
          <a:xfrm>
            <a:off x="7056469" y="1511277"/>
            <a:ext cx="0" cy="3529012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25" name="Line 81"/>
          <p:cNvSpPr>
            <a:spLocks noChangeShapeType="1"/>
          </p:cNvSpPr>
          <p:nvPr/>
        </p:nvSpPr>
        <p:spPr bwMode="auto">
          <a:xfrm>
            <a:off x="8856694" y="1511277"/>
            <a:ext cx="0" cy="21590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27" name="Line 83"/>
          <p:cNvSpPr>
            <a:spLocks noChangeShapeType="1"/>
          </p:cNvSpPr>
          <p:nvPr/>
        </p:nvSpPr>
        <p:spPr bwMode="auto">
          <a:xfrm>
            <a:off x="4176744" y="4176689"/>
            <a:ext cx="0" cy="504825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95" name="Rectangle 51"/>
          <p:cNvSpPr>
            <a:spLocks noChangeArrowheads="1"/>
          </p:cNvSpPr>
          <p:nvPr/>
        </p:nvSpPr>
        <p:spPr bwMode="auto">
          <a:xfrm>
            <a:off x="2303494" y="4319564"/>
            <a:ext cx="5976937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Ajax – PHP – flash</a:t>
            </a:r>
          </a:p>
        </p:txBody>
      </p:sp>
      <p:sp>
        <p:nvSpPr>
          <p:cNvPr id="6194" name="Rectangle 50"/>
          <p:cNvSpPr>
            <a:spLocks noChangeArrowheads="1"/>
          </p:cNvSpPr>
          <p:nvPr/>
        </p:nvSpPr>
        <p:spPr bwMode="auto">
          <a:xfrm>
            <a:off x="4176744" y="3960789"/>
            <a:ext cx="4608512" cy="21431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Documentation complète pour la V4</a:t>
            </a:r>
          </a:p>
        </p:txBody>
      </p:sp>
      <p:sp>
        <p:nvSpPr>
          <p:cNvPr id="6193" name="Rectangle 49"/>
          <p:cNvSpPr>
            <a:spLocks noChangeArrowheads="1"/>
          </p:cNvSpPr>
          <p:nvPr/>
        </p:nvSpPr>
        <p:spPr bwMode="auto">
          <a:xfrm>
            <a:off x="2303494" y="3602014"/>
            <a:ext cx="5976937" cy="21431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Description des tables - Test </a:t>
            </a:r>
            <a:r>
              <a:rPr lang="fr-FR" dirty="0" err="1"/>
              <a:t>link</a:t>
            </a:r>
            <a:endParaRPr lang="fr-FR" dirty="0"/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2376519" y="3240064"/>
            <a:ext cx="5616575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Awardspace</a:t>
            </a:r>
          </a:p>
        </p:txBody>
      </p:sp>
      <p:sp>
        <p:nvSpPr>
          <p:cNvPr id="6191" name="Rectangle 47"/>
          <p:cNvSpPr>
            <a:spLocks noChangeArrowheads="1"/>
          </p:cNvSpPr>
          <p:nvPr/>
        </p:nvSpPr>
        <p:spPr bwMode="auto">
          <a:xfrm>
            <a:off x="2303494" y="2663802"/>
            <a:ext cx="6481762" cy="21748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PS-NEST / Helpdesck  / JIRA / gantt project / MS Project / …</a:t>
            </a:r>
          </a:p>
        </p:txBody>
      </p:sp>
      <p:sp>
        <p:nvSpPr>
          <p:cNvPr id="6197" name="Rectangle 53"/>
          <p:cNvSpPr>
            <a:spLocks noChangeArrowheads="1"/>
          </p:cNvSpPr>
          <p:nvPr/>
        </p:nvSpPr>
        <p:spPr bwMode="auto">
          <a:xfrm>
            <a:off x="4176744" y="4679927"/>
            <a:ext cx="4679950" cy="21907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Refonte du projet avec </a:t>
            </a:r>
            <a:r>
              <a:rPr lang="fr-FR" dirty="0" err="1" smtClean="0"/>
              <a:t>Symfony</a:t>
            </a:r>
            <a:r>
              <a:rPr lang="fr-FR" dirty="0" smtClean="0"/>
              <a:t> </a:t>
            </a:r>
            <a:r>
              <a:rPr lang="fr-FR" dirty="0"/>
              <a:t>Ajax – PHP</a:t>
            </a:r>
          </a:p>
        </p:txBody>
      </p:sp>
      <p:sp>
        <p:nvSpPr>
          <p:cNvPr id="6200" name="Rectangle 56"/>
          <p:cNvSpPr>
            <a:spLocks noChangeArrowheads="1"/>
          </p:cNvSpPr>
          <p:nvPr/>
        </p:nvSpPr>
        <p:spPr bwMode="auto">
          <a:xfrm>
            <a:off x="4176744" y="5400652"/>
            <a:ext cx="4535487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 err="1" smtClean="0"/>
              <a:t>Symfony</a:t>
            </a:r>
            <a:r>
              <a:rPr lang="fr-FR" dirty="0" smtClean="0"/>
              <a:t>  </a:t>
            </a:r>
            <a:r>
              <a:rPr lang="fr-FR" dirty="0"/>
              <a:t>– PHP – flash </a:t>
            </a:r>
            <a:r>
              <a:rPr lang="fr-FR" dirty="0" smtClean="0"/>
              <a:t>- </a:t>
            </a:r>
            <a:r>
              <a:rPr lang="fr-FR" dirty="0" err="1" smtClean="0"/>
              <a:t>flex</a:t>
            </a:r>
            <a:endParaRPr lang="fr-FR" dirty="0"/>
          </a:p>
        </p:txBody>
      </p:sp>
      <p:sp>
        <p:nvSpPr>
          <p:cNvPr id="6201" name="Rectangle 57"/>
          <p:cNvSpPr>
            <a:spLocks noChangeArrowheads="1"/>
          </p:cNvSpPr>
          <p:nvPr/>
        </p:nvSpPr>
        <p:spPr bwMode="auto">
          <a:xfrm>
            <a:off x="7056469" y="5040289"/>
            <a:ext cx="1800225" cy="21431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Bilingue</a:t>
            </a:r>
          </a:p>
        </p:txBody>
      </p:sp>
      <p:sp>
        <p:nvSpPr>
          <p:cNvPr id="6186" name="Rectangle 42"/>
          <p:cNvSpPr>
            <a:spLocks noChangeArrowheads="1"/>
          </p:cNvSpPr>
          <p:nvPr/>
        </p:nvSpPr>
        <p:spPr bwMode="auto">
          <a:xfrm>
            <a:off x="5759481" y="144439"/>
            <a:ext cx="2520950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V3 </a:t>
            </a:r>
          </a:p>
          <a:p>
            <a:pPr algn="ctr"/>
            <a:r>
              <a:rPr lang="fr-FR" sz="1200" i="1">
                <a:solidFill>
                  <a:schemeClr val="bg2"/>
                </a:solidFill>
              </a:rPr>
              <a:t>V2 + PROJET</a:t>
            </a:r>
          </a:p>
        </p:txBody>
      </p:sp>
      <p:sp>
        <p:nvSpPr>
          <p:cNvPr id="6198" name="Rectangle 54"/>
          <p:cNvSpPr>
            <a:spLocks noChangeArrowheads="1"/>
          </p:cNvSpPr>
          <p:nvPr/>
        </p:nvSpPr>
        <p:spPr bwMode="auto">
          <a:xfrm>
            <a:off x="8351869" y="144439"/>
            <a:ext cx="720725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sz="1400" dirty="0"/>
              <a:t>B-Hive 2</a:t>
            </a:r>
          </a:p>
          <a:p>
            <a:pPr algn="ctr"/>
            <a:r>
              <a:rPr lang="fr-FR" sz="1200" i="1" dirty="0">
                <a:solidFill>
                  <a:schemeClr val="bg2"/>
                </a:solidFill>
              </a:rPr>
              <a:t>refonte</a:t>
            </a:r>
          </a:p>
        </p:txBody>
      </p:sp>
      <p:sp>
        <p:nvSpPr>
          <p:cNvPr id="6217" name="Rectangle 73"/>
          <p:cNvSpPr>
            <a:spLocks noChangeArrowheads="1"/>
          </p:cNvSpPr>
          <p:nvPr/>
        </p:nvSpPr>
        <p:spPr bwMode="auto">
          <a:xfrm>
            <a:off x="4032281" y="863577"/>
            <a:ext cx="2808288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 dirty="0"/>
              <a:t>V2 </a:t>
            </a:r>
            <a:r>
              <a:rPr lang="fr-FR" sz="1200" i="1" dirty="0">
                <a:solidFill>
                  <a:schemeClr val="bg2"/>
                </a:solidFill>
              </a:rPr>
              <a:t>page &lt;Nos clients&gt;</a:t>
            </a:r>
          </a:p>
        </p:txBody>
      </p:sp>
      <p:sp>
        <p:nvSpPr>
          <p:cNvPr id="6188" name="Rectangle 44"/>
          <p:cNvSpPr>
            <a:spLocks noChangeArrowheads="1"/>
          </p:cNvSpPr>
          <p:nvPr/>
        </p:nvSpPr>
        <p:spPr bwMode="auto">
          <a:xfrm>
            <a:off x="3743356" y="1728764"/>
            <a:ext cx="1441450" cy="576263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fr-FR"/>
              <a:t>5</a:t>
            </a:r>
            <a:r>
              <a:rPr lang="fr-FR" sz="1400"/>
              <a:t>-10</a:t>
            </a:r>
          </a:p>
          <a:p>
            <a:pPr algn="ctr"/>
            <a:r>
              <a:rPr lang="fr-FR" sz="1200" i="1">
                <a:solidFill>
                  <a:schemeClr val="bg2"/>
                </a:solidFill>
              </a:rPr>
              <a:t>10.000€ </a:t>
            </a:r>
            <a:r>
              <a:rPr lang="fr-FR" sz="1000" i="1">
                <a:solidFill>
                  <a:schemeClr val="bg2"/>
                </a:solidFill>
              </a:rPr>
              <a:t>- 20.000€</a:t>
            </a:r>
          </a:p>
        </p:txBody>
      </p:sp>
      <p:sp>
        <p:nvSpPr>
          <p:cNvPr id="6228" name="Line 84"/>
          <p:cNvSpPr>
            <a:spLocks noChangeShapeType="1"/>
          </p:cNvSpPr>
          <p:nvPr/>
        </p:nvSpPr>
        <p:spPr bwMode="auto">
          <a:xfrm>
            <a:off x="3527456" y="142852"/>
            <a:ext cx="2159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29" name="Line 85"/>
          <p:cNvSpPr>
            <a:spLocks noChangeShapeType="1"/>
          </p:cNvSpPr>
          <p:nvPr/>
        </p:nvSpPr>
        <p:spPr bwMode="auto">
          <a:xfrm>
            <a:off x="3527456" y="719114"/>
            <a:ext cx="2159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30" name="Line 86"/>
          <p:cNvSpPr>
            <a:spLocks noChangeShapeType="1"/>
          </p:cNvSpPr>
          <p:nvPr/>
        </p:nvSpPr>
        <p:spPr bwMode="auto">
          <a:xfrm>
            <a:off x="5543581" y="142852"/>
            <a:ext cx="2159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231" name="Line 87"/>
          <p:cNvSpPr>
            <a:spLocks noChangeShapeType="1"/>
          </p:cNvSpPr>
          <p:nvPr/>
        </p:nvSpPr>
        <p:spPr bwMode="auto">
          <a:xfrm>
            <a:off x="5543581" y="719114"/>
            <a:ext cx="2159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74" name="Line 81"/>
          <p:cNvSpPr>
            <a:spLocks noChangeShapeType="1"/>
          </p:cNvSpPr>
          <p:nvPr/>
        </p:nvSpPr>
        <p:spPr bwMode="auto">
          <a:xfrm>
            <a:off x="7000892" y="1071546"/>
            <a:ext cx="0" cy="21590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171</Words>
  <Application>Microsoft Office PowerPoint</Application>
  <PresentationFormat>Affichage à l'écran (4:3)</PresentationFormat>
  <Paragraphs>59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Modèle par défaut</vt:lpstr>
      <vt:lpstr>Diapositive 1</vt:lpstr>
    </vt:vector>
  </TitlesOfParts>
  <Company>Supermarchés MATCH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lhermez</dc:creator>
  <cp:lastModifiedBy>Madgic</cp:lastModifiedBy>
  <cp:revision>30</cp:revision>
  <dcterms:created xsi:type="dcterms:W3CDTF">2008-10-16T11:10:52Z</dcterms:created>
  <dcterms:modified xsi:type="dcterms:W3CDTF">2008-11-13T19:15:41Z</dcterms:modified>
</cp:coreProperties>
</file>