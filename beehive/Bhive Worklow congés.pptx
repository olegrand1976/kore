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1" r:id="rId2"/>
    <p:sldId id="292" r:id="rId3"/>
    <p:sldId id="310" r:id="rId4"/>
    <p:sldId id="330" r:id="rId5"/>
    <p:sldId id="318" r:id="rId6"/>
    <p:sldId id="319" r:id="rId7"/>
    <p:sldId id="320" r:id="rId8"/>
    <p:sldId id="321" r:id="rId9"/>
    <p:sldId id="322" r:id="rId10"/>
    <p:sldId id="323" r:id="rId11"/>
    <p:sldId id="331" r:id="rId12"/>
    <p:sldId id="332" r:id="rId13"/>
    <p:sldId id="296" r:id="rId14"/>
    <p:sldId id="302" r:id="rId15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11/06/2013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bhive.f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Gsm 33 (0)6 63 39 31 15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staff@beesoftware.net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554465" y="5984803"/>
            <a:ext cx="13572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</a:t>
            </a:r>
            <a:r>
              <a:rPr lang="fr-FR" sz="1000" dirty="0" smtClean="0"/>
              <a:t>2013</a:t>
            </a:r>
            <a:endParaRPr lang="fr-FR" sz="1000" dirty="0"/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428736"/>
            <a:ext cx="60007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B-</a:t>
            </a:r>
            <a:r>
              <a:rPr lang="fr-FR" sz="6000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Hive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r>
              <a:rPr lang="fr-FR" sz="48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Gestion des congés</a:t>
            </a:r>
            <a:endParaRPr lang="fr-FR" sz="54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1643042" y="2072240"/>
            <a:ext cx="685804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 document doit vous permettre rapidement de démarrer avec B-Hive.</a:t>
            </a:r>
          </a:p>
          <a:p>
            <a:endParaRPr lang="fr-FR" sz="1600" dirty="0" smtClean="0"/>
          </a:p>
          <a:p>
            <a:r>
              <a:rPr lang="fr-FR" sz="1600" dirty="0" smtClean="0"/>
              <a:t>Il décrit en quelques étapes, les différentes interfaces permettant de gérer les congés de vos collaborateurs</a:t>
            </a:r>
          </a:p>
          <a:p>
            <a:endParaRPr lang="fr-FR" sz="1600" dirty="0" smtClean="0"/>
          </a:p>
          <a:p>
            <a:r>
              <a:rPr lang="fr-FR" sz="1600" dirty="0" smtClean="0"/>
              <a:t>Dans ce scénario, nous avons créé 2 utilisateurs ayant le compte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suivant:</a:t>
            </a:r>
          </a:p>
          <a:p>
            <a:pPr>
              <a:buFontTx/>
              <a:buChar char="-"/>
            </a:pPr>
            <a:r>
              <a:rPr lang="fr-FR" sz="1600" dirty="0" smtClean="0"/>
              <a:t>TES_DRH : C’est le responsable du service, il nomme M. DRH Test</a:t>
            </a:r>
          </a:p>
          <a:p>
            <a:pPr>
              <a:buFontTx/>
              <a:buChar char="-"/>
            </a:pPr>
            <a:r>
              <a:rPr lang="fr-FR" sz="1600" dirty="0" smtClean="0"/>
              <a:t>TES_RH : C’est collaborateur travaillant dans l’équipe de M. DRH, il se nomme M. RH Test</a:t>
            </a:r>
          </a:p>
          <a:p>
            <a:pPr>
              <a:buFontTx/>
              <a:buChar char="-"/>
            </a:pP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Pour tester, il vous suffit de vous connecter sur </a:t>
            </a:r>
            <a:r>
              <a:rPr lang="fr-FR" sz="1600" dirty="0" smtClean="0">
                <a:hlinkClick r:id="rId4"/>
              </a:rPr>
              <a:t>http://www.bhive.fr</a:t>
            </a: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Les 2 comptes </a:t>
            </a:r>
            <a:r>
              <a:rPr lang="fr-FR" sz="1600" dirty="0" err="1" smtClean="0"/>
              <a:t>Bhive</a:t>
            </a:r>
            <a:r>
              <a:rPr lang="fr-FR" sz="1600" dirty="0" smtClean="0"/>
              <a:t> utilisent le même mot de passe : </a:t>
            </a:r>
            <a:r>
              <a:rPr lang="fr-FR" sz="1600" dirty="0" err="1" smtClean="0"/>
              <a:t>bhive</a:t>
            </a:r>
            <a:r>
              <a:rPr lang="fr-FR" sz="1600" smtClean="0"/>
              <a:t>@2013</a:t>
            </a:r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financier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Collaborateur pose ses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42976" y="4714884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gestion des congés est entièrement personnalisable. Mais l’interface pour votre collaborateur reste simplifiée et rapide.</a:t>
            </a:r>
          </a:p>
          <a:p>
            <a:endParaRPr lang="fr-FR" sz="1600" dirty="0" smtClean="0"/>
          </a:p>
          <a:p>
            <a:pPr algn="ctr"/>
            <a:r>
              <a:rPr lang="fr-FR" sz="1600" b="1" dirty="0" smtClean="0"/>
              <a:t>B-</a:t>
            </a:r>
            <a:r>
              <a:rPr lang="fr-FR" sz="1600" b="1" dirty="0" err="1" smtClean="0"/>
              <a:t>Hive</a:t>
            </a:r>
            <a:r>
              <a:rPr lang="fr-FR" sz="1600" b="1" dirty="0" smtClean="0"/>
              <a:t> ne demande aucune formation</a:t>
            </a:r>
          </a:p>
          <a:p>
            <a:endParaRPr lang="fr-FR" sz="1600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1643050"/>
            <a:ext cx="65246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143108" y="1714488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428728" y="2571744"/>
            <a:ext cx="1071570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Collaborateur pose ses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42976" y="4714884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Après avoir créé sa demande de congés, son responsable hiérarchique va recevoir un mail, et pourra ainsi valider sa demande</a:t>
            </a:r>
          </a:p>
          <a:p>
            <a:endParaRPr lang="fr-FR" sz="1600" dirty="0" smtClean="0"/>
          </a:p>
          <a:p>
            <a:r>
              <a:rPr lang="fr-FR" sz="1600" dirty="0" smtClean="0"/>
              <a:t>C’est seulement à ce moment que le collaborateur verra sa demande dans sa feuille de temps</a:t>
            </a:r>
          </a:p>
          <a:p>
            <a:endParaRPr lang="fr-FR" sz="1600" dirty="0" smtClean="0"/>
          </a:p>
          <a:p>
            <a:pPr algn="ctr"/>
            <a:r>
              <a:rPr lang="fr-FR" sz="1600" b="1" dirty="0" smtClean="0"/>
              <a:t>Il n’a donc pas à la ressaisir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1600205"/>
            <a:ext cx="58769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2428860" y="2786058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14414" y="3931042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demande est créée.</a:t>
            </a:r>
          </a:p>
          <a:p>
            <a:r>
              <a:rPr lang="fr-FR" sz="1600" dirty="0" smtClean="0"/>
              <a:t>Votre collaborateur peut suivre toutes ses demandes des congés validée ou en cours.</a:t>
            </a:r>
          </a:p>
          <a:p>
            <a:endParaRPr lang="fr-FR" sz="1600" dirty="0" smtClean="0"/>
          </a:p>
          <a:p>
            <a:r>
              <a:rPr lang="fr-FR" sz="1600" dirty="0" smtClean="0"/>
              <a:t>La gestion des demandes de congés est enfantin grâce  à B-</a:t>
            </a:r>
            <a:r>
              <a:rPr lang="fr-FR" sz="1600" dirty="0" err="1" smtClean="0"/>
              <a:t>Hive</a:t>
            </a:r>
            <a:r>
              <a:rPr lang="fr-FR" sz="1600" dirty="0" smtClean="0"/>
              <a:t>. </a:t>
            </a:r>
          </a:p>
          <a:p>
            <a:r>
              <a:rPr lang="fr-FR" sz="1600" dirty="0" smtClean="0"/>
              <a:t>Vos collaborateurs poseront plus tôt leur demande vous facilitant ainsi vos plannings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Collaborateur pose ses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3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8100" y="2000240"/>
            <a:ext cx="91821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responsable de service valide les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 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2143116"/>
            <a:ext cx="57912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1142976" y="3929066"/>
            <a:ext cx="71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En plus de recevoir un mail, la demande de congés s’affiche à l’ouverture de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.</a:t>
            </a:r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Votre responsable sera réactif pour valider la demande de congés</a:t>
            </a:r>
          </a:p>
          <a:p>
            <a:endParaRPr lang="fr-FR" sz="1600" b="1" dirty="0" smtClean="0"/>
          </a:p>
          <a:p>
            <a:r>
              <a:rPr lang="fr-FR" sz="1600" dirty="0" smtClean="0"/>
              <a:t>Il peut s’il le souhaite, vérifier le planning ou les compteurs de toute son équipe.</a:t>
            </a:r>
          </a:p>
          <a:p>
            <a:endParaRPr lang="fr-FR" sz="16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428860" y="2714620"/>
            <a:ext cx="1571636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Optimisation des données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responsable de service valide les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 – Vérifier le planning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4" y="1857364"/>
            <a:ext cx="62293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1142976" y="3929066"/>
            <a:ext cx="71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validation des congés peut dépendre de la présence de toute une équipe.</a:t>
            </a:r>
          </a:p>
          <a:p>
            <a:r>
              <a:rPr lang="fr-FR" sz="1600" dirty="0" smtClean="0"/>
              <a:t>B-</a:t>
            </a:r>
            <a:r>
              <a:rPr lang="fr-FR" sz="1600" dirty="0" err="1" smtClean="0"/>
              <a:t>Hive</a:t>
            </a:r>
            <a:r>
              <a:rPr lang="fr-FR" sz="1600" dirty="0" smtClean="0"/>
              <a:t> vous permet rapidement de consulter ou d’imprimer le planning des demandes d’absences avec les congés en attente et  les congés validés.</a:t>
            </a:r>
          </a:p>
          <a:p>
            <a:endParaRPr lang="fr-FR" sz="1600" dirty="0" smtClean="0"/>
          </a:p>
          <a:p>
            <a:r>
              <a:rPr lang="fr-FR" sz="1600" dirty="0" smtClean="0"/>
              <a:t>Ce planning permet également la validation des demandes d’absences</a:t>
            </a:r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Aucune action de consolidation</a:t>
            </a:r>
          </a:p>
          <a:p>
            <a:pPr algn="ctr"/>
            <a:r>
              <a:rPr lang="fr-FR" sz="1600" b="1" dirty="0" smtClean="0"/>
              <a:t>Un planning en temps réel pour une réactivité optimale</a:t>
            </a:r>
          </a:p>
          <a:p>
            <a:endParaRPr lang="fr-FR" sz="1600" b="1" dirty="0" smtClean="0"/>
          </a:p>
        </p:txBody>
      </p:sp>
      <p:sp>
        <p:nvSpPr>
          <p:cNvPr id="8" name="Rectangle 7"/>
          <p:cNvSpPr/>
          <p:nvPr/>
        </p:nvSpPr>
        <p:spPr>
          <a:xfrm>
            <a:off x="4786314" y="2143116"/>
            <a:ext cx="242889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responsable de service valide les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3 – Vérifier les compteurs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2000240"/>
            <a:ext cx="67722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786182" y="2643182"/>
            <a:ext cx="2500330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1142976" y="4121072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Consulter et augmenter les compteurs d’absence.</a:t>
            </a:r>
          </a:p>
          <a:p>
            <a:r>
              <a:rPr lang="fr-FR" sz="1600" dirty="0" smtClean="0"/>
              <a:t>B-</a:t>
            </a:r>
            <a:r>
              <a:rPr lang="fr-FR" sz="1600" dirty="0" err="1" smtClean="0"/>
              <a:t>Hive</a:t>
            </a:r>
            <a:r>
              <a:rPr lang="fr-FR" sz="1600" dirty="0" smtClean="0"/>
              <a:t> vous propose un vue synthétique et paramétrable à volonté</a:t>
            </a:r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Gérer simplement les compteurs d’absence</a:t>
            </a:r>
          </a:p>
          <a:p>
            <a:endParaRPr lang="fr-FR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responsable de service valide les congés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 – Validation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5050" y="1619259"/>
            <a:ext cx="45339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1142976" y="4716860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L’interface de validation reste simple mais très fonctionnelle.</a:t>
            </a:r>
          </a:p>
          <a:p>
            <a:r>
              <a:rPr lang="fr-FR" sz="1600" dirty="0" smtClean="0"/>
              <a:t>Il permet de reconfigurer les jours accordés, de connaitre les compteurs restants et de valider</a:t>
            </a:r>
          </a:p>
          <a:p>
            <a:pPr algn="ctr"/>
            <a:r>
              <a:rPr lang="fr-FR" sz="1600" b="1" dirty="0" smtClean="0"/>
              <a:t>La transparence en temps réel</a:t>
            </a:r>
          </a:p>
          <a:p>
            <a:r>
              <a:rPr lang="fr-FR" sz="1600" dirty="0" smtClean="0"/>
              <a:t>Un mail est envoyé automatiquement après la validation ou le refus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Créer votre produit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collaborateur valide sa feuille de temps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2143116"/>
            <a:ext cx="69913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1142976" y="4214818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feuille de temps est pré-remplie par toutes les activités définies dans B-</a:t>
            </a:r>
            <a:r>
              <a:rPr lang="fr-FR" sz="1600" dirty="0" err="1" smtClean="0"/>
              <a:t>Hive</a:t>
            </a:r>
            <a:endParaRPr lang="fr-FR" sz="1600" dirty="0" smtClean="0"/>
          </a:p>
          <a:p>
            <a:r>
              <a:rPr lang="fr-FR" sz="1600" dirty="0" smtClean="0"/>
              <a:t>(Mission SSII – Bug – Ticket d’intervention – Absence – Jour férié )</a:t>
            </a:r>
          </a:p>
          <a:p>
            <a:r>
              <a:rPr lang="fr-FR" sz="1600" dirty="0" smtClean="0"/>
              <a:t>Cependant, il peut ajouter des données comme des RTT, des arrêts maladies, </a:t>
            </a:r>
            <a:r>
              <a:rPr lang="fr-FR" sz="1600" dirty="0" err="1" smtClean="0"/>
              <a:t>etc</a:t>
            </a:r>
            <a:r>
              <a:rPr lang="fr-FR" sz="1600" dirty="0" smtClean="0"/>
              <a:t> ..</a:t>
            </a:r>
          </a:p>
          <a:p>
            <a:pPr algn="ctr"/>
            <a:endParaRPr lang="fr-FR" sz="1600" b="1" dirty="0" smtClean="0"/>
          </a:p>
          <a:p>
            <a:pPr algn="ctr"/>
            <a:r>
              <a:rPr lang="fr-FR" sz="1600" b="1" dirty="0" smtClean="0"/>
              <a:t>Réutilisation des données – Aucune ressaisie inutile</a:t>
            </a:r>
          </a:p>
          <a:p>
            <a:endParaRPr lang="fr-FR" sz="1600" dirty="0" smtClean="0"/>
          </a:p>
          <a:p>
            <a:r>
              <a:rPr lang="fr-FR" sz="1600" dirty="0" smtClean="0"/>
              <a:t>Il vérifie rapidement puis il valide.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3 logiciels en 1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1- Organigramme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357290" y="5000636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Créez simplement vos utilisateurs dans un organigramme.</a:t>
            </a:r>
          </a:p>
          <a:p>
            <a:r>
              <a:rPr lang="fr-FR" sz="1600" dirty="0" smtClean="0"/>
              <a:t>Le premier niveau indique les responsables de la société</a:t>
            </a:r>
          </a:p>
          <a:p>
            <a:r>
              <a:rPr lang="fr-FR" sz="1600" dirty="0" smtClean="0"/>
              <a:t>Le second niveau indique les responsables des sites ou d’agences</a:t>
            </a:r>
          </a:p>
          <a:p>
            <a:r>
              <a:rPr lang="fr-FR" sz="1600" dirty="0" smtClean="0"/>
              <a:t>Le troisième niveau indique les responsables de service</a:t>
            </a:r>
          </a:p>
          <a:p>
            <a:r>
              <a:rPr lang="fr-FR" sz="1600" dirty="0" smtClean="0"/>
              <a:t>Et enfin le dernier liste les collaborateurs du service.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24063" y="1938338"/>
            <a:ext cx="50958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713044"/>
            <a:ext cx="56435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Ticket / Feuille de temps / Budget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2- Les demandes d’absences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142976" y="4214818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Personnaliser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: </a:t>
            </a:r>
          </a:p>
          <a:p>
            <a:r>
              <a:rPr lang="fr-FR" sz="1600" dirty="0" smtClean="0"/>
              <a:t>Vous pouvez choisir les types d’absences dont vous souhaitez utiliser.</a:t>
            </a:r>
          </a:p>
          <a:p>
            <a:r>
              <a:rPr lang="fr-FR" sz="1600" dirty="0" smtClean="0"/>
              <a:t>Vous pouvez mettre en place :</a:t>
            </a:r>
          </a:p>
          <a:p>
            <a:pPr>
              <a:buFontTx/>
              <a:buChar char="-"/>
            </a:pPr>
            <a:r>
              <a:rPr lang="fr-FR" sz="1600" dirty="0" smtClean="0"/>
              <a:t>une procédure de validation [la demande d’absence], avec un nombre de jour accordé sur des périodes</a:t>
            </a:r>
          </a:p>
          <a:p>
            <a:pPr>
              <a:buFontTx/>
              <a:buChar char="-"/>
            </a:pPr>
            <a:r>
              <a:rPr lang="fr-FR" sz="1600" dirty="0" smtClean="0"/>
              <a:t> une saisie libre dans la feuille de temps, il n’y a donc pas de contrôle.</a:t>
            </a:r>
          </a:p>
          <a:p>
            <a:pPr>
              <a:buFontTx/>
              <a:buChar char="-"/>
            </a:pPr>
            <a:endParaRPr lang="fr-FR" sz="1600" dirty="0" smtClean="0"/>
          </a:p>
          <a:p>
            <a:pPr algn="ctr"/>
            <a:r>
              <a:rPr lang="fr-FR" sz="1600" b="1" dirty="0" smtClean="0"/>
              <a:t>Aucune contrainte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8" y="1643050"/>
            <a:ext cx="8715404" cy="2430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63 39 </a:t>
            </a:r>
            <a:r>
              <a:rPr lang="fr-FR" sz="1800" smtClean="0">
                <a:latin typeface="Calibri" pitchFamily="34" charset="0"/>
              </a:rPr>
              <a:t>31 15</a:t>
            </a:r>
            <a:endParaRPr lang="fr-FR" sz="1800" dirty="0" smtClean="0">
              <a:latin typeface="Calibri" pitchFamily="34" charset="0"/>
            </a:endParaRP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staff@beesoftware.net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/>
              <a:t>Copyright © </a:t>
            </a:r>
            <a:r>
              <a:rPr lang="en-US" sz="1100" dirty="0" smtClean="0"/>
              <a:t>2013 </a:t>
            </a:r>
            <a:r>
              <a:rPr lang="en-US" sz="1100" dirty="0"/>
              <a:t>beesoftware.net. All Rights Reserved</a:t>
            </a:r>
            <a:endParaRPr lang="fr-FR" sz="1100" dirty="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4254</TotalTime>
  <Words>722</Words>
  <Application>Microsoft PowerPoint</Application>
  <PresentationFormat>Affichage à l'écran (4:3)</PresentationFormat>
  <Paragraphs>117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395</cp:revision>
  <dcterms:created xsi:type="dcterms:W3CDTF">2008-08-18T15:51:12Z</dcterms:created>
  <dcterms:modified xsi:type="dcterms:W3CDTF">2013-06-11T11:27:27Z</dcterms:modified>
</cp:coreProperties>
</file>