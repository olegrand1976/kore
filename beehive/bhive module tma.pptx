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91" r:id="rId2"/>
    <p:sldId id="292" r:id="rId3"/>
    <p:sldId id="310" r:id="rId4"/>
    <p:sldId id="312" r:id="rId5"/>
    <p:sldId id="318" r:id="rId6"/>
    <p:sldId id="319" r:id="rId7"/>
    <p:sldId id="313" r:id="rId8"/>
    <p:sldId id="293" r:id="rId9"/>
    <p:sldId id="315" r:id="rId10"/>
    <p:sldId id="321" r:id="rId11"/>
    <p:sldId id="295" r:id="rId12"/>
    <p:sldId id="320" r:id="rId13"/>
    <p:sldId id="316" r:id="rId14"/>
    <p:sldId id="294" r:id="rId15"/>
    <p:sldId id="304" r:id="rId16"/>
    <p:sldId id="317" r:id="rId17"/>
    <p:sldId id="305" r:id="rId18"/>
    <p:sldId id="306" r:id="rId19"/>
    <p:sldId id="307" r:id="rId20"/>
    <p:sldId id="308" r:id="rId21"/>
    <p:sldId id="309" r:id="rId22"/>
    <p:sldId id="296" r:id="rId23"/>
    <p:sldId id="302" r:id="rId24"/>
  </p:sldIdLst>
  <p:sldSz cx="9144000" cy="6858000" type="screen4x3"/>
  <p:notesSz cx="9144000" cy="6858000"/>
  <p:defaultTextStyle>
    <a:defPPr>
      <a:defRPr lang="en-GB"/>
    </a:defPPr>
    <a:lvl1pPr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66CCFF"/>
    <a:srgbClr val="A50021"/>
    <a:srgbClr val="3028D0"/>
  </p:clrMru>
</p:presentationPr>
</file>

<file path=ppt/tableStyles.xml><?xml version="1.0" encoding="utf-8"?>
<a:tblStyleLst xmlns:a="http://schemas.openxmlformats.org/drawingml/2006/main" def="{5C22544A-7EE6-4342-B048-85BDC9FD1C3A}">
  <a:tblStyle styleId="{D03447BB-5D67-496B-8E87-E561075AD55C}" styleName="Style foncé 1 - Accentuation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4801" autoAdjust="0"/>
    <p:restoredTop sz="87207" autoAdjust="0"/>
  </p:normalViewPr>
  <p:slideViewPr>
    <p:cSldViewPr>
      <p:cViewPr>
        <p:scale>
          <a:sx n="70" d="100"/>
          <a:sy n="70" d="100"/>
        </p:scale>
        <p:origin x="-1566" y="-2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dirty="0"/>
            </a:lvl1pPr>
          </a:lstStyle>
          <a:p>
            <a:pPr>
              <a:defRPr/>
            </a:pPr>
            <a:endParaRPr lang="fr-FR"/>
          </a:p>
        </p:txBody>
      </p:sp>
      <p:sp>
        <p:nvSpPr>
          <p:cNvPr id="3" name="Espace réservé de la date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a:defRPr/>
            </a:pPr>
            <a:fld id="{CD96D707-4BF9-4416-815E-7FBB62B5D3FB}" type="datetimeFigureOut">
              <a:rPr lang="fr-FR"/>
              <a:pPr>
                <a:defRPr/>
              </a:pPr>
              <a:t>16/12/2009</a:t>
            </a:fld>
            <a:endParaRPr lang="fr-FR" dirty="0"/>
          </a:p>
        </p:txBody>
      </p:sp>
      <p:sp>
        <p:nvSpPr>
          <p:cNvPr id="4" name="Espace réservé de l'image des diapositives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fr-FR" noProof="0" dirty="0" smtClean="0"/>
          </a:p>
        </p:txBody>
      </p:sp>
      <p:sp>
        <p:nvSpPr>
          <p:cNvPr id="5" name="Espace réservé des commentaires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 name="Espace réservé du pied de page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dirty="0"/>
            </a:lvl1pPr>
          </a:lstStyle>
          <a:p>
            <a:pPr>
              <a:defRPr/>
            </a:pPr>
            <a:endParaRPr lang="fr-FR"/>
          </a:p>
        </p:txBody>
      </p:sp>
      <p:sp>
        <p:nvSpPr>
          <p:cNvPr id="7" name="Espace réservé du numéro de diapositive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pPr>
              <a:defRPr/>
            </a:pPr>
            <a:fld id="{B9C113EF-EFAE-4E56-A4CD-2354ECA62798}" type="slidenum">
              <a:rPr lang="fr-FR"/>
              <a:pPr>
                <a:defRPr/>
              </a:pPr>
              <a:t>‹N°›</a:t>
            </a:fld>
            <a:endParaRPr lang="fr-FR"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028"/>
            <a:ext cx="7772400" cy="1470422"/>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C7F701B-1A8E-4393-B155-FBB43ECA9A63}" type="slidenum">
              <a:rPr lang="en-GB"/>
              <a:pPr>
                <a:defRPr/>
              </a:pPr>
              <a:t>‹N°›</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9FE60B1-84BB-4F9C-A980-E51473995D04}" type="slidenum">
              <a:rPr lang="en-GB"/>
              <a:pPr>
                <a:defRPr/>
              </a:pPr>
              <a:t>‹N°›</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1784" y="4406504"/>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1784" y="2906316"/>
            <a:ext cx="7772400"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B5E90F4-C108-49B4-949C-C2E13BA695E5}" type="slidenum">
              <a:rPr lang="en-GB"/>
              <a:pPr>
                <a:defRPr/>
              </a:pPr>
              <a:t>‹N°›</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85800" y="1981200"/>
            <a:ext cx="3784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73600" y="1981200"/>
            <a:ext cx="3784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6BCFE6D-2A41-4831-A6C1-EAC601A88445}" type="slidenum">
              <a:rPr lang="en-GB"/>
              <a:pPr>
                <a:defRPr/>
              </a:pPr>
              <a:t>‹N°›</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5035"/>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4716"/>
            <a:ext cx="4040717" cy="64055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5272"/>
            <a:ext cx="4040717" cy="395049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6085" y="1534716"/>
            <a:ext cx="4040716" cy="64055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6085" y="2175272"/>
            <a:ext cx="4040716" cy="395049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107D94D4-AFC8-4770-BF7E-648C4A5DFFC4}" type="slidenum">
              <a:rPr lang="en-GB"/>
              <a:pPr>
                <a:defRPr/>
              </a:pPr>
              <a:t>‹N°›</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F044C9F1-5BD5-4DC2-8838-1EB259572760}" type="slidenum">
              <a:rPr lang="en-GB"/>
              <a:pPr>
                <a:defRPr/>
              </a:pPr>
              <a:t>‹N°›</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A66E74AD-B0B7-4E42-A636-484A2FD68FFA}" type="slidenum">
              <a:rPr lang="en-GB"/>
              <a:pPr>
                <a:defRPr/>
              </a:pPr>
              <a:t>‹N°›</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2654"/>
            <a:ext cx="3007784"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1" y="272653"/>
            <a:ext cx="511174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4703"/>
            <a:ext cx="30077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056BCDC-7445-46C4-9A39-7CF115F760DD}" type="slidenum">
              <a:rPr lang="en-GB"/>
              <a:pPr>
                <a:defRPr/>
              </a:pPr>
              <a:t>‹N°›</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817"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817" y="613172"/>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dirty="0" smtClean="0"/>
          </a:p>
        </p:txBody>
      </p:sp>
      <p:sp>
        <p:nvSpPr>
          <p:cNvPr id="4" name="Espace réservé du texte 3"/>
          <p:cNvSpPr>
            <a:spLocks noGrp="1"/>
          </p:cNvSpPr>
          <p:nvPr>
            <p:ph type="body" sz="half" idx="2"/>
          </p:nvPr>
        </p:nvSpPr>
        <p:spPr>
          <a:xfrm>
            <a:off x="1792817" y="5367337"/>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69B2B7A-534A-4F86-9D30-7DBAD6B9B942}" type="slidenum">
              <a:rPr lang="en-GB"/>
              <a:pPr>
                <a:defRPr/>
              </a:pPr>
              <a:t>‹N°›</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570424D-4E16-40E1-AB72-499712588C95}" type="slidenum">
              <a:rPr lang="en-GB"/>
              <a:pPr>
                <a:defRPr/>
              </a:pPr>
              <a:t>‹N°›</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1" y="609600"/>
            <a:ext cx="1943100" cy="5486400"/>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85801" y="609600"/>
            <a:ext cx="5626100" cy="5486400"/>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2173EF7-CF1F-4008-B78B-0AC241F12776}" type="slidenum">
              <a:rPr lang="en-GB"/>
              <a:pPr>
                <a:defRPr/>
              </a:pPr>
              <a:t>‹N°›</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Cliquez pour modifier le style du titre du masque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Cliquez pour modifier les styles du texte du masque</a:t>
            </a:r>
          </a:p>
          <a:p>
            <a:pPr lvl="1"/>
            <a:r>
              <a:rPr lang="en-GB" smtClean="0"/>
              <a:t>Deuxième niveau</a:t>
            </a:r>
          </a:p>
          <a:p>
            <a:pPr lvl="2"/>
            <a:r>
              <a:rPr lang="en-GB" smtClean="0"/>
              <a:t>Troisième niveau</a:t>
            </a:r>
          </a:p>
          <a:p>
            <a:pPr lvl="3"/>
            <a:r>
              <a:rPr lang="en-GB" smtClean="0"/>
              <a:t>Quatrième niveau</a:t>
            </a:r>
          </a:p>
          <a:p>
            <a:pPr lvl="4"/>
            <a:r>
              <a:rPr lang="en-GB" smtClean="0"/>
              <a:t>Cinquième niveau</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dirty="0">
                <a:latin typeface="Times New Roman" charset="0"/>
                <a:cs typeface="Times New Roman" charset="0"/>
              </a:defRPr>
            </a:lvl1pPr>
          </a:lstStyle>
          <a:p>
            <a:pPr>
              <a:defRPr/>
            </a:pPr>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dirty="0">
                <a:latin typeface="Times New Roman" charset="0"/>
                <a:cs typeface="Times New Roman" charset="0"/>
              </a:defRPr>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cs typeface="Times New Roman" charset="0"/>
              </a:defRPr>
            </a:lvl1pPr>
          </a:lstStyle>
          <a:p>
            <a:pPr>
              <a:defRPr/>
            </a:pPr>
            <a:fld id="{6C8F8472-4403-4D36-A783-8BB39D8EEF98}" type="slidenum">
              <a:rPr lang="en-GB"/>
              <a:pPr>
                <a:defRPr/>
              </a:pPr>
              <a:t>‹N°›</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cs typeface="Times New Roman" charset="0"/>
        </a:defRPr>
      </a:lvl2pPr>
      <a:lvl3pPr algn="ctr" rtl="0" eaLnBrk="0" fontAlgn="base" hangingPunct="0">
        <a:spcBef>
          <a:spcPct val="0"/>
        </a:spcBef>
        <a:spcAft>
          <a:spcPct val="0"/>
        </a:spcAft>
        <a:defRPr sz="4400">
          <a:solidFill>
            <a:schemeClr val="tx2"/>
          </a:solidFill>
          <a:latin typeface="Times New Roman" charset="0"/>
          <a:cs typeface="Times New Roman" charset="0"/>
        </a:defRPr>
      </a:lvl3pPr>
      <a:lvl4pPr algn="ctr" rtl="0" eaLnBrk="0" fontAlgn="base" hangingPunct="0">
        <a:spcBef>
          <a:spcPct val="0"/>
        </a:spcBef>
        <a:spcAft>
          <a:spcPct val="0"/>
        </a:spcAft>
        <a:defRPr sz="4400">
          <a:solidFill>
            <a:schemeClr val="tx2"/>
          </a:solidFill>
          <a:latin typeface="Times New Roman" charset="0"/>
          <a:cs typeface="Times New Roman" charset="0"/>
        </a:defRPr>
      </a:lvl4pPr>
      <a:lvl5pPr algn="ctr" rtl="0" eaLnBrk="0" fontAlgn="base" hangingPunct="0">
        <a:spcBef>
          <a:spcPct val="0"/>
        </a:spcBef>
        <a:spcAft>
          <a:spcPct val="0"/>
        </a:spcAft>
        <a:defRPr sz="4400">
          <a:solidFill>
            <a:schemeClr val="tx2"/>
          </a:solidFill>
          <a:latin typeface="Times New Roman" charset="0"/>
          <a:cs typeface="Times New Roman" charset="0"/>
        </a:defRPr>
      </a:lvl5pPr>
      <a:lvl6pPr marL="457200" algn="ctr" rtl="0" fontAlgn="base">
        <a:spcBef>
          <a:spcPct val="0"/>
        </a:spcBef>
        <a:spcAft>
          <a:spcPct val="0"/>
        </a:spcAft>
        <a:defRPr sz="4400">
          <a:solidFill>
            <a:schemeClr val="tx2"/>
          </a:solidFill>
          <a:latin typeface="Times New Roman" charset="0"/>
          <a:cs typeface="Times New Roman" charset="0"/>
        </a:defRPr>
      </a:lvl6pPr>
      <a:lvl7pPr marL="914400" algn="ctr" rtl="0" fontAlgn="base">
        <a:spcBef>
          <a:spcPct val="0"/>
        </a:spcBef>
        <a:spcAft>
          <a:spcPct val="0"/>
        </a:spcAft>
        <a:defRPr sz="4400">
          <a:solidFill>
            <a:schemeClr val="tx2"/>
          </a:solidFill>
          <a:latin typeface="Times New Roman" charset="0"/>
          <a:cs typeface="Times New Roman" charset="0"/>
        </a:defRPr>
      </a:lvl7pPr>
      <a:lvl8pPr marL="1371600" algn="ctr" rtl="0" fontAlgn="base">
        <a:spcBef>
          <a:spcPct val="0"/>
        </a:spcBef>
        <a:spcAft>
          <a:spcPct val="0"/>
        </a:spcAft>
        <a:defRPr sz="4400">
          <a:solidFill>
            <a:schemeClr val="tx2"/>
          </a:solidFill>
          <a:latin typeface="Times New Roman" charset="0"/>
          <a:cs typeface="Times New Roman" charset="0"/>
        </a:defRPr>
      </a:lvl8pPr>
      <a:lvl9pPr marL="1828800" algn="ctr" rtl="0" fontAlgn="base">
        <a:spcBef>
          <a:spcPct val="0"/>
        </a:spcBef>
        <a:spcAft>
          <a:spcPct val="0"/>
        </a:spcAft>
        <a:defRPr sz="4400">
          <a:solidFill>
            <a:schemeClr val="tx2"/>
          </a:solidFill>
          <a:latin typeface="Times New Roman" charset="0"/>
          <a:cs typeface="Times New Roman"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6" name="ZoneTexte 5"/>
          <p:cNvSpPr txBox="1"/>
          <p:nvPr/>
        </p:nvSpPr>
        <p:spPr>
          <a:xfrm>
            <a:off x="6357938" y="1785938"/>
            <a:ext cx="2428875" cy="738187"/>
          </a:xfrm>
          <a:prstGeom prst="rect">
            <a:avLst/>
          </a:prstGeom>
          <a:noFill/>
        </p:spPr>
        <p:txBody>
          <a:bodyPr>
            <a:spAutoFit/>
          </a:bodyPr>
          <a:lstStyle/>
          <a:p>
            <a:pPr>
              <a:defRPr/>
            </a:pPr>
            <a:r>
              <a:rPr lang="fr-FR" sz="4200" dirty="0">
                <a:solidFill>
                  <a:schemeClr val="accent2">
                    <a:lumMod val="75000"/>
                  </a:schemeClr>
                </a:solidFill>
                <a:latin typeface="CordiaUPC" pitchFamily="34" charset="-34"/>
                <a:cs typeface="CordiaUPC" pitchFamily="34" charset="-34"/>
              </a:rPr>
              <a:t>Bee Software</a:t>
            </a:r>
          </a:p>
        </p:txBody>
      </p:sp>
      <p:sp>
        <p:nvSpPr>
          <p:cNvPr id="7175" name="ZoneTexte 3"/>
          <p:cNvSpPr txBox="1">
            <a:spLocks noChangeArrowheads="1"/>
          </p:cNvSpPr>
          <p:nvPr/>
        </p:nvSpPr>
        <p:spPr bwMode="auto">
          <a:xfrm>
            <a:off x="6429375" y="2527300"/>
            <a:ext cx="2286000" cy="1200329"/>
          </a:xfrm>
          <a:prstGeom prst="rect">
            <a:avLst/>
          </a:prstGeom>
          <a:noFill/>
          <a:ln w="9525">
            <a:noFill/>
            <a:miter lim="800000"/>
            <a:headEnd/>
            <a:tailEnd/>
          </a:ln>
        </p:spPr>
        <p:txBody>
          <a:bodyPr>
            <a:spAutoFit/>
          </a:bodyPr>
          <a:lstStyle/>
          <a:p>
            <a:pPr algn="ctr"/>
            <a:r>
              <a:rPr lang="fr-FR" sz="1200" dirty="0" smtClean="0">
                <a:latin typeface="Calibri" pitchFamily="34" charset="0"/>
              </a:rPr>
              <a:t>Tel. 33 (0)3 62 27 62 38</a:t>
            </a:r>
          </a:p>
          <a:p>
            <a:pPr algn="ctr"/>
            <a:r>
              <a:rPr lang="fr-FR" sz="1200" dirty="0" smtClean="0">
                <a:latin typeface="Calibri" pitchFamily="34" charset="0"/>
              </a:rPr>
              <a:t>Gsm 33 (0)6 26 08 62 84</a:t>
            </a:r>
          </a:p>
          <a:p>
            <a:pPr algn="ctr"/>
            <a:r>
              <a:rPr lang="fr-FR" sz="1200" dirty="0" smtClean="0">
                <a:latin typeface="Calibri" pitchFamily="34" charset="0"/>
              </a:rPr>
              <a:t>Fax. 33 (0)3 62 27 62 39</a:t>
            </a:r>
          </a:p>
          <a:p>
            <a:pPr algn="ctr"/>
            <a:endParaRPr lang="fr-FR" sz="1200" dirty="0" smtClean="0">
              <a:latin typeface="Calibri" pitchFamily="34" charset="0"/>
            </a:endParaRPr>
          </a:p>
          <a:p>
            <a:pPr algn="ctr"/>
            <a:r>
              <a:rPr lang="fr-FR" sz="1200" dirty="0" smtClean="0">
                <a:latin typeface="Calibri" pitchFamily="34" charset="0"/>
              </a:rPr>
              <a:t>E-mail. contact@beesoftware.net</a:t>
            </a:r>
          </a:p>
          <a:p>
            <a:pPr algn="ctr"/>
            <a:endParaRPr lang="fr-FR" sz="1200" dirty="0">
              <a:latin typeface="Calibri" pitchFamily="34" charset="0"/>
            </a:endParaRPr>
          </a:p>
        </p:txBody>
      </p:sp>
      <p:pic>
        <p:nvPicPr>
          <p:cNvPr id="7176" name="Image 11" descr="Bee-Software.jpg"/>
          <p:cNvPicPr>
            <a:picLocks noChangeAspect="1"/>
          </p:cNvPicPr>
          <p:nvPr/>
        </p:nvPicPr>
        <p:blipFill>
          <a:blip r:embed="rId3"/>
          <a:srcRect/>
          <a:stretch>
            <a:fillRect/>
          </a:stretch>
        </p:blipFill>
        <p:spPr bwMode="auto">
          <a:xfrm>
            <a:off x="6643688" y="5357813"/>
            <a:ext cx="2000250" cy="912812"/>
          </a:xfrm>
          <a:prstGeom prst="rect">
            <a:avLst/>
          </a:prstGeom>
          <a:noFill/>
          <a:ln w="9525">
            <a:noFill/>
            <a:miter lim="800000"/>
            <a:headEnd/>
            <a:tailEnd/>
          </a:ln>
        </p:spPr>
      </p:pic>
      <p:sp>
        <p:nvSpPr>
          <p:cNvPr id="7177" name="ZoneTexte 13"/>
          <p:cNvSpPr txBox="1">
            <a:spLocks noChangeArrowheads="1"/>
          </p:cNvSpPr>
          <p:nvPr/>
        </p:nvSpPr>
        <p:spPr bwMode="auto">
          <a:xfrm rot="5400000">
            <a:off x="-730250" y="5770563"/>
            <a:ext cx="1785938" cy="246062"/>
          </a:xfrm>
          <a:prstGeom prst="rect">
            <a:avLst/>
          </a:prstGeom>
          <a:noFill/>
          <a:ln w="9525">
            <a:noFill/>
            <a:miter lim="800000"/>
            <a:headEnd/>
            <a:tailEnd/>
          </a:ln>
        </p:spPr>
        <p:txBody>
          <a:bodyPr>
            <a:spAutoFit/>
          </a:bodyPr>
          <a:lstStyle/>
          <a:p>
            <a:r>
              <a:rPr lang="fr-FR" sz="1000" dirty="0" err="1"/>
              <a:t>Beesoftware</a:t>
            </a:r>
            <a:r>
              <a:rPr lang="fr-FR" sz="1000" dirty="0"/>
              <a:t> – Septembre 2008</a:t>
            </a:r>
          </a:p>
        </p:txBody>
      </p:sp>
      <p:sp>
        <p:nvSpPr>
          <p:cNvPr id="10" name="ZoneTexte 8"/>
          <p:cNvSpPr txBox="1">
            <a:spLocks noChangeArrowheads="1"/>
          </p:cNvSpPr>
          <p:nvPr/>
        </p:nvSpPr>
        <p:spPr bwMode="auto">
          <a:xfrm>
            <a:off x="857250" y="5572125"/>
            <a:ext cx="5000625" cy="830997"/>
          </a:xfrm>
          <a:prstGeom prst="rect">
            <a:avLst/>
          </a:prstGeom>
          <a:noFill/>
          <a:ln w="9525">
            <a:noFill/>
            <a:miter lim="800000"/>
            <a:headEnd/>
            <a:tailEnd/>
          </a:ln>
        </p:spPr>
        <p:txBody>
          <a:bodyPr>
            <a:spAutoFit/>
          </a:bodyPr>
          <a:lstStyle/>
          <a:p>
            <a:pPr>
              <a:defRPr/>
            </a:pPr>
            <a:r>
              <a:rPr lang="fr-FR" sz="4800" dirty="0" smtClean="0">
                <a:solidFill>
                  <a:schemeClr val="accent2">
                    <a:lumMod val="75000"/>
                  </a:schemeClr>
                </a:solidFill>
                <a:latin typeface="CordiaUPC" pitchFamily="34" charset="-34"/>
                <a:cs typeface="CordiaUPC" pitchFamily="34" charset="-34"/>
              </a:rPr>
              <a:t>www.beesoftware.net</a:t>
            </a:r>
            <a:endParaRPr lang="fr-FR" sz="4800" dirty="0">
              <a:solidFill>
                <a:schemeClr val="accent2">
                  <a:lumMod val="75000"/>
                </a:schemeClr>
              </a:solidFill>
              <a:latin typeface="CordiaUPC" pitchFamily="34" charset="-34"/>
              <a:cs typeface="CordiaUPC" pitchFamily="34" charset="-34"/>
            </a:endParaRPr>
          </a:p>
        </p:txBody>
      </p:sp>
      <p:sp>
        <p:nvSpPr>
          <p:cNvPr id="8" name="Rectangle 7"/>
          <p:cNvSpPr/>
          <p:nvPr/>
        </p:nvSpPr>
        <p:spPr>
          <a:xfrm>
            <a:off x="571472" y="1714488"/>
            <a:ext cx="5214974" cy="2862322"/>
          </a:xfrm>
          <a:prstGeom prst="rect">
            <a:avLst/>
          </a:prstGeom>
        </p:spPr>
        <p:txBody>
          <a:bodyPr wrap="square">
            <a:spAutoFit/>
          </a:bodyPr>
          <a:lstStyle/>
          <a:p>
            <a:pPr algn="ctr">
              <a:defRPr/>
            </a:pPr>
            <a:r>
              <a:rPr lang="fr-FR" sz="6000" dirty="0" smtClean="0">
                <a:solidFill>
                  <a:schemeClr val="accent2">
                    <a:lumMod val="50000"/>
                  </a:schemeClr>
                </a:solidFill>
                <a:latin typeface="Cooper Black" pitchFamily="18" charset="0"/>
              </a:rPr>
              <a:t>Module TMA</a:t>
            </a:r>
          </a:p>
          <a:p>
            <a:pPr algn="ctr">
              <a:defRPr/>
            </a:pPr>
            <a:r>
              <a:rPr lang="fr-FR" sz="6000" dirty="0" err="1" smtClean="0">
                <a:solidFill>
                  <a:schemeClr val="accent2">
                    <a:lumMod val="50000"/>
                  </a:schemeClr>
                </a:solidFill>
                <a:latin typeface="Cooper Black" pitchFamily="18" charset="0"/>
              </a:rPr>
              <a:t>Workflow</a:t>
            </a:r>
            <a:r>
              <a:rPr lang="fr-FR" sz="6000" dirty="0" smtClean="0">
                <a:solidFill>
                  <a:schemeClr val="accent2">
                    <a:lumMod val="50000"/>
                  </a:schemeClr>
                </a:solidFill>
                <a:latin typeface="Cooper Black" pitchFamily="18" charset="0"/>
              </a:rPr>
              <a:t> Facture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10247" name="ZoneTexte 6"/>
          <p:cNvSpPr txBox="1">
            <a:spLocks noChangeArrowheads="1"/>
          </p:cNvSpPr>
          <p:nvPr/>
        </p:nvSpPr>
        <p:spPr bwMode="auto">
          <a:xfrm>
            <a:off x="1571604" y="357166"/>
            <a:ext cx="7143800"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Les nouvelles évolutions</a:t>
            </a:r>
            <a:endParaRPr lang="fr-FR" sz="4000" b="1" dirty="0">
              <a:solidFill>
                <a:schemeClr val="accent2"/>
              </a:solidFill>
              <a:latin typeface="CordiaUPC" pitchFamily="34" charset="-34"/>
              <a:cs typeface="CordiaUPC" pitchFamily="34" charset="-34"/>
            </a:endParaRPr>
          </a:p>
        </p:txBody>
      </p:sp>
      <p:sp>
        <p:nvSpPr>
          <p:cNvPr id="9" name="ZoneTexte 6"/>
          <p:cNvSpPr txBox="1">
            <a:spLocks noChangeArrowheads="1"/>
          </p:cNvSpPr>
          <p:nvPr/>
        </p:nvSpPr>
        <p:spPr bwMode="auto">
          <a:xfrm rot="16200000">
            <a:off x="6824995" y="4253211"/>
            <a:ext cx="428624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Un produit réactif</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8" name="ZoneTexte 7"/>
          <p:cNvSpPr txBox="1"/>
          <p:nvPr/>
        </p:nvSpPr>
        <p:spPr>
          <a:xfrm>
            <a:off x="1000100" y="1643050"/>
            <a:ext cx="7143800" cy="4524315"/>
          </a:xfrm>
          <a:prstGeom prst="rect">
            <a:avLst/>
          </a:prstGeom>
          <a:noFill/>
        </p:spPr>
        <p:txBody>
          <a:bodyPr wrap="square" rtlCol="0">
            <a:spAutoFit/>
          </a:bodyPr>
          <a:lstStyle/>
          <a:p>
            <a:r>
              <a:rPr lang="fr-FR" sz="1600" dirty="0" smtClean="0"/>
              <a:t>Dans cette </a:t>
            </a:r>
            <a:r>
              <a:rPr lang="fr-FR" sz="1600" dirty="0" err="1" smtClean="0"/>
              <a:t>newLetter</a:t>
            </a:r>
            <a:r>
              <a:rPr lang="fr-FR" sz="1600" dirty="0" smtClean="0"/>
              <a:t>, vous trouverez toutes les nouvelles fonctionnalités ajoutées au module TMA.</a:t>
            </a:r>
          </a:p>
          <a:p>
            <a:endParaRPr lang="fr-FR" sz="1600" dirty="0" smtClean="0"/>
          </a:p>
          <a:p>
            <a:r>
              <a:rPr lang="fr-FR" sz="1600" dirty="0" smtClean="0">
                <a:sym typeface="Wingdings" pitchFamily="2" charset="2"/>
              </a:rPr>
              <a:t>	  Evolution d’une application (Propriétaire/</a:t>
            </a:r>
            <a:r>
              <a:rPr lang="fr-FR" sz="1600" dirty="0" err="1" smtClean="0">
                <a:sym typeface="Wingdings" pitchFamily="2" charset="2"/>
              </a:rPr>
              <a:t>uo</a:t>
            </a:r>
            <a:r>
              <a:rPr lang="fr-FR" sz="1600" dirty="0" smtClean="0">
                <a:sym typeface="Wingdings" pitchFamily="2" charset="2"/>
              </a:rPr>
              <a:t>/facture/mode de gestion)</a:t>
            </a:r>
          </a:p>
          <a:p>
            <a:endParaRPr lang="fr-FR" sz="1600" dirty="0" smtClean="0">
              <a:sym typeface="Wingdings" pitchFamily="2" charset="2"/>
            </a:endParaRPr>
          </a:p>
          <a:p>
            <a:r>
              <a:rPr lang="fr-FR" sz="1600" dirty="0" smtClean="0">
                <a:sym typeface="Wingdings" pitchFamily="2" charset="2"/>
              </a:rPr>
              <a:t>	  Modification du </a:t>
            </a:r>
            <a:r>
              <a:rPr lang="fr-FR" sz="1600" dirty="0" err="1" smtClean="0">
                <a:sym typeface="Wingdings" pitchFamily="2" charset="2"/>
              </a:rPr>
              <a:t>Workflow</a:t>
            </a:r>
            <a:r>
              <a:rPr lang="fr-FR" sz="1600" dirty="0" smtClean="0">
                <a:sym typeface="Wingdings" pitchFamily="2" charset="2"/>
              </a:rPr>
              <a:t> (notion de chef utilisateur)</a:t>
            </a:r>
          </a:p>
          <a:p>
            <a:endParaRPr lang="fr-FR" sz="1600" dirty="0" smtClean="0">
              <a:sym typeface="Wingdings" pitchFamily="2" charset="2"/>
            </a:endParaRPr>
          </a:p>
          <a:p>
            <a:r>
              <a:rPr lang="fr-FR" sz="1600" dirty="0" smtClean="0">
                <a:sym typeface="Wingdings" pitchFamily="2" charset="2"/>
              </a:rPr>
              <a:t>	   Impression des documents TMA</a:t>
            </a:r>
          </a:p>
          <a:p>
            <a:endParaRPr lang="fr-FR" sz="1600" dirty="0" smtClean="0">
              <a:sym typeface="Wingdings" pitchFamily="2" charset="2"/>
            </a:endParaRPr>
          </a:p>
          <a:p>
            <a:r>
              <a:rPr lang="fr-FR" sz="1600" dirty="0" smtClean="0">
                <a:sym typeface="Wingdings" pitchFamily="2" charset="2"/>
              </a:rPr>
              <a:t>	   Notion de fiche « en attente de création » par le chef utilisateur</a:t>
            </a:r>
          </a:p>
          <a:p>
            <a:endParaRPr lang="fr-FR" sz="1600" dirty="0" smtClean="0">
              <a:sym typeface="Wingdings" pitchFamily="2" charset="2"/>
            </a:endParaRPr>
          </a:p>
          <a:p>
            <a:r>
              <a:rPr lang="fr-FR" sz="1600" dirty="0" smtClean="0">
                <a:sym typeface="Wingdings" pitchFamily="2" charset="2"/>
              </a:rPr>
              <a:t>	   Facture liée à une application</a:t>
            </a:r>
          </a:p>
          <a:p>
            <a:endParaRPr lang="fr-FR" sz="1600" dirty="0" smtClean="0">
              <a:sym typeface="Wingdings" pitchFamily="2" charset="2"/>
            </a:endParaRPr>
          </a:p>
          <a:p>
            <a:r>
              <a:rPr lang="fr-FR" sz="1600" dirty="0" smtClean="0">
                <a:sym typeface="Wingdings" pitchFamily="2" charset="2"/>
              </a:rPr>
              <a:t>	   Export XML des demandes TMA</a:t>
            </a:r>
            <a:endParaRPr lang="fr-FR" sz="1600" dirty="0" smtClean="0"/>
          </a:p>
          <a:p>
            <a:endParaRPr lang="fr-FR" sz="1600" dirty="0" smtClean="0"/>
          </a:p>
          <a:p>
            <a:endParaRPr lang="fr-FR" sz="1600" dirty="0" smtClean="0"/>
          </a:p>
          <a:p>
            <a:endParaRPr lang="fr-FR" sz="1600" dirty="0" smtClean="0"/>
          </a:p>
          <a:p>
            <a:endParaRPr lang="fr-FR" sz="1600" dirty="0"/>
          </a:p>
        </p:txBody>
      </p:sp>
      <p:pic>
        <p:nvPicPr>
          <p:cNvPr id="2" name="Picture 3" descr="D:\B-HIVE\Site\bhive.beesoftware.net\images\images_gma\bee.gif"/>
          <p:cNvPicPr>
            <a:picLocks noChangeAspect="1" noChangeArrowheads="1"/>
          </p:cNvPicPr>
          <p:nvPr/>
        </p:nvPicPr>
        <p:blipFill>
          <a:blip r:embed="rId4"/>
          <a:srcRect/>
          <a:stretch>
            <a:fillRect/>
          </a:stretch>
        </p:blipFill>
        <p:spPr bwMode="auto">
          <a:xfrm>
            <a:off x="1857356" y="2500306"/>
            <a:ext cx="185739" cy="142876"/>
          </a:xfrm>
          <a:prstGeom prst="rect">
            <a:avLst/>
          </a:prstGeom>
          <a:noFill/>
        </p:spPr>
      </p:pic>
      <p:pic>
        <p:nvPicPr>
          <p:cNvPr id="10" name="Picture 3" descr="D:\B-HIVE\Site\bhive.beesoftware.net\images\images_gma\bee.gif"/>
          <p:cNvPicPr>
            <a:picLocks noChangeAspect="1" noChangeArrowheads="1"/>
          </p:cNvPicPr>
          <p:nvPr/>
        </p:nvPicPr>
        <p:blipFill>
          <a:blip r:embed="rId4"/>
          <a:srcRect/>
          <a:stretch>
            <a:fillRect/>
          </a:stretch>
        </p:blipFill>
        <p:spPr bwMode="auto">
          <a:xfrm>
            <a:off x="1857356" y="3000372"/>
            <a:ext cx="185739" cy="142876"/>
          </a:xfrm>
          <a:prstGeom prst="rect">
            <a:avLst/>
          </a:prstGeom>
          <a:noFill/>
        </p:spPr>
      </p:pic>
      <p:pic>
        <p:nvPicPr>
          <p:cNvPr id="11" name="Picture 3" descr="D:\B-HIVE\Site\bhive.beesoftware.net\images\images_gma\bee.gif"/>
          <p:cNvPicPr>
            <a:picLocks noChangeAspect="1" noChangeArrowheads="1"/>
          </p:cNvPicPr>
          <p:nvPr/>
        </p:nvPicPr>
        <p:blipFill>
          <a:blip r:embed="rId4"/>
          <a:srcRect/>
          <a:stretch>
            <a:fillRect/>
          </a:stretch>
        </p:blipFill>
        <p:spPr bwMode="auto">
          <a:xfrm>
            <a:off x="1857356" y="3500438"/>
            <a:ext cx="185739" cy="142876"/>
          </a:xfrm>
          <a:prstGeom prst="rect">
            <a:avLst/>
          </a:prstGeom>
          <a:noFill/>
        </p:spPr>
      </p:pic>
      <p:pic>
        <p:nvPicPr>
          <p:cNvPr id="12" name="Picture 3" descr="D:\B-HIVE\Site\bhive.beesoftware.net\images\images_gma\bee.gif"/>
          <p:cNvPicPr>
            <a:picLocks noChangeAspect="1" noChangeArrowheads="1"/>
          </p:cNvPicPr>
          <p:nvPr/>
        </p:nvPicPr>
        <p:blipFill>
          <a:blip r:embed="rId4"/>
          <a:srcRect/>
          <a:stretch>
            <a:fillRect/>
          </a:stretch>
        </p:blipFill>
        <p:spPr bwMode="auto">
          <a:xfrm>
            <a:off x="1857356" y="3929066"/>
            <a:ext cx="185739" cy="142876"/>
          </a:xfrm>
          <a:prstGeom prst="rect">
            <a:avLst/>
          </a:prstGeom>
          <a:noFill/>
        </p:spPr>
      </p:pic>
      <p:pic>
        <p:nvPicPr>
          <p:cNvPr id="13" name="Picture 3" descr="D:\B-HIVE\Site\bhive.beesoftware.net\images\images_gma\bee.gif"/>
          <p:cNvPicPr>
            <a:picLocks noChangeAspect="1" noChangeArrowheads="1"/>
          </p:cNvPicPr>
          <p:nvPr/>
        </p:nvPicPr>
        <p:blipFill>
          <a:blip r:embed="rId4"/>
          <a:srcRect/>
          <a:stretch>
            <a:fillRect/>
          </a:stretch>
        </p:blipFill>
        <p:spPr bwMode="auto">
          <a:xfrm>
            <a:off x="1857356" y="4429132"/>
            <a:ext cx="185739" cy="142876"/>
          </a:xfrm>
          <a:prstGeom prst="rect">
            <a:avLst/>
          </a:prstGeom>
          <a:noFill/>
        </p:spPr>
      </p:pic>
      <p:pic>
        <p:nvPicPr>
          <p:cNvPr id="14" name="Picture 3" descr="D:\B-HIVE\Site\bhive.beesoftware.net\images\images_gma\bee.gif"/>
          <p:cNvPicPr>
            <a:picLocks noChangeAspect="1" noChangeArrowheads="1"/>
          </p:cNvPicPr>
          <p:nvPr/>
        </p:nvPicPr>
        <p:blipFill>
          <a:blip r:embed="rId4"/>
          <a:srcRect/>
          <a:stretch>
            <a:fillRect/>
          </a:stretch>
        </p:blipFill>
        <p:spPr bwMode="auto">
          <a:xfrm>
            <a:off x="1857356" y="4929198"/>
            <a:ext cx="185739" cy="142876"/>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9" name="ZoneTexte 6"/>
          <p:cNvSpPr txBox="1">
            <a:spLocks noChangeArrowheads="1"/>
          </p:cNvSpPr>
          <p:nvPr/>
        </p:nvSpPr>
        <p:spPr bwMode="auto">
          <a:xfrm rot="16200000">
            <a:off x="6824995" y="4253211"/>
            <a:ext cx="428624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Gain financier</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Rectangle 9"/>
          <p:cNvSpPr/>
          <p:nvPr/>
        </p:nvSpPr>
        <p:spPr>
          <a:xfrm>
            <a:off x="2143108" y="1714488"/>
            <a:ext cx="5214974" cy="2862322"/>
          </a:xfrm>
          <a:prstGeom prst="rect">
            <a:avLst/>
          </a:prstGeom>
        </p:spPr>
        <p:txBody>
          <a:bodyPr wrap="square">
            <a:spAutoFit/>
          </a:bodyPr>
          <a:lstStyle/>
          <a:p>
            <a:pPr algn="ctr">
              <a:defRPr/>
            </a:pPr>
            <a:r>
              <a:rPr lang="fr-FR" sz="6000" dirty="0" smtClean="0">
                <a:solidFill>
                  <a:schemeClr val="accent2">
                    <a:lumMod val="50000"/>
                  </a:schemeClr>
                </a:solidFill>
                <a:latin typeface="Cooper Black" pitchFamily="18" charset="0"/>
              </a:rPr>
              <a:t>Paramétrage d’une application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10247" name="ZoneTexte 6"/>
          <p:cNvSpPr txBox="1">
            <a:spLocks noChangeArrowheads="1"/>
          </p:cNvSpPr>
          <p:nvPr/>
        </p:nvSpPr>
        <p:spPr bwMode="auto">
          <a:xfrm>
            <a:off x="1571604" y="357166"/>
            <a:ext cx="7143800" cy="1323439"/>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Création d’une application</a:t>
            </a:r>
            <a:br>
              <a:rPr lang="fr-FR" sz="4000" b="1" dirty="0" smtClean="0">
                <a:solidFill>
                  <a:schemeClr val="accent2"/>
                </a:solidFill>
                <a:latin typeface="CordiaUPC" pitchFamily="34" charset="-34"/>
                <a:cs typeface="CordiaUPC" pitchFamily="34" charset="-34"/>
              </a:rPr>
            </a:br>
            <a:r>
              <a:rPr lang="fr-FR" sz="4000" b="1" dirty="0" smtClean="0">
                <a:solidFill>
                  <a:schemeClr val="accent2"/>
                </a:solidFill>
                <a:latin typeface="CordiaUPC" pitchFamily="34" charset="-34"/>
                <a:cs typeface="CordiaUPC" pitchFamily="34" charset="-34"/>
              </a:rPr>
              <a:t>avec la notion UO et forfait/réel</a:t>
            </a:r>
            <a:endParaRPr lang="fr-FR" sz="4000" b="1" dirty="0">
              <a:solidFill>
                <a:schemeClr val="accent2"/>
              </a:solidFill>
              <a:latin typeface="CordiaUPC" pitchFamily="34" charset="-34"/>
              <a:cs typeface="CordiaUPC" pitchFamily="34" charset="-34"/>
            </a:endParaRPr>
          </a:p>
        </p:txBody>
      </p:sp>
      <p:sp>
        <p:nvSpPr>
          <p:cNvPr id="9" name="ZoneTexte 6"/>
          <p:cNvSpPr txBox="1">
            <a:spLocks noChangeArrowheads="1"/>
          </p:cNvSpPr>
          <p:nvPr/>
        </p:nvSpPr>
        <p:spPr bwMode="auto">
          <a:xfrm rot="16200000">
            <a:off x="6824995" y="4253211"/>
            <a:ext cx="428624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Suivi en temps réel</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8" name="ZoneTexte 7"/>
          <p:cNvSpPr txBox="1"/>
          <p:nvPr/>
        </p:nvSpPr>
        <p:spPr>
          <a:xfrm>
            <a:off x="1142976" y="4286256"/>
            <a:ext cx="7143800" cy="2308324"/>
          </a:xfrm>
          <a:prstGeom prst="rect">
            <a:avLst/>
          </a:prstGeom>
          <a:noFill/>
        </p:spPr>
        <p:txBody>
          <a:bodyPr wrap="square" rtlCol="0">
            <a:spAutoFit/>
          </a:bodyPr>
          <a:lstStyle/>
          <a:p>
            <a:r>
              <a:rPr lang="fr-FR" sz="1600" dirty="0" smtClean="0"/>
              <a:t>Pour chaque application, il est possible de définir :</a:t>
            </a:r>
          </a:p>
          <a:p>
            <a:pPr>
              <a:buFont typeface="Arial" pitchFamily="34" charset="0"/>
              <a:buChar char="•"/>
            </a:pPr>
            <a:r>
              <a:rPr lang="fr-FR" sz="1600" dirty="0" smtClean="0"/>
              <a:t> Le propriétaire de l’application (c’est-à-dire le nom du client)</a:t>
            </a:r>
          </a:p>
          <a:p>
            <a:pPr>
              <a:buFont typeface="Arial" pitchFamily="34" charset="0"/>
              <a:buChar char="•"/>
            </a:pPr>
            <a:r>
              <a:rPr lang="fr-FR" sz="1600" dirty="0" smtClean="0"/>
              <a:t> Si l’application est visible dans le menu facturation, et son mode de fonctionnement (choix possible « non », « Forfait » ou « réel »)</a:t>
            </a:r>
          </a:p>
          <a:p>
            <a:pPr>
              <a:buFont typeface="Arial" pitchFamily="34" charset="0"/>
              <a:buChar char="•"/>
            </a:pPr>
            <a:r>
              <a:rPr lang="fr-FR" sz="1600" dirty="0" smtClean="0"/>
              <a:t> L’utilisation de la notion d’UO dans le devis et l’estimation</a:t>
            </a:r>
          </a:p>
          <a:p>
            <a:pPr>
              <a:buFont typeface="Arial" pitchFamily="34" charset="0"/>
              <a:buChar char="•"/>
            </a:pPr>
            <a:endParaRPr lang="fr-FR" sz="1600" dirty="0" smtClean="0"/>
          </a:p>
          <a:p>
            <a:r>
              <a:rPr lang="fr-FR" sz="1600" dirty="0" smtClean="0"/>
              <a:t>La dernière zone vous permet de créer un budget par défaut. La notion de budget est obligatoire pour le bon fonctionnement du module TMA. Ce budget sera visible dans l’interface des budgets.</a:t>
            </a:r>
            <a:endParaRPr lang="fr-FR" sz="1600" dirty="0"/>
          </a:p>
        </p:txBody>
      </p:sp>
      <p:pic>
        <p:nvPicPr>
          <p:cNvPr id="1027" name="Picture 3"/>
          <p:cNvPicPr>
            <a:picLocks noChangeAspect="1" noChangeArrowheads="1"/>
          </p:cNvPicPr>
          <p:nvPr/>
        </p:nvPicPr>
        <p:blipFill>
          <a:blip r:embed="rId4"/>
          <a:srcRect/>
          <a:stretch>
            <a:fillRect/>
          </a:stretch>
        </p:blipFill>
        <p:spPr bwMode="auto">
          <a:xfrm>
            <a:off x="1347788" y="1571612"/>
            <a:ext cx="6448425" cy="2457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1" name="ZoneTexte 6"/>
          <p:cNvSpPr txBox="1">
            <a:spLocks noChangeArrowheads="1"/>
          </p:cNvSpPr>
          <p:nvPr/>
        </p:nvSpPr>
        <p:spPr bwMode="auto">
          <a:xfrm rot="16200000">
            <a:off x="6074892" y="3503108"/>
            <a:ext cx="5786454"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Simple, efficace</a:t>
            </a:r>
            <a:endParaRPr lang="fr-FR" sz="5400" b="1" dirty="0">
              <a:solidFill>
                <a:schemeClr val="accent4">
                  <a:lumMod val="50000"/>
                  <a:lumOff val="50000"/>
                </a:schemeClr>
              </a:solidFill>
              <a:latin typeface="Arabic Typesetting" pitchFamily="66" charset="-78"/>
              <a:cs typeface="Arabic Typesetting" pitchFamily="66" charset="-78"/>
            </a:endParaRPr>
          </a:p>
        </p:txBody>
      </p:sp>
      <p:sp>
        <p:nvSpPr>
          <p:cNvPr id="12" name="ZoneTexte 6"/>
          <p:cNvSpPr txBox="1">
            <a:spLocks noChangeArrowheads="1"/>
          </p:cNvSpPr>
          <p:nvPr/>
        </p:nvSpPr>
        <p:spPr bwMode="auto">
          <a:xfrm>
            <a:off x="785786" y="357166"/>
            <a:ext cx="7929618" cy="1323439"/>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Notion de chef Utilisateur</a:t>
            </a:r>
          </a:p>
          <a:p>
            <a:pPr algn="r"/>
            <a:r>
              <a:rPr lang="fr-FR" sz="4000" b="1" dirty="0" smtClean="0">
                <a:solidFill>
                  <a:schemeClr val="accent2"/>
                </a:solidFill>
                <a:latin typeface="CordiaUPC" pitchFamily="34" charset="-34"/>
                <a:cs typeface="CordiaUPC" pitchFamily="34" charset="-34"/>
              </a:rPr>
              <a:t>Equipe  liée à une application</a:t>
            </a:r>
          </a:p>
        </p:txBody>
      </p:sp>
      <p:pic>
        <p:nvPicPr>
          <p:cNvPr id="13" name="Image 12" descr="logo-bhive1.gif"/>
          <p:cNvPicPr>
            <a:picLocks noChangeAspect="1"/>
          </p:cNvPicPr>
          <p:nvPr/>
        </p:nvPicPr>
        <p:blipFill>
          <a:blip r:embed="rId3"/>
          <a:stretch>
            <a:fillRect/>
          </a:stretch>
        </p:blipFill>
        <p:spPr>
          <a:xfrm>
            <a:off x="0" y="5585913"/>
            <a:ext cx="1357290" cy="1272087"/>
          </a:xfrm>
          <a:prstGeom prst="rect">
            <a:avLst/>
          </a:prstGeom>
        </p:spPr>
      </p:pic>
      <p:sp>
        <p:nvSpPr>
          <p:cNvPr id="9" name="ZoneTexte 8"/>
          <p:cNvSpPr txBox="1"/>
          <p:nvPr/>
        </p:nvSpPr>
        <p:spPr>
          <a:xfrm>
            <a:off x="1285852" y="5643578"/>
            <a:ext cx="7143800" cy="830997"/>
          </a:xfrm>
          <a:prstGeom prst="rect">
            <a:avLst/>
          </a:prstGeom>
          <a:noFill/>
        </p:spPr>
        <p:txBody>
          <a:bodyPr wrap="square" rtlCol="0">
            <a:spAutoFit/>
          </a:bodyPr>
          <a:lstStyle/>
          <a:p>
            <a:r>
              <a:rPr lang="fr-FR" sz="1600" dirty="0" smtClean="0"/>
              <a:t>La notion de chef utilisateur, vous permet de définir une personne (ou un groupe de personne) qui « peut » recevoir toutes les nouvelles demandes d’incident avant la TMA.</a:t>
            </a:r>
          </a:p>
        </p:txBody>
      </p:sp>
      <p:pic>
        <p:nvPicPr>
          <p:cNvPr id="1026" name="Picture 2"/>
          <p:cNvPicPr>
            <a:picLocks noChangeAspect="1" noChangeArrowheads="1"/>
          </p:cNvPicPr>
          <p:nvPr/>
        </p:nvPicPr>
        <p:blipFill>
          <a:blip r:embed="rId4"/>
          <a:srcRect/>
          <a:stretch>
            <a:fillRect/>
          </a:stretch>
        </p:blipFill>
        <p:spPr bwMode="auto">
          <a:xfrm>
            <a:off x="1928794" y="1643050"/>
            <a:ext cx="5505466" cy="37480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1" name="ZoneTexte 6"/>
          <p:cNvSpPr txBox="1">
            <a:spLocks noChangeArrowheads="1"/>
          </p:cNvSpPr>
          <p:nvPr/>
        </p:nvSpPr>
        <p:spPr bwMode="auto">
          <a:xfrm rot="16200000">
            <a:off x="6074892" y="3503108"/>
            <a:ext cx="5786454"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Ecologique</a:t>
            </a:r>
            <a:endParaRPr lang="fr-FR" sz="5400" b="1" dirty="0">
              <a:solidFill>
                <a:schemeClr val="accent4">
                  <a:lumMod val="50000"/>
                  <a:lumOff val="50000"/>
                </a:schemeClr>
              </a:solidFill>
              <a:latin typeface="Arabic Typesetting" pitchFamily="66" charset="-78"/>
              <a:cs typeface="Arabic Typesetting" pitchFamily="66" charset="-78"/>
            </a:endParaRPr>
          </a:p>
        </p:txBody>
      </p:sp>
      <p:sp>
        <p:nvSpPr>
          <p:cNvPr id="12"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Notion de chef Utilisateur</a:t>
            </a:r>
          </a:p>
        </p:txBody>
      </p:sp>
      <p:pic>
        <p:nvPicPr>
          <p:cNvPr id="13" name="Image 12" descr="logo-bhive1.gif"/>
          <p:cNvPicPr>
            <a:picLocks noChangeAspect="1"/>
          </p:cNvPicPr>
          <p:nvPr/>
        </p:nvPicPr>
        <p:blipFill>
          <a:blip r:embed="rId3"/>
          <a:stretch>
            <a:fillRect/>
          </a:stretch>
        </p:blipFill>
        <p:spPr>
          <a:xfrm>
            <a:off x="0" y="5585913"/>
            <a:ext cx="1357290" cy="1272087"/>
          </a:xfrm>
          <a:prstGeom prst="rect">
            <a:avLst/>
          </a:prstGeom>
        </p:spPr>
      </p:pic>
      <p:sp>
        <p:nvSpPr>
          <p:cNvPr id="9" name="ZoneTexte 8"/>
          <p:cNvSpPr txBox="1"/>
          <p:nvPr/>
        </p:nvSpPr>
        <p:spPr>
          <a:xfrm>
            <a:off x="1285852" y="4286256"/>
            <a:ext cx="7143800" cy="1815882"/>
          </a:xfrm>
          <a:prstGeom prst="rect">
            <a:avLst/>
          </a:prstGeom>
          <a:noFill/>
        </p:spPr>
        <p:txBody>
          <a:bodyPr wrap="square" rtlCol="0">
            <a:spAutoFit/>
          </a:bodyPr>
          <a:lstStyle/>
          <a:p>
            <a:endParaRPr lang="fr-FR" sz="1600" dirty="0" smtClean="0"/>
          </a:p>
          <a:p>
            <a:r>
              <a:rPr lang="fr-FR" sz="1600" dirty="0" smtClean="0"/>
              <a:t>Cette personne devra valider la création toutes les demandes incidents avant que la TMA intervienne sur ce besoin.</a:t>
            </a:r>
          </a:p>
          <a:p>
            <a:endParaRPr lang="fr-FR" sz="1600" dirty="0" smtClean="0"/>
          </a:p>
          <a:p>
            <a:r>
              <a:rPr lang="fr-FR" sz="1600" dirty="0" smtClean="0"/>
              <a:t>Remarque, c’est  votre </a:t>
            </a:r>
            <a:r>
              <a:rPr lang="fr-FR" sz="1600" dirty="0" err="1" smtClean="0"/>
              <a:t>Workflow</a:t>
            </a:r>
            <a:r>
              <a:rPr lang="fr-FR" sz="1600" dirty="0" smtClean="0"/>
              <a:t> « En attente de création » qui va activer l’interface pour le chef utilisateur. Le paramétrage au niveau de l’équipe n’est qu’une information utilisée par le </a:t>
            </a:r>
            <a:r>
              <a:rPr lang="fr-FR" sz="1600" dirty="0" err="1" smtClean="0"/>
              <a:t>workflow</a:t>
            </a:r>
            <a:endParaRPr lang="fr-FR" sz="1600" dirty="0"/>
          </a:p>
        </p:txBody>
      </p:sp>
      <p:pic>
        <p:nvPicPr>
          <p:cNvPr id="3074" name="Picture 2"/>
          <p:cNvPicPr>
            <a:picLocks noChangeAspect="1" noChangeArrowheads="1"/>
          </p:cNvPicPr>
          <p:nvPr/>
        </p:nvPicPr>
        <p:blipFill>
          <a:blip r:embed="rId4"/>
          <a:srcRect/>
          <a:stretch>
            <a:fillRect/>
          </a:stretch>
        </p:blipFill>
        <p:spPr bwMode="auto">
          <a:xfrm>
            <a:off x="1471613" y="1071546"/>
            <a:ext cx="6200775" cy="3086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9" name="ZoneTexte 6"/>
          <p:cNvSpPr txBox="1">
            <a:spLocks noChangeArrowheads="1"/>
          </p:cNvSpPr>
          <p:nvPr/>
        </p:nvSpPr>
        <p:spPr bwMode="auto">
          <a:xfrm rot="16200000">
            <a:off x="5932016" y="3360232"/>
            <a:ext cx="6072206"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Optimisation des données</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Rectangle 9"/>
          <p:cNvSpPr/>
          <p:nvPr/>
        </p:nvSpPr>
        <p:spPr>
          <a:xfrm>
            <a:off x="2857488" y="2143116"/>
            <a:ext cx="5214974" cy="1015663"/>
          </a:xfrm>
          <a:prstGeom prst="rect">
            <a:avLst/>
          </a:prstGeom>
        </p:spPr>
        <p:txBody>
          <a:bodyPr wrap="square">
            <a:spAutoFit/>
          </a:bodyPr>
          <a:lstStyle/>
          <a:p>
            <a:pPr algn="ctr">
              <a:defRPr/>
            </a:pPr>
            <a:r>
              <a:rPr lang="fr-FR" sz="6000" dirty="0" err="1" smtClean="0">
                <a:solidFill>
                  <a:schemeClr val="accent2">
                    <a:lumMod val="50000"/>
                  </a:schemeClr>
                </a:solidFill>
                <a:latin typeface="Cooper Black" pitchFamily="18" charset="0"/>
              </a:rPr>
              <a:t>Workflow</a:t>
            </a:r>
            <a:endParaRPr lang="fr-FR" sz="6000" dirty="0" smtClean="0">
              <a:solidFill>
                <a:schemeClr val="accent2">
                  <a:lumMod val="50000"/>
                </a:schemeClr>
              </a:solidFill>
              <a:latin typeface="Cooper Black"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1" name="ZoneTexte 6"/>
          <p:cNvSpPr txBox="1">
            <a:spLocks noChangeArrowheads="1"/>
          </p:cNvSpPr>
          <p:nvPr/>
        </p:nvSpPr>
        <p:spPr bwMode="auto">
          <a:xfrm rot="16200000">
            <a:off x="6074892" y="3503108"/>
            <a:ext cx="5786454"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Accessible sur Internet</a:t>
            </a:r>
            <a:endParaRPr lang="fr-FR" sz="5400" b="1" dirty="0">
              <a:solidFill>
                <a:schemeClr val="accent4">
                  <a:lumMod val="50000"/>
                  <a:lumOff val="50000"/>
                </a:schemeClr>
              </a:solidFill>
              <a:latin typeface="Arabic Typesetting" pitchFamily="66" charset="-78"/>
              <a:cs typeface="Arabic Typesetting" pitchFamily="66" charset="-78"/>
            </a:endParaRPr>
          </a:p>
        </p:txBody>
      </p:sp>
      <p:sp>
        <p:nvSpPr>
          <p:cNvPr id="12"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Evolution du </a:t>
            </a:r>
            <a:r>
              <a:rPr lang="fr-FR" sz="4000" b="1" dirty="0" err="1" smtClean="0">
                <a:solidFill>
                  <a:schemeClr val="accent2"/>
                </a:solidFill>
                <a:latin typeface="CordiaUPC" pitchFamily="34" charset="-34"/>
                <a:cs typeface="CordiaUPC" pitchFamily="34" charset="-34"/>
              </a:rPr>
              <a:t>workflow</a:t>
            </a:r>
            <a:endParaRPr lang="fr-FR" sz="4000" b="1" dirty="0" smtClean="0">
              <a:solidFill>
                <a:schemeClr val="accent2"/>
              </a:solidFill>
              <a:latin typeface="CordiaUPC" pitchFamily="34" charset="-34"/>
              <a:cs typeface="CordiaUPC" pitchFamily="34" charset="-34"/>
            </a:endParaRPr>
          </a:p>
        </p:txBody>
      </p:sp>
      <p:pic>
        <p:nvPicPr>
          <p:cNvPr id="13" name="Image 12" descr="logo-bhive1.gif"/>
          <p:cNvPicPr>
            <a:picLocks noChangeAspect="1"/>
          </p:cNvPicPr>
          <p:nvPr/>
        </p:nvPicPr>
        <p:blipFill>
          <a:blip r:embed="rId3"/>
          <a:stretch>
            <a:fillRect/>
          </a:stretch>
        </p:blipFill>
        <p:spPr>
          <a:xfrm>
            <a:off x="0" y="5585913"/>
            <a:ext cx="1357290" cy="1272087"/>
          </a:xfrm>
          <a:prstGeom prst="rect">
            <a:avLst/>
          </a:prstGeom>
        </p:spPr>
      </p:pic>
      <p:sp>
        <p:nvSpPr>
          <p:cNvPr id="9" name="ZoneTexte 8"/>
          <p:cNvSpPr txBox="1"/>
          <p:nvPr/>
        </p:nvSpPr>
        <p:spPr>
          <a:xfrm>
            <a:off x="1285852" y="5143512"/>
            <a:ext cx="7143800" cy="1569660"/>
          </a:xfrm>
          <a:prstGeom prst="rect">
            <a:avLst/>
          </a:prstGeom>
          <a:noFill/>
        </p:spPr>
        <p:txBody>
          <a:bodyPr wrap="square" rtlCol="0">
            <a:spAutoFit/>
          </a:bodyPr>
          <a:lstStyle/>
          <a:p>
            <a:r>
              <a:rPr lang="fr-FR" sz="1600" dirty="0" smtClean="0"/>
              <a:t>Dans la gestion de votre </a:t>
            </a:r>
            <a:r>
              <a:rPr lang="fr-FR" sz="1600" dirty="0" err="1" smtClean="0"/>
              <a:t>workflow</a:t>
            </a:r>
            <a:r>
              <a:rPr lang="fr-FR" sz="1600" dirty="0" smtClean="0"/>
              <a:t>, vous pouvez décider:</a:t>
            </a:r>
          </a:p>
          <a:p>
            <a:pPr>
              <a:buFont typeface="Arial" pitchFamily="34" charset="0"/>
              <a:buChar char="•"/>
            </a:pPr>
            <a:r>
              <a:rPr lang="fr-FR" sz="1600" dirty="0" smtClean="0"/>
              <a:t> De créer un état « en attente de création », permettant d’envoyer toutes les demandes vers le chef utilisateur.</a:t>
            </a:r>
          </a:p>
          <a:p>
            <a:pPr>
              <a:buFont typeface="Arial" pitchFamily="34" charset="0"/>
              <a:buChar char="•"/>
            </a:pPr>
            <a:r>
              <a:rPr lang="fr-FR" sz="1600" dirty="0" smtClean="0"/>
              <a:t> D’envoyer un mail aux responsables utilisateurs</a:t>
            </a:r>
          </a:p>
          <a:p>
            <a:pPr>
              <a:buFont typeface="Arial" pitchFamily="34" charset="0"/>
              <a:buChar char="•"/>
            </a:pPr>
            <a:r>
              <a:rPr lang="fr-FR" sz="1600" dirty="0" smtClean="0"/>
              <a:t> De joindre la fiche technique soit en UO soit en jour</a:t>
            </a:r>
          </a:p>
          <a:p>
            <a:endParaRPr lang="fr-FR" sz="1600" dirty="0"/>
          </a:p>
        </p:txBody>
      </p:sp>
      <p:pic>
        <p:nvPicPr>
          <p:cNvPr id="2051" name="Picture 3"/>
          <p:cNvPicPr>
            <a:picLocks noChangeAspect="1" noChangeArrowheads="1"/>
          </p:cNvPicPr>
          <p:nvPr/>
        </p:nvPicPr>
        <p:blipFill>
          <a:blip r:embed="rId4"/>
          <a:srcRect/>
          <a:stretch>
            <a:fillRect/>
          </a:stretch>
        </p:blipFill>
        <p:spPr bwMode="auto">
          <a:xfrm>
            <a:off x="2214546" y="1071546"/>
            <a:ext cx="5024453" cy="38797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9" name="ZoneTexte 6"/>
          <p:cNvSpPr txBox="1">
            <a:spLocks noChangeArrowheads="1"/>
          </p:cNvSpPr>
          <p:nvPr/>
        </p:nvSpPr>
        <p:spPr bwMode="auto">
          <a:xfrm rot="16200000">
            <a:off x="5932016" y="3360232"/>
            <a:ext cx="6072206"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Unique</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Rectangle 9"/>
          <p:cNvSpPr/>
          <p:nvPr/>
        </p:nvSpPr>
        <p:spPr>
          <a:xfrm>
            <a:off x="2857488" y="2143116"/>
            <a:ext cx="5214974" cy="2862322"/>
          </a:xfrm>
          <a:prstGeom prst="rect">
            <a:avLst/>
          </a:prstGeom>
        </p:spPr>
        <p:txBody>
          <a:bodyPr wrap="square">
            <a:spAutoFit/>
          </a:bodyPr>
          <a:lstStyle/>
          <a:p>
            <a:pPr algn="ctr">
              <a:defRPr/>
            </a:pPr>
            <a:r>
              <a:rPr lang="fr-FR" sz="6000" dirty="0" smtClean="0">
                <a:solidFill>
                  <a:schemeClr val="accent2">
                    <a:lumMod val="50000"/>
                  </a:schemeClr>
                </a:solidFill>
                <a:latin typeface="Cooper Black" pitchFamily="18" charset="0"/>
              </a:rPr>
              <a:t>Gestion des demandes TMA</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Créer votre produit</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Validation des demandes en attente de création</a:t>
            </a:r>
            <a:endParaRPr lang="fr-FR" sz="2800" b="1" dirty="0">
              <a:solidFill>
                <a:schemeClr val="accent2"/>
              </a:solidFill>
              <a:latin typeface="CordiaUPC" pitchFamily="34" charset="-34"/>
              <a:cs typeface="CordiaUPC" pitchFamily="34" charset="-34"/>
            </a:endParaRPr>
          </a:p>
        </p:txBody>
      </p:sp>
      <p:sp>
        <p:nvSpPr>
          <p:cNvPr id="15" name="ZoneTexte 14"/>
          <p:cNvSpPr txBox="1"/>
          <p:nvPr/>
        </p:nvSpPr>
        <p:spPr>
          <a:xfrm>
            <a:off x="1285852" y="3643314"/>
            <a:ext cx="7143800" cy="2554545"/>
          </a:xfrm>
          <a:prstGeom prst="rect">
            <a:avLst/>
          </a:prstGeom>
          <a:noFill/>
        </p:spPr>
        <p:txBody>
          <a:bodyPr wrap="square" rtlCol="0">
            <a:spAutoFit/>
          </a:bodyPr>
          <a:lstStyle/>
          <a:p>
            <a:r>
              <a:rPr lang="fr-FR" sz="1600" dirty="0" smtClean="0"/>
              <a:t>Dans l’interface « incident », si vous utilisez dans votre </a:t>
            </a:r>
            <a:r>
              <a:rPr lang="fr-FR" sz="1600" dirty="0" err="1" smtClean="0"/>
              <a:t>workflow</a:t>
            </a:r>
            <a:r>
              <a:rPr lang="fr-FR" sz="1600" dirty="0" smtClean="0"/>
              <a:t>, l’état « En attente de création », le sous-menu « En attente » sera visible dans l’interface de vos utilisateurs (client).</a:t>
            </a:r>
          </a:p>
          <a:p>
            <a:endParaRPr lang="fr-FR" sz="1600" dirty="0" smtClean="0"/>
          </a:p>
          <a:p>
            <a:r>
              <a:rPr lang="fr-FR" sz="1600" dirty="0" smtClean="0"/>
              <a:t>La liste des demandes affichées correspond à toutes les demandes crées dont le chef (ou responsable) utilisateur doit valider sa création.</a:t>
            </a:r>
          </a:p>
          <a:p>
            <a:endParaRPr lang="fr-FR" sz="1600" dirty="0" smtClean="0"/>
          </a:p>
          <a:p>
            <a:r>
              <a:rPr lang="fr-FR" sz="1600" dirty="0" smtClean="0"/>
              <a:t>Attention : Tant que la demande n’est pas validée,  la TMA en n’a pas connaissance</a:t>
            </a:r>
          </a:p>
          <a:p>
            <a:endParaRPr lang="fr-FR" sz="1600" dirty="0" smtClean="0"/>
          </a:p>
          <a:p>
            <a:r>
              <a:rPr lang="fr-FR" sz="1600" dirty="0" smtClean="0"/>
              <a:t>Pour valider sa création, il suffit de modifier         </a:t>
            </a:r>
            <a:r>
              <a:rPr lang="fr-FR" sz="1600" dirty="0" smtClean="0"/>
              <a:t>     puis </a:t>
            </a:r>
            <a:r>
              <a:rPr lang="fr-FR" sz="1600" dirty="0" smtClean="0"/>
              <a:t>de valider</a:t>
            </a:r>
            <a:endParaRPr lang="fr-FR" sz="1600" dirty="0"/>
          </a:p>
        </p:txBody>
      </p:sp>
      <p:pic>
        <p:nvPicPr>
          <p:cNvPr id="3075" name="Picture 3"/>
          <p:cNvPicPr>
            <a:picLocks noChangeAspect="1" noChangeArrowheads="1"/>
          </p:cNvPicPr>
          <p:nvPr/>
        </p:nvPicPr>
        <p:blipFill>
          <a:blip r:embed="rId4"/>
          <a:srcRect/>
          <a:stretch>
            <a:fillRect/>
          </a:stretch>
        </p:blipFill>
        <p:spPr bwMode="auto">
          <a:xfrm>
            <a:off x="1214414" y="1357298"/>
            <a:ext cx="7162800" cy="2028825"/>
          </a:xfrm>
          <a:prstGeom prst="rect">
            <a:avLst/>
          </a:prstGeom>
          <a:noFill/>
          <a:ln w="9525">
            <a:noFill/>
            <a:miter lim="800000"/>
            <a:headEnd/>
            <a:tailEnd/>
          </a:ln>
          <a:effectLst/>
        </p:spPr>
      </p:pic>
      <p:pic>
        <p:nvPicPr>
          <p:cNvPr id="3076" name="Picture 4"/>
          <p:cNvPicPr>
            <a:picLocks noChangeAspect="1" noChangeArrowheads="1"/>
          </p:cNvPicPr>
          <p:nvPr/>
        </p:nvPicPr>
        <p:blipFill>
          <a:blip r:embed="rId5"/>
          <a:srcRect/>
          <a:stretch>
            <a:fillRect/>
          </a:stretch>
        </p:blipFill>
        <p:spPr bwMode="auto">
          <a:xfrm>
            <a:off x="5072066" y="5857892"/>
            <a:ext cx="545433" cy="3238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Ergonomie conviviale</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1323439"/>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Impression d’un document </a:t>
            </a:r>
          </a:p>
          <a:p>
            <a:pPr algn="r"/>
            <a:r>
              <a:rPr lang="fr-FR" sz="4000" b="1" dirty="0" smtClean="0">
                <a:solidFill>
                  <a:schemeClr val="accent2"/>
                </a:solidFill>
                <a:latin typeface="CordiaUPC" pitchFamily="34" charset="-34"/>
                <a:cs typeface="CordiaUPC" pitchFamily="34" charset="-34"/>
              </a:rPr>
              <a:t>lié à la demande d’incident</a:t>
            </a:r>
            <a:endParaRPr lang="fr-FR" sz="2800" b="1" dirty="0">
              <a:solidFill>
                <a:schemeClr val="accent2"/>
              </a:solidFill>
              <a:latin typeface="CordiaUPC" pitchFamily="34" charset="-34"/>
              <a:cs typeface="CordiaUPC" pitchFamily="34" charset="-34"/>
            </a:endParaRPr>
          </a:p>
        </p:txBody>
      </p:sp>
      <p:sp>
        <p:nvSpPr>
          <p:cNvPr id="15" name="ZoneTexte 14"/>
          <p:cNvSpPr txBox="1"/>
          <p:nvPr/>
        </p:nvSpPr>
        <p:spPr>
          <a:xfrm>
            <a:off x="1285852" y="5000636"/>
            <a:ext cx="7143800" cy="1815882"/>
          </a:xfrm>
          <a:prstGeom prst="rect">
            <a:avLst/>
          </a:prstGeom>
          <a:noFill/>
        </p:spPr>
        <p:txBody>
          <a:bodyPr wrap="square" rtlCol="0">
            <a:spAutoFit/>
          </a:bodyPr>
          <a:lstStyle/>
          <a:p>
            <a:r>
              <a:rPr lang="fr-FR" sz="1600" dirty="0" smtClean="0"/>
              <a:t>Il est désormais possible de choisir quel document à imprimer sans devoir ouvrir la fiche.</a:t>
            </a:r>
          </a:p>
          <a:p>
            <a:r>
              <a:rPr lang="fr-FR" sz="1600" dirty="0" smtClean="0"/>
              <a:t>De plus B-Hive montre rapidement quels sont les documents qui existent  et ceux qui n’ont pas été créés.</a:t>
            </a:r>
          </a:p>
          <a:p>
            <a:endParaRPr lang="fr-FR" sz="1600" dirty="0" smtClean="0"/>
          </a:p>
          <a:p>
            <a:r>
              <a:rPr lang="fr-FR" sz="1600" dirty="0" smtClean="0"/>
              <a:t>Remarque : L’impression de la fiche technique en UO dépend du paramétrage lié à votre application.</a:t>
            </a:r>
            <a:endParaRPr lang="fr-FR" sz="1600" dirty="0"/>
          </a:p>
        </p:txBody>
      </p:sp>
      <p:pic>
        <p:nvPicPr>
          <p:cNvPr id="1026" name="Picture 2"/>
          <p:cNvPicPr>
            <a:picLocks noChangeAspect="1" noChangeArrowheads="1"/>
          </p:cNvPicPr>
          <p:nvPr/>
        </p:nvPicPr>
        <p:blipFill>
          <a:blip r:embed="rId4"/>
          <a:srcRect/>
          <a:stretch>
            <a:fillRect/>
          </a:stretch>
        </p:blipFill>
        <p:spPr bwMode="auto">
          <a:xfrm>
            <a:off x="428595" y="1643050"/>
            <a:ext cx="7889783" cy="32861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Donnée exportable</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Export des données TMA </a:t>
            </a:r>
          </a:p>
        </p:txBody>
      </p:sp>
      <p:sp>
        <p:nvSpPr>
          <p:cNvPr id="15" name="ZoneTexte 14"/>
          <p:cNvSpPr txBox="1"/>
          <p:nvPr/>
        </p:nvSpPr>
        <p:spPr>
          <a:xfrm>
            <a:off x="1285852" y="4071942"/>
            <a:ext cx="7143800" cy="2308324"/>
          </a:xfrm>
          <a:prstGeom prst="rect">
            <a:avLst/>
          </a:prstGeom>
          <a:noFill/>
        </p:spPr>
        <p:txBody>
          <a:bodyPr wrap="square" rtlCol="0">
            <a:spAutoFit/>
          </a:bodyPr>
          <a:lstStyle/>
          <a:p>
            <a:r>
              <a:rPr lang="fr-FR" sz="1600" dirty="0" smtClean="0"/>
              <a:t>Le sous menu « XML » permet d’exporter en XML la liste des demandes d’incidents affichées à l’écran.</a:t>
            </a:r>
          </a:p>
          <a:p>
            <a:r>
              <a:rPr lang="fr-FR" sz="1600" dirty="0" smtClean="0"/>
              <a:t>Ce fichier XML peut être ouvert avec Excel.</a:t>
            </a:r>
          </a:p>
          <a:p>
            <a:r>
              <a:rPr lang="fr-FR" sz="1600" dirty="0" smtClean="0"/>
              <a:t>Vous pouvez aussi faire des calculs (somme) sur les colonnes numériques.</a:t>
            </a:r>
          </a:p>
          <a:p>
            <a:endParaRPr lang="fr-FR" sz="1600" dirty="0" smtClean="0"/>
          </a:p>
          <a:p>
            <a:r>
              <a:rPr lang="fr-FR" sz="1600" dirty="0" smtClean="0"/>
              <a:t>Le XML contient les zones suivantes : id/Type/Etat/Sujet/Date de création/Heure de création/Auteur de création/Collaborateur de prise en charge/Estimation en UO/Estimation en jour/Devis en UO/Devis en jours/Charge consommé/Application/Release/Date(s) de validation/Date de mise en production</a:t>
            </a:r>
            <a:endParaRPr lang="fr-FR" sz="1600" dirty="0"/>
          </a:p>
        </p:txBody>
      </p:sp>
      <p:pic>
        <p:nvPicPr>
          <p:cNvPr id="2051" name="Picture 3"/>
          <p:cNvPicPr>
            <a:picLocks noChangeAspect="1" noChangeArrowheads="1"/>
          </p:cNvPicPr>
          <p:nvPr/>
        </p:nvPicPr>
        <p:blipFill>
          <a:blip r:embed="rId4"/>
          <a:srcRect/>
          <a:stretch>
            <a:fillRect/>
          </a:stretch>
        </p:blipFill>
        <p:spPr bwMode="auto">
          <a:xfrm>
            <a:off x="928662" y="1428736"/>
            <a:ext cx="7548583" cy="249064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9" name="ZoneTexte 6"/>
          <p:cNvSpPr txBox="1">
            <a:spLocks noChangeArrowheads="1"/>
          </p:cNvSpPr>
          <p:nvPr/>
        </p:nvSpPr>
        <p:spPr bwMode="auto">
          <a:xfrm rot="16200000">
            <a:off x="5932016" y="3360232"/>
            <a:ext cx="6072206"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Tableau prévisionnel</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Rectangle 9"/>
          <p:cNvSpPr/>
          <p:nvPr/>
        </p:nvSpPr>
        <p:spPr>
          <a:xfrm>
            <a:off x="2857488" y="2143116"/>
            <a:ext cx="5214974" cy="1938992"/>
          </a:xfrm>
          <a:prstGeom prst="rect">
            <a:avLst/>
          </a:prstGeom>
        </p:spPr>
        <p:txBody>
          <a:bodyPr wrap="square">
            <a:spAutoFit/>
          </a:bodyPr>
          <a:lstStyle/>
          <a:p>
            <a:pPr algn="ctr">
              <a:defRPr/>
            </a:pPr>
            <a:r>
              <a:rPr lang="fr-FR" sz="6000" dirty="0" smtClean="0">
                <a:solidFill>
                  <a:schemeClr val="accent2">
                    <a:lumMod val="50000"/>
                  </a:schemeClr>
                </a:solidFill>
                <a:latin typeface="Cooper Black" pitchFamily="18" charset="0"/>
              </a:rPr>
              <a:t>Suivi du budget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10" name="ZoneTexte 6"/>
          <p:cNvSpPr txBox="1">
            <a:spLocks noChangeArrowheads="1"/>
          </p:cNvSpPr>
          <p:nvPr/>
        </p:nvSpPr>
        <p:spPr bwMode="auto">
          <a:xfrm rot="16200000">
            <a:off x="6824995" y="4253211"/>
            <a:ext cx="428624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Innovant</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3" name="Image 12" descr="logo-bhive1.gif"/>
          <p:cNvPicPr>
            <a:picLocks noChangeAspect="1"/>
          </p:cNvPicPr>
          <p:nvPr/>
        </p:nvPicPr>
        <p:blipFill>
          <a:blip r:embed="rId3"/>
          <a:stretch>
            <a:fillRect/>
          </a:stretch>
        </p:blipFill>
        <p:spPr>
          <a:xfrm>
            <a:off x="0" y="5585913"/>
            <a:ext cx="1357290" cy="1272087"/>
          </a:xfrm>
          <a:prstGeom prst="rect">
            <a:avLst/>
          </a:prstGeom>
        </p:spPr>
      </p:pic>
      <p:pic>
        <p:nvPicPr>
          <p:cNvPr id="4098" name="Picture 2"/>
          <p:cNvPicPr>
            <a:picLocks noChangeAspect="1" noChangeArrowheads="1"/>
          </p:cNvPicPr>
          <p:nvPr/>
        </p:nvPicPr>
        <p:blipFill>
          <a:blip r:embed="rId4"/>
          <a:srcRect/>
          <a:stretch>
            <a:fillRect/>
          </a:stretch>
        </p:blipFill>
        <p:spPr bwMode="auto">
          <a:xfrm>
            <a:off x="214282" y="1857364"/>
            <a:ext cx="8786842" cy="2131636"/>
          </a:xfrm>
          <a:prstGeom prst="rect">
            <a:avLst/>
          </a:prstGeom>
          <a:noFill/>
          <a:ln w="9525">
            <a:noFill/>
            <a:miter lim="800000"/>
            <a:headEnd/>
            <a:tailEnd/>
          </a:ln>
          <a:effectLst/>
        </p:spPr>
      </p:pic>
      <p:sp>
        <p:nvSpPr>
          <p:cNvPr id="14" name="ZoneTexte 6"/>
          <p:cNvSpPr txBox="1">
            <a:spLocks noChangeArrowheads="1"/>
          </p:cNvSpPr>
          <p:nvPr/>
        </p:nvSpPr>
        <p:spPr bwMode="auto">
          <a:xfrm>
            <a:off x="785786" y="357166"/>
            <a:ext cx="7929618" cy="1323439"/>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Suivi budgétaire </a:t>
            </a:r>
          </a:p>
          <a:p>
            <a:pPr algn="r"/>
            <a:r>
              <a:rPr lang="fr-FR" sz="4000" b="1" dirty="0" smtClean="0">
                <a:solidFill>
                  <a:schemeClr val="accent2"/>
                </a:solidFill>
                <a:latin typeface="CordiaUPC" pitchFamily="34" charset="-34"/>
                <a:cs typeface="CordiaUPC" pitchFamily="34" charset="-34"/>
              </a:rPr>
              <a:t>en Jour / en UO / en Euro</a:t>
            </a:r>
            <a:endParaRPr lang="fr-FR" sz="2800" b="1" dirty="0">
              <a:solidFill>
                <a:schemeClr val="accent2"/>
              </a:solidFill>
              <a:latin typeface="CordiaUPC" pitchFamily="34" charset="-34"/>
              <a:cs typeface="CordiaUPC" pitchFamily="34" charset="-34"/>
            </a:endParaRPr>
          </a:p>
        </p:txBody>
      </p:sp>
      <p:sp>
        <p:nvSpPr>
          <p:cNvPr id="19" name="ZoneTexte 18"/>
          <p:cNvSpPr txBox="1"/>
          <p:nvPr/>
        </p:nvSpPr>
        <p:spPr>
          <a:xfrm>
            <a:off x="1285852" y="5143512"/>
            <a:ext cx="7143800" cy="584775"/>
          </a:xfrm>
          <a:prstGeom prst="rect">
            <a:avLst/>
          </a:prstGeom>
          <a:noFill/>
        </p:spPr>
        <p:txBody>
          <a:bodyPr wrap="square" rtlCol="0">
            <a:spAutoFit/>
          </a:bodyPr>
          <a:lstStyle/>
          <a:p>
            <a:r>
              <a:rPr lang="fr-FR" sz="1600" dirty="0" smtClean="0"/>
              <a:t>Le suivi budgétaire en UO et en Euro tient compte du paramétrage saisi par </a:t>
            </a:r>
          </a:p>
          <a:p>
            <a:r>
              <a:rPr lang="fr-FR" sz="1600" dirty="0" smtClean="0"/>
              <a:t>Application et par collaborateur</a:t>
            </a:r>
            <a:endParaRPr lang="fr-FR" sz="16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Interface simplifiée</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Analyse de la prestation par client</a:t>
            </a:r>
            <a:endParaRPr lang="fr-FR" sz="2800" b="1" u="sng" dirty="0">
              <a:solidFill>
                <a:schemeClr val="accent2"/>
              </a:solidFill>
              <a:effectLst>
                <a:outerShdw blurRad="38100" dist="38100" dir="2700000" algn="tl">
                  <a:srgbClr val="000000">
                    <a:alpha val="43137"/>
                  </a:srgbClr>
                </a:outerShdw>
              </a:effectLst>
              <a:latin typeface="CordiaUPC" pitchFamily="34" charset="-34"/>
              <a:cs typeface="CordiaUPC" pitchFamily="34" charset="-34"/>
            </a:endParaRPr>
          </a:p>
        </p:txBody>
      </p:sp>
      <p:pic>
        <p:nvPicPr>
          <p:cNvPr id="5122" name="Picture 2"/>
          <p:cNvPicPr>
            <a:picLocks noChangeAspect="1" noChangeArrowheads="1"/>
          </p:cNvPicPr>
          <p:nvPr/>
        </p:nvPicPr>
        <p:blipFill>
          <a:blip r:embed="rId4"/>
          <a:srcRect/>
          <a:stretch>
            <a:fillRect/>
          </a:stretch>
        </p:blipFill>
        <p:spPr bwMode="auto">
          <a:xfrm>
            <a:off x="214282" y="1928802"/>
            <a:ext cx="8429652" cy="1939024"/>
          </a:xfrm>
          <a:prstGeom prst="rect">
            <a:avLst/>
          </a:prstGeom>
          <a:noFill/>
          <a:ln w="9525">
            <a:noFill/>
            <a:miter lim="800000"/>
            <a:headEnd/>
            <a:tailEnd/>
          </a:ln>
          <a:effectLst/>
        </p:spPr>
      </p:pic>
      <p:sp>
        <p:nvSpPr>
          <p:cNvPr id="16" name="ZoneTexte 15"/>
          <p:cNvSpPr txBox="1"/>
          <p:nvPr/>
        </p:nvSpPr>
        <p:spPr>
          <a:xfrm>
            <a:off x="1285852" y="4429132"/>
            <a:ext cx="7143800" cy="1323439"/>
          </a:xfrm>
          <a:prstGeom prst="rect">
            <a:avLst/>
          </a:prstGeom>
          <a:noFill/>
        </p:spPr>
        <p:txBody>
          <a:bodyPr wrap="square" rtlCol="0">
            <a:spAutoFit/>
          </a:bodyPr>
          <a:lstStyle/>
          <a:p>
            <a:r>
              <a:rPr lang="fr-FR" sz="1600" dirty="0" smtClean="0"/>
              <a:t>Le détail par prestation en </a:t>
            </a:r>
            <a:r>
              <a:rPr lang="fr-FR" sz="1600" dirty="0" smtClean="0"/>
              <a:t>UO </a:t>
            </a:r>
            <a:r>
              <a:rPr lang="fr-FR" sz="1600" dirty="0" smtClean="0"/>
              <a:t>tient </a:t>
            </a:r>
            <a:r>
              <a:rPr lang="fr-FR" sz="1600" dirty="0" smtClean="0"/>
              <a:t>compte du paramétrage saisi par </a:t>
            </a:r>
          </a:p>
          <a:p>
            <a:r>
              <a:rPr lang="fr-FR" sz="1600" dirty="0" smtClean="0"/>
              <a:t>Application </a:t>
            </a:r>
            <a:r>
              <a:rPr lang="fr-FR" sz="1600" dirty="0" smtClean="0"/>
              <a:t>.</a:t>
            </a:r>
            <a:endParaRPr lang="fr-FR" sz="1600" dirty="0" smtClean="0"/>
          </a:p>
          <a:p>
            <a:endParaRPr lang="fr-FR" sz="1600" dirty="0" smtClean="0"/>
          </a:p>
          <a:p>
            <a:r>
              <a:rPr lang="fr-FR" sz="1600" dirty="0" smtClean="0"/>
              <a:t>On affiche pour un client (ici Bee Software), tous les collaborateurs qui ont travaillé pour leurs applications </a:t>
            </a:r>
            <a:r>
              <a:rPr lang="fr-FR" sz="1600" dirty="0" smtClean="0"/>
              <a:t>.</a:t>
            </a:r>
            <a:endParaRPr lang="fr-FR" sz="16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 1" descr="Image123.JPG"/>
          <p:cNvPicPr>
            <a:picLocks noChangeAspect="1"/>
          </p:cNvPicPr>
          <p:nvPr/>
        </p:nvPicPr>
        <p:blipFill>
          <a:blip r:embed="rId2"/>
          <a:srcRect/>
          <a:stretch>
            <a:fillRect/>
          </a:stretch>
        </p:blipFill>
        <p:spPr bwMode="auto">
          <a:xfrm>
            <a:off x="0" y="-24"/>
            <a:ext cx="9144000" cy="6858000"/>
          </a:xfrm>
          <a:prstGeom prst="rect">
            <a:avLst/>
          </a:prstGeom>
          <a:noFill/>
          <a:ln w="9525">
            <a:noFill/>
            <a:miter lim="800000"/>
            <a:headEnd/>
            <a:tailEnd/>
          </a:ln>
        </p:spPr>
      </p:pic>
      <p:sp>
        <p:nvSpPr>
          <p:cNvPr id="9" name="ZoneTexte 6"/>
          <p:cNvSpPr txBox="1">
            <a:spLocks noChangeArrowheads="1"/>
          </p:cNvSpPr>
          <p:nvPr/>
        </p:nvSpPr>
        <p:spPr bwMode="auto">
          <a:xfrm rot="16200000">
            <a:off x="5932016" y="3360232"/>
            <a:ext cx="6072206"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Suivi en temps réel</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17" name="Image 16"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Rectangle 9"/>
          <p:cNvSpPr/>
          <p:nvPr/>
        </p:nvSpPr>
        <p:spPr>
          <a:xfrm>
            <a:off x="2857488" y="2143116"/>
            <a:ext cx="5214974" cy="1015663"/>
          </a:xfrm>
          <a:prstGeom prst="rect">
            <a:avLst/>
          </a:prstGeom>
        </p:spPr>
        <p:txBody>
          <a:bodyPr wrap="square">
            <a:spAutoFit/>
          </a:bodyPr>
          <a:lstStyle/>
          <a:p>
            <a:pPr algn="ctr">
              <a:defRPr/>
            </a:pPr>
            <a:r>
              <a:rPr lang="fr-FR" sz="6000" dirty="0" smtClean="0">
                <a:solidFill>
                  <a:schemeClr val="accent2">
                    <a:lumMod val="50000"/>
                  </a:schemeClr>
                </a:solidFill>
                <a:latin typeface="Cooper Black" pitchFamily="18" charset="0"/>
              </a:rPr>
              <a:t>Facturation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Evolution permanente</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Facturation au réelle des prestations TMA</a:t>
            </a:r>
          </a:p>
        </p:txBody>
      </p:sp>
      <p:sp>
        <p:nvSpPr>
          <p:cNvPr id="16" name="ZoneTexte 15"/>
          <p:cNvSpPr txBox="1"/>
          <p:nvPr/>
        </p:nvSpPr>
        <p:spPr>
          <a:xfrm>
            <a:off x="1285852" y="4429132"/>
            <a:ext cx="7143800" cy="1077218"/>
          </a:xfrm>
          <a:prstGeom prst="rect">
            <a:avLst/>
          </a:prstGeom>
          <a:noFill/>
        </p:spPr>
        <p:txBody>
          <a:bodyPr wrap="square" rtlCol="0">
            <a:spAutoFit/>
          </a:bodyPr>
          <a:lstStyle/>
          <a:p>
            <a:r>
              <a:rPr lang="fr-FR" sz="1600" dirty="0" smtClean="0"/>
              <a:t>La facturation au réelle est construit sur l’ensemble des prestations réalisées sur le mois par les différents </a:t>
            </a:r>
            <a:r>
              <a:rPr lang="fr-FR" sz="1600" dirty="0" smtClean="0"/>
              <a:t>collaborateurs</a:t>
            </a:r>
            <a:r>
              <a:rPr lang="fr-FR" sz="1600" dirty="0" smtClean="0"/>
              <a:t/>
            </a:r>
            <a:br>
              <a:rPr lang="fr-FR" sz="1600" dirty="0" smtClean="0"/>
            </a:br>
            <a:r>
              <a:rPr lang="fr-FR" sz="1600" dirty="0" smtClean="0">
                <a:sym typeface="Wingdings" pitchFamily="2" charset="2"/>
              </a:rPr>
              <a:t> « </a:t>
            </a:r>
            <a:r>
              <a:rPr lang="fr-FR" sz="1600" dirty="0" err="1" smtClean="0"/>
              <a:t>Qt</a:t>
            </a:r>
            <a:r>
              <a:rPr lang="fr-FR" sz="1600" dirty="0" smtClean="0"/>
              <a:t>» </a:t>
            </a:r>
            <a:r>
              <a:rPr lang="fr-FR" sz="1600" dirty="0" smtClean="0"/>
              <a:t>correspond au nombre de jour presté</a:t>
            </a:r>
          </a:p>
          <a:p>
            <a:r>
              <a:rPr lang="fr-FR" sz="1600" dirty="0" smtClean="0">
                <a:sym typeface="Wingdings" pitchFamily="2" charset="2"/>
              </a:rPr>
              <a:t> « PU » correspond à la valeur journalière du collaborateur</a:t>
            </a:r>
            <a:endParaRPr lang="fr-FR" sz="1600" dirty="0"/>
          </a:p>
        </p:txBody>
      </p:sp>
      <p:pic>
        <p:nvPicPr>
          <p:cNvPr id="2050" name="Picture 2"/>
          <p:cNvPicPr>
            <a:picLocks noChangeAspect="1" noChangeArrowheads="1"/>
          </p:cNvPicPr>
          <p:nvPr/>
        </p:nvPicPr>
        <p:blipFill>
          <a:blip r:embed="rId4"/>
          <a:srcRect/>
          <a:stretch>
            <a:fillRect/>
          </a:stretch>
        </p:blipFill>
        <p:spPr bwMode="auto">
          <a:xfrm>
            <a:off x="804863" y="1785926"/>
            <a:ext cx="7534275" cy="2228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Aucune livraison</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Facturation au forfait des prestations TMA</a:t>
            </a:r>
          </a:p>
        </p:txBody>
      </p:sp>
      <p:sp>
        <p:nvSpPr>
          <p:cNvPr id="16" name="ZoneTexte 15"/>
          <p:cNvSpPr txBox="1"/>
          <p:nvPr/>
        </p:nvSpPr>
        <p:spPr>
          <a:xfrm>
            <a:off x="1285852" y="4000504"/>
            <a:ext cx="7143800" cy="1569660"/>
          </a:xfrm>
          <a:prstGeom prst="rect">
            <a:avLst/>
          </a:prstGeom>
          <a:noFill/>
        </p:spPr>
        <p:txBody>
          <a:bodyPr wrap="square" rtlCol="0">
            <a:spAutoFit/>
          </a:bodyPr>
          <a:lstStyle/>
          <a:p>
            <a:r>
              <a:rPr lang="fr-FR" sz="1600" dirty="0" smtClean="0"/>
              <a:t>La facturation au forfait est construit sur l’ensemble des fiches mise en production  (ou livrés aux clients) dans le mois.</a:t>
            </a:r>
          </a:p>
          <a:p>
            <a:r>
              <a:rPr lang="fr-FR" sz="1600" dirty="0" smtClean="0">
                <a:sym typeface="Wingdings" pitchFamily="2" charset="2"/>
              </a:rPr>
              <a:t> « </a:t>
            </a:r>
            <a:r>
              <a:rPr lang="fr-FR" sz="1600" dirty="0" err="1" smtClean="0"/>
              <a:t>Qt</a:t>
            </a:r>
            <a:r>
              <a:rPr lang="fr-FR" sz="1600" dirty="0" smtClean="0"/>
              <a:t> » </a:t>
            </a:r>
            <a:r>
              <a:rPr lang="fr-FR" sz="1600" dirty="0" smtClean="0"/>
              <a:t>correspond à la somme des devis (ou estimation) validé par le client. </a:t>
            </a:r>
            <a:br>
              <a:rPr lang="fr-FR" sz="1600" dirty="0" smtClean="0"/>
            </a:br>
            <a:r>
              <a:rPr lang="fr-FR" sz="1600" dirty="0" smtClean="0"/>
              <a:t>Selon le paramétrage de l’application, la quantité est exprimée soit en jour, soit en UO.</a:t>
            </a:r>
          </a:p>
          <a:p>
            <a:r>
              <a:rPr lang="fr-FR" sz="1600" dirty="0" smtClean="0">
                <a:sym typeface="Wingdings" pitchFamily="2" charset="2"/>
              </a:rPr>
              <a:t> « PU » correspond à la valeur journalière ou d’un UO pour l’application.</a:t>
            </a:r>
            <a:endParaRPr lang="fr-FR" sz="1600" dirty="0"/>
          </a:p>
        </p:txBody>
      </p:sp>
      <p:pic>
        <p:nvPicPr>
          <p:cNvPr id="3074" name="Picture 2"/>
          <p:cNvPicPr>
            <a:picLocks noChangeAspect="1" noChangeArrowheads="1"/>
          </p:cNvPicPr>
          <p:nvPr/>
        </p:nvPicPr>
        <p:blipFill>
          <a:blip r:embed="rId4"/>
          <a:srcRect/>
          <a:stretch>
            <a:fillRect/>
          </a:stretch>
        </p:blipFill>
        <p:spPr bwMode="auto">
          <a:xfrm>
            <a:off x="814388" y="1285860"/>
            <a:ext cx="7515225" cy="2257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Accessibilité 100%Web</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Créer la facture</a:t>
            </a:r>
          </a:p>
        </p:txBody>
      </p:sp>
      <p:sp>
        <p:nvSpPr>
          <p:cNvPr id="16" name="ZoneTexte 15"/>
          <p:cNvSpPr txBox="1"/>
          <p:nvPr/>
        </p:nvSpPr>
        <p:spPr>
          <a:xfrm>
            <a:off x="1285852" y="5844621"/>
            <a:ext cx="7143800" cy="584775"/>
          </a:xfrm>
          <a:prstGeom prst="rect">
            <a:avLst/>
          </a:prstGeom>
          <a:noFill/>
        </p:spPr>
        <p:txBody>
          <a:bodyPr wrap="square" rtlCol="0">
            <a:spAutoFit/>
          </a:bodyPr>
          <a:lstStyle/>
          <a:p>
            <a:r>
              <a:rPr lang="fr-FR" sz="1600" dirty="0" smtClean="0"/>
              <a:t>Cette facture est initialisée selon le CRA  ou le devis réalisé par vos collaborateurs.</a:t>
            </a:r>
          </a:p>
          <a:p>
            <a:r>
              <a:rPr lang="fr-FR" sz="1600" dirty="0" smtClean="0"/>
              <a:t>Cependant, vous pouvez la modifier ou la compléter avant de valider sa création.</a:t>
            </a:r>
          </a:p>
        </p:txBody>
      </p:sp>
      <p:sp>
        <p:nvSpPr>
          <p:cNvPr id="8" name="ZoneTexte 7"/>
          <p:cNvSpPr txBox="1"/>
          <p:nvPr/>
        </p:nvSpPr>
        <p:spPr>
          <a:xfrm>
            <a:off x="1285852" y="1415465"/>
            <a:ext cx="7143800" cy="1323439"/>
          </a:xfrm>
          <a:prstGeom prst="rect">
            <a:avLst/>
          </a:prstGeom>
          <a:noFill/>
        </p:spPr>
        <p:txBody>
          <a:bodyPr wrap="square" rtlCol="0">
            <a:spAutoFit/>
          </a:bodyPr>
          <a:lstStyle/>
          <a:p>
            <a:r>
              <a:rPr lang="fr-FR" sz="1600" dirty="0" smtClean="0"/>
              <a:t>Toutes les factures à l’état </a:t>
            </a:r>
            <a:r>
              <a:rPr lang="fr-FR" sz="1600" dirty="0" smtClean="0"/>
              <a:t>virtuel sont </a:t>
            </a:r>
            <a:r>
              <a:rPr lang="fr-FR" sz="1600" dirty="0" smtClean="0"/>
              <a:t>calculées et affichées au moment du chargement de la page, mais elles n’existent pas, elles ne sont donc pas disponibles dans les différents statistiques.</a:t>
            </a:r>
          </a:p>
          <a:p>
            <a:endParaRPr lang="fr-FR" sz="1600" dirty="0" smtClean="0"/>
          </a:p>
          <a:p>
            <a:r>
              <a:rPr lang="fr-FR" sz="1600" dirty="0" smtClean="0"/>
              <a:t>Pour créer ou modifier une facture cliquer sur l’icone</a:t>
            </a:r>
            <a:endParaRPr lang="fr-FR" sz="1600" dirty="0"/>
          </a:p>
        </p:txBody>
      </p:sp>
      <p:pic>
        <p:nvPicPr>
          <p:cNvPr id="4098" name="Picture 2"/>
          <p:cNvPicPr>
            <a:picLocks noChangeAspect="1" noChangeArrowheads="1"/>
          </p:cNvPicPr>
          <p:nvPr/>
        </p:nvPicPr>
        <p:blipFill>
          <a:blip r:embed="rId4"/>
          <a:srcRect/>
          <a:stretch>
            <a:fillRect/>
          </a:stretch>
        </p:blipFill>
        <p:spPr bwMode="auto">
          <a:xfrm>
            <a:off x="5843599" y="2357430"/>
            <a:ext cx="506560" cy="285752"/>
          </a:xfrm>
          <a:prstGeom prst="rect">
            <a:avLst/>
          </a:prstGeom>
          <a:noFill/>
          <a:ln w="9525">
            <a:noFill/>
            <a:miter lim="800000"/>
            <a:headEnd/>
            <a:tailEnd/>
          </a:ln>
          <a:effectLst/>
        </p:spPr>
      </p:pic>
      <p:pic>
        <p:nvPicPr>
          <p:cNvPr id="4099" name="Picture 3"/>
          <p:cNvPicPr>
            <a:picLocks noChangeAspect="1" noChangeArrowheads="1"/>
          </p:cNvPicPr>
          <p:nvPr/>
        </p:nvPicPr>
        <p:blipFill>
          <a:blip r:embed="rId5"/>
          <a:srcRect/>
          <a:stretch>
            <a:fillRect/>
          </a:stretch>
        </p:blipFill>
        <p:spPr bwMode="auto">
          <a:xfrm>
            <a:off x="1000100" y="2915663"/>
            <a:ext cx="73152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Un produit unique</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Valider l’envoi de la facture au client</a:t>
            </a:r>
          </a:p>
        </p:txBody>
      </p:sp>
      <p:sp>
        <p:nvSpPr>
          <p:cNvPr id="16" name="ZoneTexte 15"/>
          <p:cNvSpPr txBox="1"/>
          <p:nvPr/>
        </p:nvSpPr>
        <p:spPr>
          <a:xfrm>
            <a:off x="1285852" y="5286389"/>
            <a:ext cx="7143800" cy="1323439"/>
          </a:xfrm>
          <a:prstGeom prst="rect">
            <a:avLst/>
          </a:prstGeom>
          <a:noFill/>
        </p:spPr>
        <p:txBody>
          <a:bodyPr wrap="square" rtlCol="0">
            <a:spAutoFit/>
          </a:bodyPr>
          <a:lstStyle/>
          <a:p>
            <a:r>
              <a:rPr lang="fr-FR" sz="1600" dirty="0" smtClean="0"/>
              <a:t>Vous avez 3 actions possibles:</a:t>
            </a:r>
          </a:p>
          <a:p>
            <a:pPr>
              <a:buFontTx/>
              <a:buChar char="-"/>
            </a:pPr>
            <a:r>
              <a:rPr lang="fr-FR" sz="1600" dirty="0" smtClean="0"/>
              <a:t> Changer seulement l’état de la facture dans B-Hive, et continuer à utiliser votre process</a:t>
            </a:r>
          </a:p>
          <a:p>
            <a:pPr>
              <a:buFontTx/>
              <a:buChar char="-"/>
            </a:pPr>
            <a:r>
              <a:rPr lang="fr-FR" sz="1600" dirty="0" smtClean="0"/>
              <a:t> Recevez la facture par mail</a:t>
            </a:r>
          </a:p>
          <a:p>
            <a:pPr>
              <a:buFontTx/>
              <a:buChar char="-"/>
            </a:pPr>
            <a:r>
              <a:rPr lang="fr-FR" sz="1600" dirty="0" smtClean="0"/>
              <a:t> Envoyer la facture  à votre contact</a:t>
            </a:r>
          </a:p>
        </p:txBody>
      </p:sp>
      <p:sp>
        <p:nvSpPr>
          <p:cNvPr id="8" name="ZoneTexte 7"/>
          <p:cNvSpPr txBox="1"/>
          <p:nvPr/>
        </p:nvSpPr>
        <p:spPr>
          <a:xfrm>
            <a:off x="1285852" y="1415465"/>
            <a:ext cx="7143800" cy="1077218"/>
          </a:xfrm>
          <a:prstGeom prst="rect">
            <a:avLst/>
          </a:prstGeom>
          <a:noFill/>
        </p:spPr>
        <p:txBody>
          <a:bodyPr wrap="square" rtlCol="0">
            <a:spAutoFit/>
          </a:bodyPr>
          <a:lstStyle/>
          <a:p>
            <a:r>
              <a:rPr lang="fr-FR" sz="1600" dirty="0" smtClean="0"/>
              <a:t>Une fois la facture créée, vous pouvez  soit l’envoyer à votre client soit la considérée comme « envoyée au client. »</a:t>
            </a:r>
          </a:p>
          <a:p>
            <a:endParaRPr lang="fr-FR" sz="1600" dirty="0" smtClean="0"/>
          </a:p>
          <a:p>
            <a:r>
              <a:rPr lang="fr-FR" sz="1600" dirty="0" smtClean="0"/>
              <a:t>Pour envoyer une facture cliquer sur l’icone</a:t>
            </a:r>
            <a:endParaRPr lang="fr-FR" sz="1600" dirty="0"/>
          </a:p>
        </p:txBody>
      </p:sp>
      <p:pic>
        <p:nvPicPr>
          <p:cNvPr id="5124" name="Picture 4"/>
          <p:cNvPicPr>
            <a:picLocks noChangeAspect="1" noChangeArrowheads="1"/>
          </p:cNvPicPr>
          <p:nvPr/>
        </p:nvPicPr>
        <p:blipFill>
          <a:blip r:embed="rId4"/>
          <a:srcRect/>
          <a:stretch>
            <a:fillRect/>
          </a:stretch>
        </p:blipFill>
        <p:spPr bwMode="auto">
          <a:xfrm>
            <a:off x="5072066" y="2214554"/>
            <a:ext cx="342900" cy="200025"/>
          </a:xfrm>
          <a:prstGeom prst="rect">
            <a:avLst/>
          </a:prstGeom>
          <a:noFill/>
          <a:ln w="9525">
            <a:noFill/>
            <a:miter lim="800000"/>
            <a:headEnd/>
            <a:tailEnd/>
          </a:ln>
          <a:effectLst/>
        </p:spPr>
      </p:pic>
      <p:pic>
        <p:nvPicPr>
          <p:cNvPr id="5125" name="Picture 5"/>
          <p:cNvPicPr>
            <a:picLocks noChangeAspect="1" noChangeArrowheads="1"/>
          </p:cNvPicPr>
          <p:nvPr/>
        </p:nvPicPr>
        <p:blipFill>
          <a:blip r:embed="rId5"/>
          <a:srcRect/>
          <a:stretch>
            <a:fillRect/>
          </a:stretch>
        </p:blipFill>
        <p:spPr bwMode="auto">
          <a:xfrm>
            <a:off x="923925" y="2571744"/>
            <a:ext cx="7296150" cy="2571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7" name="ZoneTexte 6"/>
          <p:cNvSpPr txBox="1">
            <a:spLocks noChangeArrowheads="1"/>
          </p:cNvSpPr>
          <p:nvPr/>
        </p:nvSpPr>
        <p:spPr bwMode="auto">
          <a:xfrm rot="16200000">
            <a:off x="6146330" y="3574546"/>
            <a:ext cx="5643578" cy="923330"/>
          </a:xfrm>
          <a:prstGeom prst="rect">
            <a:avLst/>
          </a:prstGeom>
          <a:noFill/>
          <a:ln w="9525">
            <a:noFill/>
            <a:miter lim="800000"/>
            <a:headEnd/>
            <a:tailEnd/>
          </a:ln>
        </p:spPr>
        <p:txBody>
          <a:bodyPr wrap="square">
            <a:spAutoFit/>
          </a:bodyPr>
          <a:lstStyle/>
          <a:p>
            <a:r>
              <a:rPr lang="fr-FR" sz="5400" b="1" dirty="0" smtClean="0">
                <a:solidFill>
                  <a:schemeClr val="accent4">
                    <a:lumMod val="50000"/>
                    <a:lumOff val="50000"/>
                  </a:schemeClr>
                </a:solidFill>
                <a:latin typeface="Arabic Typesetting" pitchFamily="66" charset="-78"/>
                <a:cs typeface="Arabic Typesetting" pitchFamily="66" charset="-78"/>
              </a:rPr>
              <a:t>Anticiper vos factures</a:t>
            </a:r>
            <a:endParaRPr lang="fr-FR" sz="5400" b="1" dirty="0">
              <a:solidFill>
                <a:schemeClr val="accent4">
                  <a:lumMod val="50000"/>
                  <a:lumOff val="50000"/>
                </a:schemeClr>
              </a:solidFill>
              <a:latin typeface="Arabic Typesetting" pitchFamily="66" charset="-78"/>
              <a:cs typeface="Arabic Typesetting" pitchFamily="66" charset="-78"/>
            </a:endParaRPr>
          </a:p>
        </p:txBody>
      </p:sp>
      <p:pic>
        <p:nvPicPr>
          <p:cNvPr id="9" name="Image 8" descr="logo-bhive1.gif"/>
          <p:cNvPicPr>
            <a:picLocks noChangeAspect="1"/>
          </p:cNvPicPr>
          <p:nvPr/>
        </p:nvPicPr>
        <p:blipFill>
          <a:blip r:embed="rId3"/>
          <a:stretch>
            <a:fillRect/>
          </a:stretch>
        </p:blipFill>
        <p:spPr>
          <a:xfrm>
            <a:off x="0" y="5585913"/>
            <a:ext cx="1357290" cy="1272087"/>
          </a:xfrm>
          <a:prstGeom prst="rect">
            <a:avLst/>
          </a:prstGeom>
        </p:spPr>
      </p:pic>
      <p:sp>
        <p:nvSpPr>
          <p:cNvPr id="10" name="ZoneTexte 6"/>
          <p:cNvSpPr txBox="1">
            <a:spLocks noChangeArrowheads="1"/>
          </p:cNvSpPr>
          <p:nvPr/>
        </p:nvSpPr>
        <p:spPr bwMode="auto">
          <a:xfrm>
            <a:off x="785786" y="357166"/>
            <a:ext cx="7929618" cy="707886"/>
          </a:xfrm>
          <a:prstGeom prst="rect">
            <a:avLst/>
          </a:prstGeom>
          <a:noFill/>
          <a:ln w="9525">
            <a:noFill/>
            <a:miter lim="800000"/>
            <a:headEnd/>
            <a:tailEnd/>
          </a:ln>
        </p:spPr>
        <p:txBody>
          <a:bodyPr wrap="square">
            <a:spAutoFit/>
          </a:bodyPr>
          <a:lstStyle/>
          <a:p>
            <a:pPr algn="r"/>
            <a:r>
              <a:rPr lang="fr-FR" sz="4000" b="1" dirty="0" smtClean="0">
                <a:solidFill>
                  <a:schemeClr val="accent2"/>
                </a:solidFill>
                <a:latin typeface="CordiaUPC" pitchFamily="34" charset="-34"/>
                <a:cs typeface="CordiaUPC" pitchFamily="34" charset="-34"/>
              </a:rPr>
              <a:t>Valider le payement de la facture par le client</a:t>
            </a:r>
          </a:p>
        </p:txBody>
      </p:sp>
      <p:sp>
        <p:nvSpPr>
          <p:cNvPr id="8" name="ZoneTexte 7"/>
          <p:cNvSpPr txBox="1"/>
          <p:nvPr/>
        </p:nvSpPr>
        <p:spPr>
          <a:xfrm>
            <a:off x="1285852" y="1415465"/>
            <a:ext cx="7143800" cy="830997"/>
          </a:xfrm>
          <a:prstGeom prst="rect">
            <a:avLst/>
          </a:prstGeom>
          <a:noFill/>
        </p:spPr>
        <p:txBody>
          <a:bodyPr wrap="square" rtlCol="0">
            <a:spAutoFit/>
          </a:bodyPr>
          <a:lstStyle/>
          <a:p>
            <a:r>
              <a:rPr lang="fr-FR" sz="1600" dirty="0" smtClean="0"/>
              <a:t>Toutes les factures envoyées au client sont automatiquement en attente de payement.</a:t>
            </a:r>
          </a:p>
          <a:p>
            <a:endParaRPr lang="fr-FR" sz="1600" dirty="0" smtClean="0"/>
          </a:p>
          <a:p>
            <a:r>
              <a:rPr lang="fr-FR" sz="1600" dirty="0" smtClean="0"/>
              <a:t>Pour valider le payement d’une facture cliquer sur l’icone</a:t>
            </a:r>
            <a:endParaRPr lang="fr-FR" sz="1600" dirty="0"/>
          </a:p>
        </p:txBody>
      </p:sp>
      <p:pic>
        <p:nvPicPr>
          <p:cNvPr id="6146" name="Picture 2"/>
          <p:cNvPicPr>
            <a:picLocks noChangeAspect="1" noChangeArrowheads="1"/>
          </p:cNvPicPr>
          <p:nvPr/>
        </p:nvPicPr>
        <p:blipFill>
          <a:blip r:embed="rId4"/>
          <a:srcRect/>
          <a:stretch>
            <a:fillRect/>
          </a:stretch>
        </p:blipFill>
        <p:spPr bwMode="auto">
          <a:xfrm>
            <a:off x="6291277" y="1928802"/>
            <a:ext cx="484585" cy="261938"/>
          </a:xfrm>
          <a:prstGeom prst="rect">
            <a:avLst/>
          </a:prstGeom>
          <a:noFill/>
          <a:ln w="9525">
            <a:noFill/>
            <a:miter lim="800000"/>
            <a:headEnd/>
            <a:tailEnd/>
          </a:ln>
          <a:effectLst/>
        </p:spPr>
      </p:pic>
      <p:pic>
        <p:nvPicPr>
          <p:cNvPr id="6147" name="Picture 3"/>
          <p:cNvPicPr>
            <a:picLocks noChangeAspect="1" noChangeArrowheads="1"/>
          </p:cNvPicPr>
          <p:nvPr/>
        </p:nvPicPr>
        <p:blipFill>
          <a:blip r:embed="rId5"/>
          <a:srcRect/>
          <a:stretch>
            <a:fillRect/>
          </a:stretch>
        </p:blipFill>
        <p:spPr bwMode="auto">
          <a:xfrm>
            <a:off x="933450" y="2643182"/>
            <a:ext cx="7277100" cy="523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4103" name="ZoneTexte 6"/>
          <p:cNvSpPr txBox="1">
            <a:spLocks noChangeArrowheads="1"/>
          </p:cNvSpPr>
          <p:nvPr/>
        </p:nvSpPr>
        <p:spPr bwMode="auto">
          <a:xfrm>
            <a:off x="4357686" y="2000240"/>
            <a:ext cx="3429028" cy="2954655"/>
          </a:xfrm>
          <a:prstGeom prst="rect">
            <a:avLst/>
          </a:prstGeom>
          <a:noFill/>
          <a:ln w="9525">
            <a:noFill/>
            <a:miter lim="800000"/>
            <a:headEnd/>
            <a:tailEnd/>
          </a:ln>
        </p:spPr>
        <p:txBody>
          <a:bodyPr wrap="square">
            <a:spAutoFit/>
          </a:bodyPr>
          <a:lstStyle/>
          <a:p>
            <a:r>
              <a:rPr lang="fr-FR" sz="6000" dirty="0" smtClean="0">
                <a:latin typeface="CordiaUPC" pitchFamily="34" charset="-34"/>
                <a:cs typeface="CordiaUPC" pitchFamily="34" charset="-34"/>
              </a:rPr>
              <a:t>Bee Software</a:t>
            </a:r>
            <a:endParaRPr lang="fr-FR" sz="1800" dirty="0" smtClean="0">
              <a:latin typeface="Arial" charset="0"/>
              <a:cs typeface="Arial" charset="0"/>
            </a:endParaRPr>
          </a:p>
          <a:p>
            <a:pPr algn="ctr"/>
            <a:r>
              <a:rPr lang="fr-FR" sz="1800" dirty="0" smtClean="0">
                <a:latin typeface="Calibri" pitchFamily="34" charset="0"/>
              </a:rPr>
              <a:t>Tel. 33 (0)3 62 27 62 38</a:t>
            </a:r>
          </a:p>
          <a:p>
            <a:pPr algn="ctr"/>
            <a:r>
              <a:rPr lang="fr-FR" sz="1800" dirty="0" smtClean="0">
                <a:latin typeface="Calibri" pitchFamily="34" charset="0"/>
              </a:rPr>
              <a:t>Gsm 33 (0)6 26 08 62 84</a:t>
            </a:r>
          </a:p>
          <a:p>
            <a:pPr algn="ctr"/>
            <a:r>
              <a:rPr lang="fr-FR" sz="1800" dirty="0" smtClean="0">
                <a:latin typeface="Calibri" pitchFamily="34" charset="0"/>
              </a:rPr>
              <a:t>Fax. 33 (0)3 62 27 62 39</a:t>
            </a:r>
          </a:p>
          <a:p>
            <a:pPr algn="ctr"/>
            <a:endParaRPr lang="fr-FR" sz="1800" dirty="0" smtClean="0">
              <a:latin typeface="Calibri" pitchFamily="34" charset="0"/>
            </a:endParaRPr>
          </a:p>
          <a:p>
            <a:pPr algn="ctr"/>
            <a:r>
              <a:rPr lang="fr-FR" sz="1800" dirty="0" smtClean="0">
                <a:latin typeface="Calibri" pitchFamily="34" charset="0"/>
              </a:rPr>
              <a:t>E-mail. contact@beesoftware.net</a:t>
            </a:r>
            <a:endParaRPr lang="fr-FR" sz="1800" dirty="0" smtClean="0">
              <a:latin typeface="Arial" charset="0"/>
              <a:cs typeface="Arial" charset="0"/>
            </a:endParaRPr>
          </a:p>
          <a:p>
            <a:endParaRPr lang="fr-FR" sz="1800" dirty="0" smtClean="0">
              <a:latin typeface="Arial" charset="0"/>
              <a:cs typeface="Arial" charset="0"/>
            </a:endParaRPr>
          </a:p>
          <a:p>
            <a:r>
              <a:rPr lang="fr-FR" sz="1800" dirty="0" smtClean="0">
                <a:latin typeface="Arial" charset="0"/>
                <a:cs typeface="Arial" charset="0"/>
              </a:rPr>
              <a:t>    http</a:t>
            </a:r>
            <a:r>
              <a:rPr lang="fr-FR" sz="1800" dirty="0" smtClean="0">
                <a:latin typeface="Arial" charset="0"/>
                <a:cs typeface="Arial" charset="0"/>
              </a:rPr>
              <a:t>://www.beesoftware.net</a:t>
            </a:r>
          </a:p>
        </p:txBody>
      </p:sp>
      <p:sp>
        <p:nvSpPr>
          <p:cNvPr id="4107" name="ZoneTexte 10"/>
          <p:cNvSpPr txBox="1">
            <a:spLocks noChangeArrowheads="1"/>
          </p:cNvSpPr>
          <p:nvPr/>
        </p:nvSpPr>
        <p:spPr bwMode="auto">
          <a:xfrm>
            <a:off x="0" y="6596063"/>
            <a:ext cx="3643313" cy="261937"/>
          </a:xfrm>
          <a:prstGeom prst="rect">
            <a:avLst/>
          </a:prstGeom>
          <a:noFill/>
          <a:ln w="9525">
            <a:noFill/>
            <a:miter lim="800000"/>
            <a:headEnd/>
            <a:tailEnd/>
          </a:ln>
        </p:spPr>
        <p:txBody>
          <a:bodyPr>
            <a:spAutoFit/>
          </a:bodyPr>
          <a:lstStyle/>
          <a:p>
            <a:r>
              <a:rPr lang="en-US" sz="1100"/>
              <a:t>Copyright © 2008 beesoftware.net. All Rights Reserved</a:t>
            </a:r>
            <a:endParaRPr lang="fr-FR" sz="1100"/>
          </a:p>
        </p:txBody>
      </p:sp>
      <p:sp>
        <p:nvSpPr>
          <p:cNvPr id="9" name="ZoneTexte 6"/>
          <p:cNvSpPr txBox="1">
            <a:spLocks noChangeArrowheads="1"/>
          </p:cNvSpPr>
          <p:nvPr/>
        </p:nvSpPr>
        <p:spPr bwMode="auto">
          <a:xfrm>
            <a:off x="4500562" y="357166"/>
            <a:ext cx="4214842" cy="923330"/>
          </a:xfrm>
          <a:prstGeom prst="rect">
            <a:avLst/>
          </a:prstGeom>
          <a:noFill/>
          <a:ln w="9525">
            <a:noFill/>
            <a:miter lim="800000"/>
            <a:headEnd/>
            <a:tailEnd/>
          </a:ln>
        </p:spPr>
        <p:txBody>
          <a:bodyPr wrap="square">
            <a:spAutoFit/>
          </a:bodyPr>
          <a:lstStyle/>
          <a:p>
            <a:pPr algn="r"/>
            <a:r>
              <a:rPr lang="fr-FR" sz="5400" b="1" dirty="0" smtClean="0">
                <a:solidFill>
                  <a:schemeClr val="accent2"/>
                </a:solidFill>
                <a:latin typeface="CordiaUPC" pitchFamily="34" charset="-34"/>
                <a:cs typeface="CordiaUPC" pitchFamily="34" charset="-34"/>
              </a:rPr>
              <a:t>Nous contacter</a:t>
            </a:r>
            <a:endParaRPr lang="fr-FR" sz="5400" b="1" dirty="0">
              <a:solidFill>
                <a:schemeClr val="accent2"/>
              </a:solidFill>
              <a:latin typeface="CordiaUPC" pitchFamily="34" charset="-34"/>
              <a:cs typeface="CordiaUPC" pitchFamily="34" charset="-34"/>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123.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ZoneTexte 2"/>
          <p:cNvSpPr txBox="1"/>
          <p:nvPr/>
        </p:nvSpPr>
        <p:spPr>
          <a:xfrm>
            <a:off x="428564" y="2071678"/>
            <a:ext cx="8715436" cy="1446550"/>
          </a:xfrm>
          <a:prstGeom prst="rect">
            <a:avLst/>
          </a:prstGeom>
          <a:noFill/>
          <a:ln>
            <a:noFill/>
          </a:ln>
        </p:spPr>
        <p:txBody>
          <a:bodyPr wrap="square" rtlCol="0">
            <a:spAutoFit/>
          </a:bodyPr>
          <a:lstStyle/>
          <a:p>
            <a:pPr algn="ctr"/>
            <a:r>
              <a:rPr lang="fr-FR" sz="4400" b="1" dirty="0" smtClean="0">
                <a:latin typeface="Vivaldi" pitchFamily="66" charset="0"/>
                <a:cs typeface="Vrinda" pitchFamily="2" charset="0"/>
              </a:rPr>
              <a:t>« Faire simple est probablement l’objectif </a:t>
            </a:r>
          </a:p>
          <a:p>
            <a:pPr algn="ctr"/>
            <a:r>
              <a:rPr lang="fr-FR" sz="4400" b="1" dirty="0" smtClean="0">
                <a:latin typeface="Vivaldi" pitchFamily="66" charset="0"/>
                <a:cs typeface="Vrinda" pitchFamily="2" charset="0"/>
              </a:rPr>
              <a:t>le plus sophistiqué du monde »</a:t>
            </a:r>
            <a:endParaRPr lang="fr-FR" sz="4400" b="1" dirty="0">
              <a:latin typeface="Vivaldi" pitchFamily="66" charset="0"/>
              <a:cs typeface="Vrinda" pitchFamily="2" charset="0"/>
            </a:endParaRPr>
          </a:p>
        </p:txBody>
      </p:sp>
      <p:sp>
        <p:nvSpPr>
          <p:cNvPr id="4" name="ZoneTexte 3"/>
          <p:cNvSpPr txBox="1"/>
          <p:nvPr/>
        </p:nvSpPr>
        <p:spPr>
          <a:xfrm>
            <a:off x="5429224" y="3500438"/>
            <a:ext cx="3714776" cy="461665"/>
          </a:xfrm>
          <a:prstGeom prst="rect">
            <a:avLst/>
          </a:prstGeom>
          <a:noFill/>
        </p:spPr>
        <p:txBody>
          <a:bodyPr wrap="square" rtlCol="0">
            <a:spAutoFit/>
          </a:bodyPr>
          <a:lstStyle/>
          <a:p>
            <a:r>
              <a:rPr lang="fr-FR" b="1" dirty="0" smtClean="0">
                <a:solidFill>
                  <a:schemeClr val="accent6">
                    <a:lumMod val="75000"/>
                  </a:schemeClr>
                </a:solidFill>
                <a:latin typeface="CordiaUPC" pitchFamily="34" charset="-34"/>
                <a:cs typeface="CordiaUPC" pitchFamily="34" charset="-34"/>
              </a:rPr>
              <a:t>Steve Jobs (Co-fondateur d’Apple INC)</a:t>
            </a:r>
            <a:endParaRPr lang="fr-FR" b="1" dirty="0">
              <a:solidFill>
                <a:schemeClr val="accent6">
                  <a:lumMod val="75000"/>
                </a:schemeClr>
              </a:solidFill>
              <a:latin typeface="CordiaUPC" pitchFamily="34" charset="-34"/>
              <a:cs typeface="CordiaUPC" pitchFamily="34" charset="-34"/>
            </a:endParaRPr>
          </a:p>
        </p:txBody>
      </p:sp>
      <p:pic>
        <p:nvPicPr>
          <p:cNvPr id="5" name="Image 11" descr="Bee-Software.jpg"/>
          <p:cNvPicPr>
            <a:picLocks noChangeAspect="1"/>
          </p:cNvPicPr>
          <p:nvPr/>
        </p:nvPicPr>
        <p:blipFill>
          <a:blip r:embed="rId3"/>
          <a:srcRect/>
          <a:stretch>
            <a:fillRect/>
          </a:stretch>
        </p:blipFill>
        <p:spPr bwMode="auto">
          <a:xfrm>
            <a:off x="2857488" y="4786322"/>
            <a:ext cx="4070106" cy="1857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Modèle par défaut">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66CC"/>
      </a:hlink>
      <a:folHlink>
        <a:srgbClr val="0099CC"/>
      </a:folHlink>
    </a:clrScheme>
    <a:fontScheme name="Modèle par défau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3752</TotalTime>
  <Words>662</Words>
  <Application>Microsoft PowerPoint</Application>
  <PresentationFormat>Affichage à l'écran (4:3)</PresentationFormat>
  <Paragraphs>138</Paragraphs>
  <Slides>23</Slides>
  <Notes>0</Notes>
  <HiddenSlides>0</HiddenSlides>
  <MMClips>0</MMClips>
  <ScaleCrop>false</ScaleCrop>
  <HeadingPairs>
    <vt:vector size="4" baseType="variant">
      <vt:variant>
        <vt:lpstr>Thème</vt:lpstr>
      </vt:variant>
      <vt:variant>
        <vt:i4>1</vt:i4>
      </vt:variant>
      <vt:variant>
        <vt:lpstr>Titres des diapositives</vt:lpstr>
      </vt:variant>
      <vt:variant>
        <vt:i4>23</vt:i4>
      </vt:variant>
    </vt:vector>
  </HeadingPairs>
  <TitlesOfParts>
    <vt:vector size="24" baseType="lpstr">
      <vt:lpstr>Modèle par défaut</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L.Hermez</dc:creator>
  <cp:lastModifiedBy>Madgic</cp:lastModifiedBy>
  <cp:revision>329</cp:revision>
  <dcterms:created xsi:type="dcterms:W3CDTF">2008-08-18T15:51:12Z</dcterms:created>
  <dcterms:modified xsi:type="dcterms:W3CDTF">2009-12-16T12:37:10Z</dcterms:modified>
</cp:coreProperties>
</file>