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1" r:id="rId2"/>
    <p:sldId id="292" r:id="rId3"/>
    <p:sldId id="310" r:id="rId4"/>
    <p:sldId id="330" r:id="rId5"/>
    <p:sldId id="318" r:id="rId6"/>
    <p:sldId id="319" r:id="rId7"/>
    <p:sldId id="320" r:id="rId8"/>
    <p:sldId id="321" r:id="rId9"/>
    <p:sldId id="322" r:id="rId10"/>
    <p:sldId id="331" r:id="rId11"/>
    <p:sldId id="332" r:id="rId12"/>
    <p:sldId id="296" r:id="rId13"/>
    <p:sldId id="302" r:id="rId14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11/06/2013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bhive.fr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Gsm 33 (0)6 63 39 31 15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E-mail. staff@beesoftware.net</a:t>
            </a:r>
          </a:p>
          <a:p>
            <a:pPr algn="ctr"/>
            <a:endParaRPr lang="fr-FR" sz="1200" dirty="0">
              <a:latin typeface="Calibri" pitchFamily="34" charset="0"/>
            </a:endParaRP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554465" y="5984803"/>
            <a:ext cx="13572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</a:t>
            </a:r>
            <a:r>
              <a:rPr lang="fr-FR" sz="1000" dirty="0" smtClean="0"/>
              <a:t>2013</a:t>
            </a:r>
            <a:endParaRPr lang="fr-FR" sz="1000" dirty="0"/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1428736"/>
            <a:ext cx="600079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B-</a:t>
            </a:r>
            <a:r>
              <a:rPr lang="fr-FR" sz="6000" dirty="0" err="1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Hive</a:t>
            </a: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  <a:p>
            <a:pPr algn="ctr">
              <a:defRPr/>
            </a:pPr>
            <a:endParaRPr lang="fr-FR" sz="60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  <a:p>
            <a:pPr algn="ctr">
              <a:defRPr/>
            </a:pPr>
            <a:r>
              <a:rPr lang="fr-FR" sz="48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Gestion SSII</a:t>
            </a:r>
            <a:endParaRPr lang="fr-FR" sz="5400" dirty="0" smtClean="0">
              <a:solidFill>
                <a:schemeClr val="accent2">
                  <a:lumMod val="50000"/>
                </a:schemeClr>
              </a:solidFill>
              <a:latin typeface="Cooper Black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Présentation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 produit réactif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1643042" y="2072240"/>
            <a:ext cx="685804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Ce document doit vous permettre rapidement de démarrer avec B-Hive.</a:t>
            </a:r>
          </a:p>
          <a:p>
            <a:endParaRPr lang="fr-FR" sz="1600" dirty="0" smtClean="0"/>
          </a:p>
          <a:p>
            <a:r>
              <a:rPr lang="fr-FR" sz="1600" dirty="0" smtClean="0"/>
              <a:t>Il décrit en quelques étapes, les différentes interfaces permettant de gérer vos collaborateurs d’une SSII</a:t>
            </a:r>
          </a:p>
          <a:p>
            <a:endParaRPr lang="fr-FR" sz="1600" dirty="0" smtClean="0"/>
          </a:p>
          <a:p>
            <a:r>
              <a:rPr lang="fr-FR" sz="1600" dirty="0" smtClean="0"/>
              <a:t>Dans ce scénario, nous avons créé 2 utilisateurs ayant le compte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suivant:</a:t>
            </a:r>
          </a:p>
          <a:p>
            <a:pPr>
              <a:buFontTx/>
              <a:buChar char="-"/>
            </a:pPr>
            <a:r>
              <a:rPr lang="fr-FR" sz="1600" dirty="0" smtClean="0"/>
              <a:t>TES_COMMERCIAL : C’est le commercial d’une SSII,  il </a:t>
            </a:r>
            <a:r>
              <a:rPr lang="fr-FR" sz="1600" dirty="0" smtClean="0"/>
              <a:t>se nomme </a:t>
            </a:r>
            <a:r>
              <a:rPr lang="fr-FR" sz="1600" dirty="0" smtClean="0"/>
              <a:t>M. COMMERCIAL Test. Il place des collaborateurs en mission chez un client. Grâce à B-</a:t>
            </a:r>
            <a:r>
              <a:rPr lang="fr-FR" sz="1600" dirty="0" err="1" smtClean="0"/>
              <a:t>hive</a:t>
            </a:r>
            <a:r>
              <a:rPr lang="fr-FR" sz="1600" dirty="0" smtClean="0"/>
              <a:t>, il peut créer une mission, suivre son planning et générer les factures</a:t>
            </a:r>
          </a:p>
          <a:p>
            <a:pPr>
              <a:buFontTx/>
              <a:buChar char="-"/>
            </a:pPr>
            <a:r>
              <a:rPr lang="fr-FR" sz="1600" dirty="0" smtClean="0"/>
              <a:t>TES_COLLABORATEUR : C’est un ingénieur en informatique, il se nomme M. COLLABORATEUR Test, il </a:t>
            </a:r>
            <a:r>
              <a:rPr lang="fr-FR" sz="1600" dirty="0" smtClean="0"/>
              <a:t>souhaite seulement </a:t>
            </a:r>
            <a:r>
              <a:rPr lang="fr-FR" sz="1600" dirty="0" smtClean="0"/>
              <a:t>que la saisie de sa feuille de temps soit simplifiée</a:t>
            </a:r>
          </a:p>
          <a:p>
            <a:pPr>
              <a:buFontTx/>
              <a:buChar char="-"/>
            </a:pPr>
            <a:endParaRPr lang="fr-FR" sz="1600" dirty="0" smtClean="0"/>
          </a:p>
          <a:p>
            <a:pPr>
              <a:buFontTx/>
              <a:buChar char="-"/>
            </a:pPr>
            <a:r>
              <a:rPr lang="fr-FR" sz="1600" dirty="0" smtClean="0"/>
              <a:t>Pour tester, il vous suffit de vous connecter sur </a:t>
            </a:r>
            <a:r>
              <a:rPr lang="fr-FR" sz="1600" dirty="0" smtClean="0">
                <a:hlinkClick r:id="rId4"/>
              </a:rPr>
              <a:t>http://www.bhive.fr</a:t>
            </a:r>
            <a:endParaRPr lang="fr-FR" sz="1600" dirty="0" smtClean="0"/>
          </a:p>
          <a:p>
            <a:pPr>
              <a:buFontTx/>
              <a:buChar char="-"/>
            </a:pPr>
            <a:r>
              <a:rPr lang="fr-FR" sz="1600" dirty="0" smtClean="0"/>
              <a:t>Les 2 comptes </a:t>
            </a:r>
            <a:r>
              <a:rPr lang="fr-FR" sz="1600" dirty="0" err="1" smtClean="0"/>
              <a:t>Bhive</a:t>
            </a:r>
            <a:r>
              <a:rPr lang="fr-FR" sz="1600" dirty="0" smtClean="0"/>
              <a:t> utilisent le même mot de passe : </a:t>
            </a:r>
            <a:r>
              <a:rPr lang="fr-FR" sz="1600" dirty="0" err="1" smtClean="0"/>
              <a:t>bhive</a:t>
            </a:r>
            <a:r>
              <a:rPr lang="fr-FR" sz="1600" dirty="0" smtClean="0"/>
              <a:t>@2013</a:t>
            </a:r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Gain financier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Commercial crée une mission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1 - Client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142976" y="4714884"/>
            <a:ext cx="714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B-</a:t>
            </a:r>
            <a:r>
              <a:rPr lang="fr-FR" sz="1600" dirty="0" err="1" smtClean="0"/>
              <a:t>Hive</a:t>
            </a:r>
            <a:r>
              <a:rPr lang="fr-FR" sz="1600" dirty="0" smtClean="0"/>
              <a:t> propose une interface simplifiée de gestion des clients qui lui permet de :</a:t>
            </a:r>
          </a:p>
          <a:p>
            <a:pPr>
              <a:buFontTx/>
              <a:buChar char="-"/>
            </a:pPr>
            <a:r>
              <a:rPr lang="fr-FR" sz="1600" dirty="0" smtClean="0"/>
              <a:t>Créer un client</a:t>
            </a:r>
          </a:p>
          <a:p>
            <a:pPr>
              <a:buFontTx/>
              <a:buChar char="-"/>
            </a:pPr>
            <a:r>
              <a:rPr lang="fr-FR" sz="1600" dirty="0" smtClean="0"/>
              <a:t>Créer une mission</a:t>
            </a:r>
          </a:p>
          <a:p>
            <a:pPr>
              <a:buFontTx/>
              <a:buChar char="-"/>
            </a:pPr>
            <a:r>
              <a:rPr lang="fr-FR" sz="1600" dirty="0" smtClean="0"/>
              <a:t>Créer une </a:t>
            </a:r>
            <a:r>
              <a:rPr lang="fr-FR" sz="1600" dirty="0" smtClean="0"/>
              <a:t>facture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71604" y="1928802"/>
            <a:ext cx="585787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5286380" y="2000240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857356" y="2357430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1142976" y="5357826"/>
            <a:ext cx="76438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mission concerne un client et un collaborateur, mais grâce un B-</a:t>
            </a:r>
            <a:r>
              <a:rPr lang="fr-FR" sz="1600" dirty="0" err="1" smtClean="0"/>
              <a:t>hive</a:t>
            </a:r>
            <a:r>
              <a:rPr lang="fr-FR" sz="1600" dirty="0" smtClean="0"/>
              <a:t>, on a rapidement : </a:t>
            </a:r>
          </a:p>
          <a:p>
            <a:pPr>
              <a:buFontTx/>
              <a:buChar char="-"/>
            </a:pPr>
            <a:r>
              <a:rPr lang="fr-FR" sz="1600" dirty="0" smtClean="0"/>
              <a:t>Le bénéfice réalisé par jour</a:t>
            </a:r>
          </a:p>
          <a:p>
            <a:pPr>
              <a:buFontTx/>
              <a:buChar char="-"/>
            </a:pPr>
            <a:r>
              <a:rPr lang="fr-FR" sz="1600" dirty="0" smtClean="0"/>
              <a:t>Une feuille de temps et note de frais pré-remplis puis envoyés par mail  tous les mois</a:t>
            </a:r>
          </a:p>
          <a:p>
            <a:pPr>
              <a:buFontTx/>
              <a:buChar char="-"/>
            </a:pPr>
            <a:r>
              <a:rPr lang="fr-FR" sz="1600" dirty="0" smtClean="0"/>
              <a:t> Une facturation prévisionnelle accessible plusieurs mois à l’avance.</a:t>
            </a:r>
          </a:p>
          <a:p>
            <a:pPr algn="ctr">
              <a:buFontTx/>
              <a:buChar char="-"/>
            </a:pPr>
            <a:r>
              <a:rPr lang="fr-FR" sz="1600" b="1" dirty="0" smtClean="0"/>
              <a:t>Optimisation des données en temps réel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2928990" y="2214554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Commercial crée une mission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2 - Mission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06" y="1571612"/>
            <a:ext cx="8615337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1214414" y="1571612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785786" y="1857364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Simple, efficace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214414" y="3931042"/>
            <a:ext cx="7143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Tous les activités de vos collaborateurs se retrouve dans un seul </a:t>
            </a:r>
            <a:r>
              <a:rPr lang="fr-FR" sz="1600" dirty="0" err="1" smtClean="0"/>
              <a:t>planing</a:t>
            </a:r>
            <a:r>
              <a:rPr lang="fr-FR" sz="1600" dirty="0" smtClean="0"/>
              <a:t> : </a:t>
            </a:r>
          </a:p>
          <a:p>
            <a:pPr>
              <a:buFontTx/>
              <a:buChar char="-"/>
            </a:pPr>
            <a:r>
              <a:rPr lang="fr-FR" sz="1600" dirty="0" smtClean="0"/>
              <a:t>Les missions en cours</a:t>
            </a:r>
          </a:p>
          <a:p>
            <a:pPr>
              <a:buFontTx/>
              <a:buChar char="-"/>
            </a:pPr>
            <a:r>
              <a:rPr lang="fr-FR" sz="1600" dirty="0" smtClean="0"/>
              <a:t>Les mission qui se termine dans moins de 2 mois</a:t>
            </a:r>
          </a:p>
          <a:p>
            <a:pPr>
              <a:buFontTx/>
              <a:buChar char="-"/>
            </a:pPr>
            <a:r>
              <a:rPr lang="fr-FR" sz="1600" dirty="0" smtClean="0"/>
              <a:t>Les arrêts maladies</a:t>
            </a:r>
          </a:p>
          <a:p>
            <a:pPr>
              <a:buFontTx/>
              <a:buChar char="-"/>
            </a:pPr>
            <a:r>
              <a:rPr lang="fr-FR" sz="1600" dirty="0" smtClean="0"/>
              <a:t>Les congés</a:t>
            </a:r>
          </a:p>
          <a:p>
            <a:pPr>
              <a:buFontTx/>
              <a:buChar char="-"/>
            </a:pPr>
            <a:r>
              <a:rPr lang="fr-FR" sz="1600" dirty="0" smtClean="0"/>
              <a:t>Les inter-affectations</a:t>
            </a:r>
          </a:p>
          <a:p>
            <a:pPr>
              <a:buFontTx/>
              <a:buChar char="-"/>
            </a:pPr>
            <a:r>
              <a:rPr lang="fr-FR" sz="1600" dirty="0" smtClean="0"/>
              <a:t>Les TMA.</a:t>
            </a:r>
          </a:p>
          <a:p>
            <a:pPr>
              <a:buFontTx/>
              <a:buChar char="-"/>
            </a:pPr>
            <a:endParaRPr lang="fr-FR" sz="1600" dirty="0" smtClean="0"/>
          </a:p>
          <a:p>
            <a:pPr algn="ctr"/>
            <a:r>
              <a:rPr lang="fr-FR" sz="1600" b="1" dirty="0" smtClean="0"/>
              <a:t>Rester maitre de la situation</a:t>
            </a:r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Commercial crée une mission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3 - Planning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1857364"/>
            <a:ext cx="75438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1643042" y="1928802"/>
            <a:ext cx="785818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357290" y="3000372"/>
            <a:ext cx="1428760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1142976" y="3929066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facturation est déjà prête.</a:t>
            </a:r>
          </a:p>
          <a:p>
            <a:r>
              <a:rPr lang="fr-FR" sz="1600" dirty="0" smtClean="0"/>
              <a:t>Il ne reste plus qu’à attendre la confirmation de votre collaborateur pour la valider.</a:t>
            </a:r>
          </a:p>
          <a:p>
            <a:endParaRPr lang="fr-FR" sz="1600" dirty="0" smtClean="0"/>
          </a:p>
          <a:p>
            <a:endParaRPr lang="fr-FR" sz="1600" dirty="0" smtClean="0"/>
          </a:p>
          <a:p>
            <a:endParaRPr lang="fr-FR" sz="1600" dirty="0" smtClean="0"/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Commercial crée une mission</a:t>
            </a: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4 - Facturation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1857364"/>
            <a:ext cx="730567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357290" y="3000372"/>
            <a:ext cx="785818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6643702" y="1928802"/>
            <a:ext cx="785818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Optimisation des données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collaborateur valide sa feuille de temps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1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–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Saisie de la feuille de temps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142976" y="3929066"/>
            <a:ext cx="7143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La feuille de temps est alimenté automatiquement par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</a:t>
            </a:r>
            <a:br>
              <a:rPr lang="fr-FR" sz="1600" dirty="0" smtClean="0"/>
            </a:br>
            <a:r>
              <a:rPr lang="fr-FR" sz="1600" dirty="0" smtClean="0"/>
              <a:t>selon les missions créées par le commercial.</a:t>
            </a:r>
            <a:br>
              <a:rPr lang="fr-FR" sz="1600" dirty="0" smtClean="0"/>
            </a:br>
            <a:r>
              <a:rPr lang="fr-FR" sz="1600" dirty="0" smtClean="0"/>
              <a:t>Le collaborateur n’a plus qu’a valider les données</a:t>
            </a:r>
            <a:endParaRPr lang="fr-FR" sz="1600" dirty="0" smtClean="0"/>
          </a:p>
          <a:p>
            <a:endParaRPr lang="fr-FR" sz="1600" b="1" dirty="0" smtClean="0"/>
          </a:p>
          <a:p>
            <a:pPr algn="ctr"/>
            <a:r>
              <a:rPr lang="fr-FR" sz="1600" b="1" dirty="0" smtClean="0"/>
              <a:t>Aucune action de </a:t>
            </a:r>
            <a:r>
              <a:rPr lang="fr-FR" sz="1600" b="1" dirty="0" smtClean="0"/>
              <a:t>consolidation ou de paramétrage</a:t>
            </a:r>
            <a:endParaRPr lang="fr-FR" sz="1600" b="1" dirty="0" smtClean="0"/>
          </a:p>
          <a:p>
            <a:pPr algn="ctr"/>
            <a:r>
              <a:rPr lang="fr-FR" sz="1600" b="1" dirty="0" smtClean="0"/>
              <a:t>Une feuille de temps alimenté </a:t>
            </a:r>
            <a:r>
              <a:rPr lang="fr-FR" sz="1600" b="1" dirty="0" smtClean="0"/>
              <a:t>en temps réel pour une réactivité optimale</a:t>
            </a:r>
          </a:p>
          <a:p>
            <a:endParaRPr lang="fr-FR" sz="1600" b="1" dirty="0" smtClean="0"/>
          </a:p>
          <a:p>
            <a:r>
              <a:rPr lang="fr-FR" sz="1600" b="1" dirty="0" smtClean="0"/>
              <a:t>Selon votre paramétrage, votre collaborateur n’est pas obligé de se connecter à </a:t>
            </a:r>
            <a:r>
              <a:rPr lang="fr-FR" sz="1600" b="1" dirty="0" err="1" smtClean="0"/>
              <a:t>Bhive</a:t>
            </a:r>
            <a:r>
              <a:rPr lang="fr-FR" sz="1600" b="1" dirty="0" smtClean="0"/>
              <a:t>, il va recevoir tous les mois sa feuille de temps par mail</a:t>
            </a:r>
            <a:endParaRPr lang="fr-FR" sz="1600" b="1" dirty="0" smtClean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 l="1555" t="28962" r="3349" b="45792"/>
          <a:stretch>
            <a:fillRect/>
          </a:stretch>
        </p:blipFill>
        <p:spPr bwMode="auto">
          <a:xfrm>
            <a:off x="642910" y="2000240"/>
            <a:ext cx="7572428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214414" y="2928934"/>
            <a:ext cx="642942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1571604" y="2071678"/>
            <a:ext cx="642942" cy="2143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avec flèche 14"/>
          <p:cNvCxnSpPr/>
          <p:nvPr/>
        </p:nvCxnSpPr>
        <p:spPr>
          <a:xfrm rot="16200000" flipV="1">
            <a:off x="7858148" y="3786190"/>
            <a:ext cx="35719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572396" y="3929066"/>
            <a:ext cx="1112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Note de frais</a:t>
            </a:r>
            <a:endParaRPr lang="fr-FR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Accessible sur Internet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1142976" y="3857628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Les notes de frais sont intégrées dans B-</a:t>
            </a:r>
            <a:r>
              <a:rPr lang="fr-FR" sz="1600" dirty="0" err="1" smtClean="0"/>
              <a:t>Hive</a:t>
            </a:r>
            <a:r>
              <a:rPr lang="fr-FR" sz="1600" dirty="0" smtClean="0"/>
              <a:t>. Ils sont soit récurent soit ponctuelles.</a:t>
            </a:r>
          </a:p>
          <a:p>
            <a:r>
              <a:rPr lang="fr-FR" sz="1600" dirty="0" smtClean="0"/>
              <a:t>A chaque fois, votre collaborateur reste maitre de sa validation</a:t>
            </a:r>
            <a:endParaRPr lang="fr-FR" sz="1600" dirty="0" smtClean="0"/>
          </a:p>
          <a:p>
            <a:endParaRPr lang="fr-FR" sz="1600" b="1" dirty="0" smtClean="0"/>
          </a:p>
          <a:p>
            <a:pPr algn="ctr"/>
            <a:r>
              <a:rPr lang="fr-FR" sz="1600" b="1" dirty="0" smtClean="0"/>
              <a:t>Gérer simplement les </a:t>
            </a:r>
            <a:r>
              <a:rPr lang="fr-FR" sz="1600" b="1" dirty="0" smtClean="0"/>
              <a:t>notes de frais</a:t>
            </a:r>
            <a:endParaRPr lang="fr-FR" sz="1600" b="1" dirty="0" smtClean="0"/>
          </a:p>
          <a:p>
            <a:endParaRPr lang="fr-FR" sz="1600" b="1" dirty="0" smtClean="0"/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collaborateur valide sa feuille de temps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2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–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Saisie de la note de frais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 l="11719" t="24350" r="12695" b="57143"/>
          <a:stretch>
            <a:fillRect/>
          </a:stretch>
        </p:blipFill>
        <p:spPr bwMode="auto">
          <a:xfrm>
            <a:off x="214282" y="2071678"/>
            <a:ext cx="8286808" cy="122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142976" y="4716860"/>
            <a:ext cx="7143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compte rendu de la feuille de temps, indique les jours présent chez le client ainsi que la note de frais</a:t>
            </a:r>
            <a:endParaRPr lang="fr-FR" sz="1600" dirty="0" smtClean="0"/>
          </a:p>
          <a:p>
            <a:pPr algn="ctr"/>
            <a:r>
              <a:rPr lang="fr-FR" sz="1600" b="1" dirty="0" smtClean="0"/>
              <a:t>La transparence en temps réel</a:t>
            </a:r>
          </a:p>
          <a:p>
            <a:endParaRPr lang="fr-FR" sz="1600" dirty="0" smtClean="0"/>
          </a:p>
          <a:p>
            <a:r>
              <a:rPr lang="fr-FR" sz="1600" dirty="0" smtClean="0"/>
              <a:t>Selon votre paramétrage : il peut valider sa demande et saisir des informations sur sa mission pour la rédaction de son « CV » ou pour informer son commercial  </a:t>
            </a:r>
            <a:endParaRPr lang="fr-FR" sz="1600" dirty="0" smtClean="0"/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Mon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collaborateur valide sa feuille de temps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3 – Validation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224" y="1714488"/>
            <a:ext cx="721995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3 logiciels en 1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 paramétrage de B-</a:t>
            </a:r>
            <a:r>
              <a:rPr lang="fr-FR" sz="40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1- Organigramme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357290" y="5000636"/>
            <a:ext cx="7143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Créez simplement vos utilisateurs dans un organigramme.</a:t>
            </a:r>
          </a:p>
          <a:p>
            <a:r>
              <a:rPr lang="fr-FR" sz="1600" dirty="0" smtClean="0"/>
              <a:t>Le premier niveau indique les responsables de la société</a:t>
            </a:r>
          </a:p>
          <a:p>
            <a:r>
              <a:rPr lang="fr-FR" sz="1600" dirty="0" smtClean="0"/>
              <a:t>Le second niveau indique les responsables des sites ou d’agences</a:t>
            </a:r>
          </a:p>
          <a:p>
            <a:r>
              <a:rPr lang="fr-FR" sz="1600" dirty="0" smtClean="0"/>
              <a:t>Le troisième niveau indique les responsables de service</a:t>
            </a:r>
          </a:p>
          <a:p>
            <a:r>
              <a:rPr lang="fr-FR" sz="1600" dirty="0" smtClean="0"/>
              <a:t>Et enfin le dernier liste les collaborateurs du service.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28860" y="1857364"/>
            <a:ext cx="352425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713044"/>
            <a:ext cx="564357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36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Ticket / Feuille de temps / Budget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Le paramétrage de B-</a:t>
            </a:r>
            <a:r>
              <a:rPr lang="fr-FR" sz="4000" b="1" dirty="0" err="1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Hive</a:t>
            </a:r>
            <a:endParaRPr lang="fr-FR" sz="4000" b="1" dirty="0" smtClean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Etape 2-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Activer les interfaces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214414" y="5500702"/>
            <a:ext cx="721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Configurer B-</a:t>
            </a:r>
            <a:r>
              <a:rPr lang="fr-FR" sz="1600" dirty="0" err="1" smtClean="0"/>
              <a:t>Hive</a:t>
            </a:r>
            <a:r>
              <a:rPr lang="fr-FR" sz="1600" dirty="0" smtClean="0"/>
              <a:t> selon vos besoins : une interface simple ou complexe</a:t>
            </a:r>
          </a:p>
          <a:p>
            <a:endParaRPr lang="fr-FR" sz="1600" dirty="0" smtClean="0"/>
          </a:p>
          <a:p>
            <a:pPr algn="ctr"/>
            <a:r>
              <a:rPr lang="fr-FR" sz="1600" b="1" dirty="0" smtClean="0"/>
              <a:t>Aucune </a:t>
            </a:r>
            <a:r>
              <a:rPr lang="fr-FR" sz="1600" b="1" dirty="0" smtClean="0"/>
              <a:t>contrainte</a:t>
            </a:r>
            <a:endParaRPr lang="fr-FR" sz="1600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71670" y="1714488"/>
            <a:ext cx="441007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Gsm 33 (0)6 63 39 </a:t>
            </a:r>
            <a:r>
              <a:rPr lang="fr-FR" sz="1800" smtClean="0">
                <a:latin typeface="Calibri" pitchFamily="34" charset="0"/>
              </a:rPr>
              <a:t>31 15</a:t>
            </a:r>
            <a:endParaRPr lang="fr-FR" sz="1800" dirty="0" smtClean="0">
              <a:latin typeface="Calibri" pitchFamily="34" charset="0"/>
            </a:endParaRPr>
          </a:p>
          <a:p>
            <a:pPr algn="ctr"/>
            <a:endParaRPr lang="fr-FR" sz="1800" dirty="0" smtClean="0">
              <a:latin typeface="Calibri" pitchFamily="34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E-mail. staff@beesoftware.net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    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 dirty="0"/>
              <a:t>Copyright © </a:t>
            </a:r>
            <a:r>
              <a:rPr lang="en-US" sz="1100" dirty="0" smtClean="0"/>
              <a:t>2013 </a:t>
            </a:r>
            <a:r>
              <a:rPr lang="en-US" sz="1100" dirty="0"/>
              <a:t>beesoftware.net. All Rights Reserved</a:t>
            </a:r>
            <a:endParaRPr lang="fr-FR" sz="1100" dirty="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429224" y="3500438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4370</TotalTime>
  <Words>614</Words>
  <Application>Microsoft PowerPoint</Application>
  <PresentationFormat>Affichage à l'écran (4:3)</PresentationFormat>
  <Paragraphs>106</Paragraphs>
  <Slides>13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410</cp:revision>
  <dcterms:created xsi:type="dcterms:W3CDTF">2008-08-18T15:51:12Z</dcterms:created>
  <dcterms:modified xsi:type="dcterms:W3CDTF">2013-06-11T11:20:28Z</dcterms:modified>
</cp:coreProperties>
</file>