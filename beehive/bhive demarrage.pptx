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1" r:id="rId2"/>
    <p:sldId id="292" r:id="rId3"/>
    <p:sldId id="310" r:id="rId4"/>
    <p:sldId id="312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296" r:id="rId18"/>
    <p:sldId id="302" r:id="rId19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03/06/2013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gif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contact@beesoftware.net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1428736"/>
            <a:ext cx="52149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Démarrage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2357422" y="1643050"/>
            <a:ext cx="54292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 document doit vous permettre rapidement de démarrer avec B-Hive.</a:t>
            </a:r>
          </a:p>
          <a:p>
            <a:endParaRPr lang="fr-FR" sz="1600" dirty="0" smtClean="0"/>
          </a:p>
          <a:p>
            <a:r>
              <a:rPr lang="fr-FR" sz="1600" dirty="0" smtClean="0"/>
              <a:t>Il décrit en quelques étapes, les différents points à créer, contrôler ou à configurer avant de créer un incident</a:t>
            </a:r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financier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Société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357290" y="3231909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Les informations de votre société sont utilisées dans certains documents PDF générés par B-Hive. Il est donc important que les informations </a:t>
            </a:r>
            <a:r>
              <a:rPr lang="fr-FR" sz="1600" smtClean="0"/>
              <a:t>présentes </a:t>
            </a:r>
            <a:r>
              <a:rPr lang="fr-FR" sz="1600" smtClean="0"/>
              <a:t>soient </a:t>
            </a:r>
            <a:r>
              <a:rPr lang="fr-FR" sz="1600" dirty="0" smtClean="0"/>
              <a:t>correctes.</a:t>
            </a:r>
          </a:p>
          <a:p>
            <a:endParaRPr lang="fr-F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2563" y="1762122"/>
            <a:ext cx="69627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Site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214414" y="3566228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site permet de situer géographiquement vos collaborateurs.</a:t>
            </a:r>
          </a:p>
          <a:p>
            <a:r>
              <a:rPr lang="fr-FR" sz="1600" dirty="0" smtClean="0"/>
              <a:t>Pour le module TMA, il est aussi utilisé pour la recherche budgétaire</a:t>
            </a:r>
          </a:p>
          <a:p>
            <a:endParaRPr lang="fr-FR" sz="1600" dirty="0" smtClean="0"/>
          </a:p>
          <a:p>
            <a:r>
              <a:rPr lang="fr-FR" sz="1600" dirty="0" smtClean="0"/>
              <a:t>Avant de commencer à utiliser B-Hive, il faut donc que vous définissiez tous vos sites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 : Pour créer un nouveau site : Menu Paramétrage / Société / Créer / Site</a:t>
            </a:r>
          </a:p>
          <a:p>
            <a:endParaRPr lang="fr-FR" sz="16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28713" y="1809750"/>
            <a:ext cx="68865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3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Contrôle des informations : Service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214414" y="3931042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tous vos collaborateurs doivent appartenir à un site et à un service.</a:t>
            </a:r>
          </a:p>
          <a:p>
            <a:r>
              <a:rPr lang="fr-FR" sz="1600" dirty="0" smtClean="0"/>
              <a:t>Cela signifie que vous devez définir vos services avant de créer vos comptes utilisateurs.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Remarque: La création d’un service suppose la saisie obligatoire d’un responsable.</a:t>
            </a:r>
          </a:p>
          <a:p>
            <a:r>
              <a:rPr lang="fr-FR" sz="1600" dirty="0" smtClean="0"/>
              <a:t>Par défaut, mettez votre utilisateur ADMIN. Une fois que tous vos utilisateurs ont été créé, il faudra venir modifier vos services afin de renseigner les bons responsables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4425" y="1857364"/>
            <a:ext cx="69151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Profil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572000" y="1857364"/>
            <a:ext cx="41434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Chaque contact utilisé dans B-Hive doit avoir un compte.</a:t>
            </a:r>
          </a:p>
          <a:p>
            <a:endParaRPr lang="fr-FR" sz="1600" dirty="0" smtClean="0"/>
          </a:p>
          <a:p>
            <a:r>
              <a:rPr lang="fr-FR" sz="1600" dirty="0" smtClean="0"/>
              <a:t>Il existe 5 profils pour définir un compte : 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« Utilisateur » : </a:t>
            </a:r>
            <a:r>
              <a:rPr lang="fr-FR" sz="1100" dirty="0" smtClean="0">
                <a:sym typeface="Wingdings" pitchFamily="2" charset="2"/>
              </a:rPr>
              <a:t>il peut juste créer une demande 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« Collaborateur » : </a:t>
            </a:r>
            <a:r>
              <a:rPr lang="fr-FR" sz="1200" dirty="0" smtClean="0">
                <a:sym typeface="Wingdings" pitchFamily="2" charset="2"/>
              </a:rPr>
              <a:t>C’est un développeur appartenant à une équipe responsable d’une application. Il peut saisir son CRA et résoudre une demande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Chef d’équipe » : </a:t>
            </a:r>
            <a:r>
              <a:rPr lang="fr-FR" sz="1200" dirty="0" smtClean="0">
                <a:sym typeface="Wingdings" pitchFamily="2" charset="2"/>
              </a:rPr>
              <a:t>C’est un collaborateur responsable d’une équipe d’une application. Il peut saisir son CRA et résoudre une demande et gérer les plannings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Responsable de service » : </a:t>
            </a:r>
            <a:r>
              <a:rPr lang="fr-FR" sz="1200" dirty="0" smtClean="0">
                <a:sym typeface="Wingdings" pitchFamily="2" charset="2"/>
              </a:rPr>
              <a:t>C’est un collaborateur responsable d’un service. Il peut saisir son CRA , gérer les plannings, valider les congés, suivre les prestations et les budgets, et (éventuellement) résoudre une demande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 « Administrateur » : </a:t>
            </a:r>
            <a:r>
              <a:rPr lang="fr-FR" sz="1200" dirty="0" smtClean="0">
                <a:sym typeface="Wingdings" pitchFamily="2" charset="2"/>
              </a:rPr>
              <a:t>C’est un collaborateur ayant les droits pour configurer l’utilisation de B-Hive</a:t>
            </a:r>
            <a:endParaRPr lang="fr-FR" sz="16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1000100" y="2714620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Optimisation des données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CRA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572000" y="1857364"/>
            <a:ext cx="41434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Doit-il saisir son CRA  ? Oui / Non</a:t>
            </a:r>
          </a:p>
          <a:p>
            <a:endParaRPr lang="fr-FR" sz="1600" dirty="0" smtClean="0"/>
          </a:p>
          <a:p>
            <a:r>
              <a:rPr lang="fr-FR" sz="1600" dirty="0" smtClean="0"/>
              <a:t>Cette zone vous permet de rendre visible l’interface  « Activité ».</a:t>
            </a:r>
          </a:p>
          <a:p>
            <a:r>
              <a:rPr lang="fr-FR" sz="1600" dirty="0" smtClean="0"/>
              <a:t>(contenant la saisie du CRA et la création des demandes de congés)</a:t>
            </a:r>
          </a:p>
          <a:p>
            <a:endParaRPr lang="fr-FR" sz="1600" dirty="0" smtClean="0"/>
          </a:p>
          <a:p>
            <a:r>
              <a:rPr lang="fr-FR" sz="1600" dirty="0" smtClean="0"/>
              <a:t>Logiquement, seul un profil « Utilisateur » n’a pas besoin de saisir son activité.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000100" y="3357562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Compte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72000" y="1857364"/>
            <a:ext cx="41434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Compte utilisateur B-Hive</a:t>
            </a:r>
          </a:p>
          <a:p>
            <a:endParaRPr lang="fr-FR" sz="1600" dirty="0" smtClean="0"/>
          </a:p>
          <a:p>
            <a:r>
              <a:rPr lang="fr-FR" sz="1600" dirty="0" smtClean="0"/>
              <a:t>Le compte utilisateur de B-Hive correspond à vos identifiants de connexion.</a:t>
            </a:r>
          </a:p>
          <a:p>
            <a:endParaRPr lang="fr-FR" sz="1600" dirty="0" smtClean="0"/>
          </a:p>
          <a:p>
            <a:r>
              <a:rPr lang="fr-FR" sz="1600" dirty="0" smtClean="0"/>
              <a:t>Il est imposé par le système.</a:t>
            </a:r>
          </a:p>
          <a:p>
            <a:r>
              <a:rPr lang="fr-FR" sz="1600" dirty="0" smtClean="0"/>
              <a:t>Il est constitué de 3 lettres définissant votre société puis du nom de votre collaborateur.</a:t>
            </a:r>
          </a:p>
          <a:p>
            <a:endParaRPr lang="fr-FR" sz="1600" dirty="0" smtClean="0"/>
          </a:p>
          <a:p>
            <a:r>
              <a:rPr lang="fr-FR" sz="1600" dirty="0" smtClean="0"/>
              <a:t>Le compte utilisateur et le mot de passe sont les informations à transmettre à vos collaborateurs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1000100" y="4071942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- Activation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572000" y="1857364"/>
            <a:ext cx="41434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Période d’activation</a:t>
            </a:r>
          </a:p>
          <a:p>
            <a:endParaRPr lang="fr-FR" sz="1600" dirty="0" smtClean="0"/>
          </a:p>
          <a:p>
            <a:r>
              <a:rPr lang="fr-FR" sz="1600" dirty="0" smtClean="0"/>
              <a:t>La date d’activation et d’expiration définissent la période ou le compte B-Hive est actif.</a:t>
            </a:r>
          </a:p>
          <a:p>
            <a:endParaRPr lang="fr-FR" sz="1600" dirty="0" smtClean="0"/>
          </a:p>
          <a:p>
            <a:r>
              <a:rPr lang="fr-FR" sz="1600" dirty="0" smtClean="0"/>
              <a:t>Une fois le délai expiré, Le collaborateur ne pourra plus se connecter à B-Hive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000100" y="4429132"/>
            <a:ext cx="3143272" cy="428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Créer votre produit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des comptes utilisateurs – Sous-traitant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572000" y="1857364"/>
            <a:ext cx="41434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Client  ou  Sous-traitant</a:t>
            </a:r>
          </a:p>
          <a:p>
            <a:endParaRPr lang="fr-FR" sz="1600" dirty="0" smtClean="0"/>
          </a:p>
          <a:p>
            <a:r>
              <a:rPr lang="fr-FR" sz="1600" dirty="0" smtClean="0"/>
              <a:t>Il est possible de donner accès à B-Hive a des sous-traitant (afin de suivre leur consommation mensuelle) ou à des clients (pour la saisie de demande)</a:t>
            </a:r>
          </a:p>
          <a:p>
            <a:endParaRPr lang="fr-FR" sz="1600" dirty="0" smtClean="0"/>
          </a:p>
          <a:p>
            <a:r>
              <a:rPr lang="fr-FR" sz="1600" dirty="0" smtClean="0"/>
              <a:t>Le fonctionnement du compte est alors identique à un utilisateur de votre société.</a:t>
            </a:r>
          </a:p>
          <a:p>
            <a:endParaRPr lang="fr-FR" sz="1600" dirty="0" smtClean="0"/>
          </a:p>
          <a:p>
            <a:r>
              <a:rPr lang="fr-FR" sz="1600" dirty="0" smtClean="0"/>
              <a:t>L’utilisation de B-Hive pour ses comptes particuliers est lui aussi identique à celui de vos utilisateurs.</a:t>
            </a:r>
          </a:p>
          <a:p>
            <a:endParaRPr lang="fr-FR" sz="1600" dirty="0" smtClean="0"/>
          </a:p>
          <a:p>
            <a:r>
              <a:rPr lang="fr-FR" sz="1600" dirty="0" smtClean="0"/>
              <a:t>L’avantage : </a:t>
            </a:r>
          </a:p>
          <a:p>
            <a:pPr>
              <a:buFont typeface="Wingdings"/>
              <a:buChar char="à"/>
            </a:pPr>
            <a:r>
              <a:rPr lang="fr-FR" sz="1600" dirty="0" smtClean="0"/>
              <a:t>Pour un prestataire, vous allez pouvoir suivre les prestations mensuelles par prestataire.</a:t>
            </a:r>
          </a:p>
          <a:p>
            <a:pPr>
              <a:buFont typeface="Wingdings"/>
              <a:buChar char="à"/>
            </a:pPr>
            <a:r>
              <a:rPr lang="fr-FR" sz="1600" dirty="0" smtClean="0"/>
              <a:t>Pour un client, il peut directement utiliser </a:t>
            </a:r>
            <a:br>
              <a:rPr lang="fr-FR" sz="1600" dirty="0" smtClean="0"/>
            </a:br>
            <a:r>
              <a:rPr lang="fr-FR" sz="1600" dirty="0" smtClean="0"/>
              <a:t>B-Hive comme support de déclaration d’incident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928802"/>
            <a:ext cx="4443422" cy="34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1000100" y="4857760"/>
            <a:ext cx="314327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Ergonomie conviviale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5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Définissez vos responsables de service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14414" y="4357694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Vos utilisateurs sont créés ?</a:t>
            </a:r>
          </a:p>
          <a:p>
            <a:endParaRPr lang="fr-FR" sz="1600" dirty="0" smtClean="0"/>
          </a:p>
          <a:p>
            <a:r>
              <a:rPr lang="fr-FR" sz="1600" dirty="0" smtClean="0"/>
              <a:t>Maintenant, définissez vos responsables de service.</a:t>
            </a:r>
          </a:p>
          <a:p>
            <a:r>
              <a:rPr lang="fr-FR" sz="1600" dirty="0" smtClean="0"/>
              <a:t>Cette modification est importante, car elle permet d’élargir la visibilité sur chaque collaborateur.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1643050"/>
            <a:ext cx="5710253" cy="2536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Donnée exportable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6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Résolution TMA : Visibilité d’une fonctionnalité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14414" y="5034519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Voici toutes les fonctionnalités affichées lors de la résolution d’une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avez la possibilité (à tout moment) de rendre visible ou invisible certaines fonctionnalités. 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Remarque: Cette action n’a pas d’impact sur les données déjà enregistrées. Seul le design est concerné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10994" y="1571612"/>
            <a:ext cx="5189964" cy="3462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214678" y="3500438"/>
            <a:ext cx="2143140" cy="1500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prévisionnel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workflow de B-Hive est entièrement personnalisable.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créer votre workflow selon le type de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décider QUAND l’état va changer, et QUE faut-il faire lors de ce changement.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envoyer des MAILS, joindre une PDF</a:t>
            </a:r>
          </a:p>
          <a:p>
            <a:endParaRPr lang="fr-FR" sz="1600" dirty="0" smtClean="0"/>
          </a:p>
          <a:p>
            <a:r>
              <a:rPr lang="fr-FR" sz="1600" dirty="0" smtClean="0"/>
              <a:t>Et si notre workflow ne suit pas, nous le ferons évoluer.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1643042" y="5643578"/>
            <a:ext cx="6542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Ajouter un nouvel état : Par défaut il affiche la liste des états par défaut.</a:t>
            </a:r>
          </a:p>
          <a:p>
            <a:r>
              <a:rPr lang="fr-FR" sz="1600" dirty="0" smtClean="0"/>
              <a:t>Ces états sont déjà configurés, mais il est possible de créer vos propres états</a:t>
            </a:r>
            <a:endParaRPr lang="fr-FR" sz="1600" dirty="0"/>
          </a:p>
        </p:txBody>
      </p:sp>
      <p:sp>
        <p:nvSpPr>
          <p:cNvPr id="13" name="Rectangle 12"/>
          <p:cNvSpPr/>
          <p:nvPr/>
        </p:nvSpPr>
        <p:spPr>
          <a:xfrm>
            <a:off x="2285984" y="5214950"/>
            <a:ext cx="178595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Visibilité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357818" y="1643050"/>
            <a:ext cx="32147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tous les types de demandes sont inactifs et donc non visibles.</a:t>
            </a:r>
          </a:p>
          <a:p>
            <a:endParaRPr lang="fr-FR" sz="1600" dirty="0" smtClean="0"/>
          </a:p>
          <a:p>
            <a:r>
              <a:rPr lang="fr-FR" sz="1600" dirty="0" smtClean="0"/>
              <a:t>Pour rendre visible un type lors de la création d’une demande, il faut cliquer sur le bouton « Activé »</a:t>
            </a:r>
          </a:p>
          <a:p>
            <a:endParaRPr lang="fr-FR" sz="1600" dirty="0" smtClean="0"/>
          </a:p>
          <a:p>
            <a:r>
              <a:rPr lang="fr-FR" sz="1600" dirty="0" smtClean="0"/>
              <a:t>Et inversement, pour le rendre TOUJOURS invisible, il suffit de le « Désactivé »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 : Si vous créez un nouveau type de demande, il faut vous reconnecter afin de le voir apparaitre dans le menu. </a:t>
            </a:r>
          </a:p>
          <a:p>
            <a:r>
              <a:rPr lang="fr-FR" sz="1600" dirty="0" smtClean="0"/>
              <a:t>(Evolution à venir)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428992" y="2000240"/>
            <a:ext cx="142876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571472" y="4143380"/>
            <a:ext cx="500066" cy="78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Exclure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357818" y="1643050"/>
            <a:ext cx="32147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« Surtout pour les SSII »</a:t>
            </a:r>
          </a:p>
          <a:p>
            <a:endParaRPr lang="fr-FR" sz="1600" dirty="0" smtClean="0"/>
          </a:p>
          <a:p>
            <a:r>
              <a:rPr lang="fr-FR" sz="1600" dirty="0" smtClean="0"/>
              <a:t>Il est possible de créer un workflow différent selon le client.</a:t>
            </a:r>
          </a:p>
          <a:p>
            <a:endParaRPr lang="fr-FR" sz="1600" dirty="0" smtClean="0"/>
          </a:p>
          <a:p>
            <a:r>
              <a:rPr lang="fr-FR" sz="1600" dirty="0" smtClean="0"/>
              <a:t>B-Hive vous permet d’exclure des applications ou des services du workflow.</a:t>
            </a:r>
          </a:p>
          <a:p>
            <a:endParaRPr lang="fr-FR" sz="1600" dirty="0" smtClean="0"/>
          </a:p>
          <a:p>
            <a:r>
              <a:rPr lang="fr-FR" sz="1600" dirty="0" smtClean="0"/>
              <a:t>Ce qui signifie que ce type de demande ne sera pas visible lors de la création d’une demande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643042" y="2214554"/>
            <a:ext cx="357190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7</a:t>
            </a:r>
            <a:b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</a:b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Personnalisez votre workflow : Description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Il est possible pour (presque) chaque état de définir une action.</a:t>
            </a:r>
          </a:p>
          <a:p>
            <a:r>
              <a:rPr lang="fr-FR" sz="1600" dirty="0" smtClean="0"/>
              <a:t>Ces action sont définies par un symbole</a:t>
            </a:r>
          </a:p>
          <a:p>
            <a:endParaRPr lang="fr-FR" sz="1600" dirty="0" smtClean="0"/>
          </a:p>
          <a:p>
            <a:r>
              <a:rPr lang="fr-FR" sz="1600" dirty="0" smtClean="0"/>
              <a:t>     Le libellé de l’état change, mais la demande ne change pas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Le libellé de l’état change, et  la demande  change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 Changement d’état automatique</a:t>
            </a:r>
          </a:p>
          <a:p>
            <a:endParaRPr lang="fr-FR" sz="1600" dirty="0" smtClean="0"/>
          </a:p>
          <a:p>
            <a:r>
              <a:rPr lang="fr-FR" sz="1600" dirty="0" smtClean="0"/>
              <a:t>      Envoi d’un mail</a:t>
            </a:r>
          </a:p>
          <a:p>
            <a:endParaRPr lang="fr-FR" sz="1600" dirty="0" smtClean="0"/>
          </a:p>
          <a:p>
            <a:r>
              <a:rPr lang="fr-FR" sz="1600" dirty="0" smtClean="0"/>
              <a:t>      Joindre un PDF dans le mail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57818" y="2857496"/>
            <a:ext cx="22584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10220" y="3929066"/>
            <a:ext cx="13335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57818" y="3919542"/>
            <a:ext cx="95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9257" y="4557722"/>
            <a:ext cx="214313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85294" y="5133986"/>
            <a:ext cx="258276" cy="223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357818" y="5500701"/>
            <a:ext cx="258539" cy="285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contact@beesoftware.net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4148</TotalTime>
  <Words>813</Words>
  <Application>Microsoft PowerPoint</Application>
  <PresentationFormat>Affichage à l'écran (4:3)</PresentationFormat>
  <Paragraphs>155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371</cp:revision>
  <dcterms:created xsi:type="dcterms:W3CDTF">2008-08-18T15:51:12Z</dcterms:created>
  <dcterms:modified xsi:type="dcterms:W3CDTF">2013-06-03T20:54:56Z</dcterms:modified>
</cp:coreProperties>
</file>