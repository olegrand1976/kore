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2" r:id="rId3"/>
    <p:sldId id="274" r:id="rId4"/>
    <p:sldId id="273" r:id="rId5"/>
    <p:sldId id="275" r:id="rId6"/>
    <p:sldId id="277" r:id="rId7"/>
    <p:sldId id="276" r:id="rId8"/>
    <p:sldId id="278" r:id="rId9"/>
    <p:sldId id="279" r:id="rId10"/>
    <p:sldId id="280" r:id="rId11"/>
    <p:sldId id="281" r:id="rId12"/>
    <p:sldId id="282" r:id="rId13"/>
    <p:sldId id="283" r:id="rId14"/>
    <p:sldId id="270" r:id="rId1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70" d="100"/>
          <a:sy n="70" d="100"/>
        </p:scale>
        <p:origin x="-510"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6F6EB34D-ECAA-4E71-8933-D2596638FC9D}" type="datetimeFigureOut">
              <a:rPr lang="fr-FR" smtClean="0"/>
              <a:pPr/>
              <a:t>08/12/2013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F6EB34D-ECAA-4E71-8933-D2596638FC9D}" type="datetimeFigureOut">
              <a:rPr lang="fr-FR" smtClean="0"/>
              <a:pPr/>
              <a:t>08/12/2013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6F6EB34D-ECAA-4E71-8933-D2596638FC9D}" type="datetimeFigureOut">
              <a:rPr lang="fr-FR" smtClean="0"/>
              <a:pPr/>
              <a:t>08/12/2013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6F6EB34D-ECAA-4E71-8933-D2596638FC9D}" type="datetimeFigureOut">
              <a:rPr lang="fr-FR" smtClean="0"/>
              <a:pPr/>
              <a:t>08/12/2013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6F6EB34D-ECAA-4E71-8933-D2596638FC9D}" type="datetimeFigureOut">
              <a:rPr lang="fr-FR" smtClean="0"/>
              <a:pPr/>
              <a:t>08/12/2013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6F6EB34D-ECAA-4E71-8933-D2596638FC9D}" type="datetimeFigureOut">
              <a:rPr lang="fr-FR" smtClean="0"/>
              <a:pPr/>
              <a:t>08/12/2013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F6EB34D-ECAA-4E71-8933-D2596638FC9D}" type="datetimeFigureOut">
              <a:rPr lang="fr-FR" smtClean="0"/>
              <a:pPr/>
              <a:t>08/12/2013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6F6EB34D-ECAA-4E71-8933-D2596638FC9D}" type="datetimeFigureOut">
              <a:rPr lang="fr-FR" smtClean="0"/>
              <a:pPr/>
              <a:t>08/12/2013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6F6EB34D-ECAA-4E71-8933-D2596638FC9D}" type="datetimeFigureOut">
              <a:rPr lang="fr-FR" smtClean="0"/>
              <a:pPr/>
              <a:t>08/12/2013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F6EB34D-ECAA-4E71-8933-D2596638FC9D}" type="datetimeFigureOut">
              <a:rPr lang="fr-FR" smtClean="0"/>
              <a:pPr/>
              <a:t>08/12/2013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F6EB34D-ECAA-4E71-8933-D2596638FC9D}" type="datetimeFigureOut">
              <a:rPr lang="fr-FR" smtClean="0"/>
              <a:pPr/>
              <a:t>08/12/2013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7B568E1-1B86-4A95-BC1B-256D47D7D832}"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6EB34D-ECAA-4E71-8933-D2596638FC9D}" type="datetimeFigureOut">
              <a:rPr lang="fr-FR" smtClean="0"/>
              <a:pPr/>
              <a:t>08/12/2013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B568E1-1B86-4A95-BC1B-256D47D7D832}"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www.horoquartz.fr/gestion-des-plannings.php" TargetMode="External"/><Relationship Id="rId4" Type="http://schemas.openxmlformats.org/officeDocument/2006/relationships/hyperlink" Target="http://www.horoquartz.fr/gestion-du-temps-gestion-pr%C3%A9sence-absence.php"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sp>
        <p:nvSpPr>
          <p:cNvPr id="20" name="Rectangle 19"/>
          <p:cNvSpPr/>
          <p:nvPr/>
        </p:nvSpPr>
        <p:spPr>
          <a:xfrm>
            <a:off x="642910" y="1142984"/>
            <a:ext cx="7858180" cy="428628"/>
          </a:xfrm>
          <a:prstGeom prst="rect">
            <a:avLst/>
          </a:prstGeom>
          <a:ln>
            <a:noFill/>
          </a:ln>
          <a:effectLst>
            <a:outerShdw blurRad="152400" dist="88900" dir="6000000" algn="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3" name="Connecteur droit 22"/>
          <p:cNvCxnSpPr/>
          <p:nvPr/>
        </p:nvCxnSpPr>
        <p:spPr>
          <a:xfrm rot="5400000">
            <a:off x="4858546" y="1356504"/>
            <a:ext cx="285752" cy="158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4" name="Connecteur droit 23"/>
          <p:cNvCxnSpPr/>
          <p:nvPr/>
        </p:nvCxnSpPr>
        <p:spPr>
          <a:xfrm rot="5400000">
            <a:off x="3286910" y="1356504"/>
            <a:ext cx="285752" cy="158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 name="Connecteur droit 25"/>
          <p:cNvCxnSpPr/>
          <p:nvPr/>
        </p:nvCxnSpPr>
        <p:spPr>
          <a:xfrm rot="5400000">
            <a:off x="6573058" y="1356504"/>
            <a:ext cx="285752" cy="158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5929322" y="1714488"/>
            <a:ext cx="3214678" cy="5143512"/>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grpSp>
        <p:nvGrpSpPr>
          <p:cNvPr id="30" name="Groupe 29"/>
          <p:cNvGrpSpPr/>
          <p:nvPr/>
        </p:nvGrpSpPr>
        <p:grpSpPr>
          <a:xfrm>
            <a:off x="0" y="2143116"/>
            <a:ext cx="6000760" cy="428628"/>
            <a:chOff x="0" y="928670"/>
            <a:chExt cx="9144000" cy="428628"/>
          </a:xfrm>
        </p:grpSpPr>
        <p:sp>
          <p:nvSpPr>
            <p:cNvPr id="31" name="Rectangle 30"/>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p:cNvSpPr txBox="1"/>
            <p:nvPr/>
          </p:nvSpPr>
          <p:spPr>
            <a:xfrm>
              <a:off x="217667" y="928670"/>
              <a:ext cx="6966894" cy="369332"/>
            </a:xfrm>
            <a:prstGeom prst="rect">
              <a:avLst/>
            </a:prstGeom>
            <a:noFill/>
          </p:spPr>
          <p:txBody>
            <a:bodyPr wrap="square" rtlCol="0">
              <a:spAutoFit/>
            </a:bodyPr>
            <a:lstStyle/>
            <a:p>
              <a:r>
                <a:rPr lang="fr-FR" dirty="0" smtClean="0">
                  <a:solidFill>
                    <a:schemeClr val="bg1"/>
                  </a:solidFill>
                </a:rPr>
                <a:t>Gestionnaire de </a:t>
              </a:r>
              <a:r>
                <a:rPr lang="fr-FR" dirty="0" smtClean="0">
                  <a:solidFill>
                    <a:schemeClr val="bg1"/>
                  </a:solidFill>
                </a:rPr>
                <a:t>temps et d’activités</a:t>
              </a:r>
              <a:endParaRPr lang="fr-FR" dirty="0">
                <a:solidFill>
                  <a:schemeClr val="bg1"/>
                </a:solidFill>
              </a:endParaRPr>
            </a:p>
          </p:txBody>
        </p:sp>
      </p:grpSp>
      <p:sp>
        <p:nvSpPr>
          <p:cNvPr id="35" name="Rectangle 34"/>
          <p:cNvSpPr/>
          <p:nvPr/>
        </p:nvSpPr>
        <p:spPr>
          <a:xfrm>
            <a:off x="642910" y="1214422"/>
            <a:ext cx="2786082" cy="307777"/>
          </a:xfrm>
          <a:prstGeom prst="rect">
            <a:avLst/>
          </a:prstGeom>
        </p:spPr>
        <p:txBody>
          <a:bodyPr wrap="square">
            <a:spAutoFit/>
          </a:bodyPr>
          <a:lstStyle/>
          <a:p>
            <a:r>
              <a:rPr lang="fr-FR" sz="1400" dirty="0" smtClean="0">
                <a:solidFill>
                  <a:schemeClr val="bg1"/>
                </a:solidFill>
              </a:rPr>
              <a:t>Gestion </a:t>
            </a:r>
            <a:r>
              <a:rPr lang="fr-FR" sz="1400" dirty="0" smtClean="0">
                <a:solidFill>
                  <a:schemeClr val="bg1"/>
                </a:solidFill>
              </a:rPr>
              <a:t>de </a:t>
            </a:r>
            <a:r>
              <a:rPr lang="fr-FR" sz="1400" dirty="0" smtClean="0">
                <a:solidFill>
                  <a:schemeClr val="bg1"/>
                </a:solidFill>
              </a:rPr>
              <a:t>temps et d’activités</a:t>
            </a:r>
            <a:endParaRPr lang="fr-FR" sz="1400" dirty="0">
              <a:solidFill>
                <a:schemeClr val="bg1"/>
              </a:solidFill>
            </a:endParaRPr>
          </a:p>
        </p:txBody>
      </p:sp>
      <p:sp>
        <p:nvSpPr>
          <p:cNvPr id="39" name="Rectangle 38"/>
          <p:cNvSpPr/>
          <p:nvPr/>
        </p:nvSpPr>
        <p:spPr>
          <a:xfrm>
            <a:off x="3500430" y="1214422"/>
            <a:ext cx="1307537" cy="307777"/>
          </a:xfrm>
          <a:prstGeom prst="rect">
            <a:avLst/>
          </a:prstGeom>
        </p:spPr>
        <p:txBody>
          <a:bodyPr wrap="none">
            <a:spAutoFit/>
          </a:bodyPr>
          <a:lstStyle/>
          <a:p>
            <a:r>
              <a:rPr lang="fr-FR" sz="1400" dirty="0" smtClean="0">
                <a:solidFill>
                  <a:schemeClr val="bg1"/>
                </a:solidFill>
              </a:rPr>
              <a:t>Suivi de budget</a:t>
            </a:r>
            <a:endParaRPr lang="fr-FR" sz="1400" dirty="0"/>
          </a:p>
        </p:txBody>
      </p:sp>
      <p:sp>
        <p:nvSpPr>
          <p:cNvPr id="43" name="ZoneTexte 42"/>
          <p:cNvSpPr txBox="1"/>
          <p:nvPr/>
        </p:nvSpPr>
        <p:spPr>
          <a:xfrm>
            <a:off x="5072066" y="1214422"/>
            <a:ext cx="1571636" cy="307777"/>
          </a:xfrm>
          <a:prstGeom prst="rect">
            <a:avLst/>
          </a:prstGeom>
          <a:noFill/>
        </p:spPr>
        <p:txBody>
          <a:bodyPr wrap="square" rtlCol="0">
            <a:spAutoFit/>
          </a:bodyPr>
          <a:lstStyle/>
          <a:p>
            <a:r>
              <a:rPr lang="fr-FR" sz="1400" dirty="0" smtClean="0">
                <a:solidFill>
                  <a:schemeClr val="bg1"/>
                </a:solidFill>
              </a:rPr>
              <a:t>Gestion </a:t>
            </a:r>
            <a:r>
              <a:rPr lang="fr-FR" sz="1400" dirty="0" smtClean="0">
                <a:solidFill>
                  <a:schemeClr val="bg1"/>
                </a:solidFill>
              </a:rPr>
              <a:t>des tickets</a:t>
            </a:r>
            <a:endParaRPr lang="fr-FR" dirty="0">
              <a:solidFill>
                <a:schemeClr val="bg1"/>
              </a:solidFill>
            </a:endParaRPr>
          </a:p>
        </p:txBody>
      </p:sp>
      <p:sp>
        <p:nvSpPr>
          <p:cNvPr id="45" name="Rectangle 44"/>
          <p:cNvSpPr/>
          <p:nvPr/>
        </p:nvSpPr>
        <p:spPr>
          <a:xfrm>
            <a:off x="6286512" y="1857364"/>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4" name="Picture 3" descr="\\MYBOOKLIVEDUO\Beesoftware\B-HIVE\BeeSoftware\logo\logo-bhive1.jpg"/>
          <p:cNvPicPr>
            <a:picLocks noChangeAspect="1" noChangeArrowheads="1"/>
          </p:cNvPicPr>
          <p:nvPr/>
        </p:nvPicPr>
        <p:blipFill>
          <a:blip r:embed="rId3" cstate="print"/>
          <a:srcRect/>
          <a:stretch>
            <a:fillRect/>
          </a:stretch>
        </p:blipFill>
        <p:spPr bwMode="auto">
          <a:xfrm>
            <a:off x="6286512" y="2571744"/>
            <a:ext cx="928693" cy="870396"/>
          </a:xfrm>
          <a:prstGeom prst="rect">
            <a:avLst/>
          </a:prstGeom>
          <a:noFill/>
        </p:spPr>
      </p:pic>
      <p:sp>
        <p:nvSpPr>
          <p:cNvPr id="46" name="ZoneTexte 45"/>
          <p:cNvSpPr txBox="1"/>
          <p:nvPr/>
        </p:nvSpPr>
        <p:spPr>
          <a:xfrm>
            <a:off x="6858016" y="1928802"/>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47" name="ZoneTexte 46"/>
          <p:cNvSpPr txBox="1"/>
          <p:nvPr/>
        </p:nvSpPr>
        <p:spPr>
          <a:xfrm>
            <a:off x="7286644" y="2571744"/>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sp>
        <p:nvSpPr>
          <p:cNvPr id="52" name="Rectangle 51"/>
          <p:cNvSpPr/>
          <p:nvPr/>
        </p:nvSpPr>
        <p:spPr>
          <a:xfrm>
            <a:off x="6786578" y="1214422"/>
            <a:ext cx="1639808" cy="307777"/>
          </a:xfrm>
          <a:prstGeom prst="rect">
            <a:avLst/>
          </a:prstGeom>
        </p:spPr>
        <p:txBody>
          <a:bodyPr wrap="none">
            <a:spAutoFit/>
          </a:bodyPr>
          <a:lstStyle/>
          <a:p>
            <a:r>
              <a:rPr lang="fr-FR" sz="1400" dirty="0" smtClean="0">
                <a:solidFill>
                  <a:schemeClr val="bg1"/>
                </a:solidFill>
              </a:rPr>
              <a:t>Gestion de missions</a:t>
            </a:r>
            <a:endParaRPr lang="fr-FR" sz="1400" dirty="0"/>
          </a:p>
        </p:txBody>
      </p:sp>
      <p:sp>
        <p:nvSpPr>
          <p:cNvPr id="63" name="ZoneTexte 62"/>
          <p:cNvSpPr txBox="1"/>
          <p:nvPr/>
        </p:nvSpPr>
        <p:spPr>
          <a:xfrm>
            <a:off x="428596" y="2786058"/>
            <a:ext cx="5143536" cy="1600438"/>
          </a:xfrm>
          <a:prstGeom prst="rect">
            <a:avLst/>
          </a:prstGeom>
          <a:noFill/>
        </p:spPr>
        <p:txBody>
          <a:bodyPr wrap="square" rtlCol="0">
            <a:spAutoFit/>
          </a:bodyPr>
          <a:lstStyle/>
          <a:p>
            <a:r>
              <a:rPr lang="fr-FR" sz="1400" dirty="0" smtClean="0">
                <a:solidFill>
                  <a:schemeClr val="tx2">
                    <a:lumMod val="50000"/>
                  </a:schemeClr>
                </a:solidFill>
              </a:rPr>
              <a:t>B-</a:t>
            </a:r>
            <a:r>
              <a:rPr lang="fr-FR" sz="1400" dirty="0" err="1" smtClean="0">
                <a:solidFill>
                  <a:schemeClr val="tx2">
                    <a:lumMod val="50000"/>
                  </a:schemeClr>
                </a:solidFill>
              </a:rPr>
              <a:t>Hive</a:t>
            </a:r>
            <a:r>
              <a:rPr lang="fr-FR" sz="1400" dirty="0" smtClean="0">
                <a:solidFill>
                  <a:schemeClr val="tx2">
                    <a:lumMod val="50000"/>
                  </a:schemeClr>
                </a:solidFill>
              </a:rPr>
              <a:t> permet à vos collaborateurs de renseigner leurs temps passés sur les activités et les projets. </a:t>
            </a:r>
            <a:r>
              <a:rPr lang="fr-FR" sz="1400" dirty="0" smtClean="0">
                <a:solidFill>
                  <a:schemeClr val="tx2">
                    <a:lumMod val="50000"/>
                  </a:schemeClr>
                </a:solidFill>
              </a:rPr>
              <a:t>Les </a:t>
            </a:r>
            <a:r>
              <a:rPr lang="fr-FR" sz="1400" dirty="0" smtClean="0">
                <a:solidFill>
                  <a:schemeClr val="tx2">
                    <a:lumMod val="50000"/>
                  </a:schemeClr>
                </a:solidFill>
              </a:rPr>
              <a:t>relevés d'activités peuvent être validés par les managers au travers d'un </a:t>
            </a:r>
            <a:r>
              <a:rPr lang="fr-FR" sz="1400" dirty="0" err="1" smtClean="0">
                <a:solidFill>
                  <a:schemeClr val="tx2">
                    <a:lumMod val="50000"/>
                  </a:schemeClr>
                </a:solidFill>
              </a:rPr>
              <a:t>workflow</a:t>
            </a:r>
            <a:r>
              <a:rPr lang="fr-FR" sz="1400" dirty="0" smtClean="0">
                <a:solidFill>
                  <a:schemeClr val="tx2">
                    <a:lumMod val="50000"/>
                  </a:schemeClr>
                </a:solidFill>
              </a:rPr>
              <a:t> entièrement paramétrable. Les fonctions de saisie d'activité, de validation et de consolidation sont ainsi réalisées de façon naturelle et cohérente et garantissent la mise à disposition d'une information contrôlée et de </a:t>
            </a:r>
            <a:r>
              <a:rPr lang="fr-FR" sz="1400" dirty="0" smtClean="0">
                <a:solidFill>
                  <a:schemeClr val="tx2">
                    <a:lumMod val="50000"/>
                  </a:schemeClr>
                </a:solidFill>
              </a:rPr>
              <a:t>qualité.</a:t>
            </a:r>
            <a:endParaRPr lang="fr-FR" dirty="0">
              <a:solidFill>
                <a:schemeClr val="tx2">
                  <a:lumMod val="50000"/>
                </a:schemeClr>
              </a:solidFill>
            </a:endParaRPr>
          </a:p>
        </p:txBody>
      </p:sp>
      <p:grpSp>
        <p:nvGrpSpPr>
          <p:cNvPr id="64" name="Groupe 63"/>
          <p:cNvGrpSpPr/>
          <p:nvPr/>
        </p:nvGrpSpPr>
        <p:grpSpPr>
          <a:xfrm>
            <a:off x="1285852" y="4357694"/>
            <a:ext cx="3286148" cy="500066"/>
            <a:chOff x="2000232" y="3429000"/>
            <a:chExt cx="3286148" cy="500066"/>
          </a:xfrm>
        </p:grpSpPr>
        <p:sp>
          <p:nvSpPr>
            <p:cNvPr id="65" name="Rectangle 64"/>
            <p:cNvSpPr/>
            <p:nvPr/>
          </p:nvSpPr>
          <p:spPr>
            <a:xfrm>
              <a:off x="2000232" y="3500438"/>
              <a:ext cx="2714644"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ZoneTexte 65"/>
            <p:cNvSpPr txBox="1"/>
            <p:nvPr/>
          </p:nvSpPr>
          <p:spPr>
            <a:xfrm>
              <a:off x="2071670" y="3500438"/>
              <a:ext cx="2857520" cy="307777"/>
            </a:xfrm>
            <a:prstGeom prst="rect">
              <a:avLst/>
            </a:prstGeom>
            <a:noFill/>
          </p:spPr>
          <p:txBody>
            <a:bodyPr wrap="square" rtlCol="0">
              <a:spAutoFit/>
            </a:bodyPr>
            <a:lstStyle/>
            <a:p>
              <a:r>
                <a:rPr lang="fr-FR" sz="1400" dirty="0" smtClean="0">
                  <a:solidFill>
                    <a:schemeClr val="bg1"/>
                  </a:solidFill>
                </a:rPr>
                <a:t>Gestion du temps et des activités</a:t>
              </a:r>
              <a:endParaRPr lang="fr-FR" sz="1400" dirty="0">
                <a:solidFill>
                  <a:schemeClr val="bg1"/>
                </a:solidFill>
              </a:endParaRPr>
            </a:p>
          </p:txBody>
        </p:sp>
        <p:pic>
          <p:nvPicPr>
            <p:cNvPr id="67" name="Image 66" descr="vers-bas-aller-icone-5467-48.png"/>
            <p:cNvPicPr>
              <a:picLocks noChangeAspect="1"/>
            </p:cNvPicPr>
            <p:nvPr/>
          </p:nvPicPr>
          <p:blipFill>
            <a:blip r:embed="rId4"/>
            <a:stretch>
              <a:fillRect/>
            </a:stretch>
          </p:blipFill>
          <p:spPr>
            <a:xfrm>
              <a:off x="4786314" y="3429000"/>
              <a:ext cx="500066" cy="500066"/>
            </a:xfrm>
            <a:prstGeom prst="rect">
              <a:avLst/>
            </a:prstGeom>
          </p:spPr>
        </p:pic>
      </p:grpSp>
      <p:grpSp>
        <p:nvGrpSpPr>
          <p:cNvPr id="68" name="Groupe 67"/>
          <p:cNvGrpSpPr/>
          <p:nvPr/>
        </p:nvGrpSpPr>
        <p:grpSpPr>
          <a:xfrm>
            <a:off x="0" y="5000636"/>
            <a:ext cx="6000760" cy="428628"/>
            <a:chOff x="0" y="928670"/>
            <a:chExt cx="9144000" cy="428628"/>
          </a:xfrm>
        </p:grpSpPr>
        <p:sp>
          <p:nvSpPr>
            <p:cNvPr id="69" name="Rectangle 68"/>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ZoneTexte 69"/>
            <p:cNvSpPr txBox="1"/>
            <p:nvPr/>
          </p:nvSpPr>
          <p:spPr>
            <a:xfrm>
              <a:off x="0" y="928670"/>
              <a:ext cx="3143272" cy="369332"/>
            </a:xfrm>
            <a:prstGeom prst="rect">
              <a:avLst/>
            </a:prstGeom>
            <a:noFill/>
          </p:spPr>
          <p:txBody>
            <a:bodyPr wrap="square" rtlCol="0">
              <a:spAutoFit/>
            </a:bodyPr>
            <a:lstStyle/>
            <a:p>
              <a:r>
                <a:rPr lang="fr-FR" dirty="0" smtClean="0">
                  <a:solidFill>
                    <a:schemeClr val="bg1"/>
                  </a:solidFill>
                </a:rPr>
                <a:t>  </a:t>
              </a:r>
              <a:r>
                <a:rPr lang="fr-FR" dirty="0" smtClean="0">
                  <a:solidFill>
                    <a:schemeClr val="bg1"/>
                  </a:solidFill>
                </a:rPr>
                <a:t> Suivi </a:t>
              </a:r>
              <a:r>
                <a:rPr lang="fr-FR" dirty="0" smtClean="0">
                  <a:solidFill>
                    <a:schemeClr val="bg1"/>
                  </a:solidFill>
                </a:rPr>
                <a:t>de budget</a:t>
              </a:r>
              <a:endParaRPr lang="fr-FR" dirty="0">
                <a:solidFill>
                  <a:schemeClr val="bg1"/>
                </a:solidFill>
              </a:endParaRPr>
            </a:p>
          </p:txBody>
        </p:sp>
      </p:grpSp>
      <p:sp>
        <p:nvSpPr>
          <p:cNvPr id="73" name="ZoneTexte 72"/>
          <p:cNvSpPr txBox="1"/>
          <p:nvPr/>
        </p:nvSpPr>
        <p:spPr>
          <a:xfrm>
            <a:off x="428596" y="5626894"/>
            <a:ext cx="5143536" cy="954107"/>
          </a:xfrm>
          <a:prstGeom prst="rect">
            <a:avLst/>
          </a:prstGeom>
          <a:noFill/>
        </p:spPr>
        <p:txBody>
          <a:bodyPr wrap="square" rtlCol="0">
            <a:spAutoFit/>
          </a:bodyPr>
          <a:lstStyle/>
          <a:p>
            <a:r>
              <a:rPr lang="fr-FR" sz="1400" dirty="0" smtClean="0">
                <a:solidFill>
                  <a:schemeClr val="tx2">
                    <a:lumMod val="50000"/>
                  </a:schemeClr>
                </a:solidFill>
              </a:rPr>
              <a:t>B-</a:t>
            </a:r>
            <a:r>
              <a:rPr lang="fr-FR" sz="1400" dirty="0" err="1" smtClean="0">
                <a:solidFill>
                  <a:schemeClr val="tx2">
                    <a:lumMod val="50000"/>
                  </a:schemeClr>
                </a:solidFill>
              </a:rPr>
              <a:t>Hive</a:t>
            </a:r>
            <a:r>
              <a:rPr lang="fr-FR" sz="1400" dirty="0" smtClean="0">
                <a:solidFill>
                  <a:schemeClr val="tx2">
                    <a:lumMod val="50000"/>
                  </a:schemeClr>
                </a:solidFill>
              </a:rPr>
              <a:t> </a:t>
            </a:r>
            <a:r>
              <a:rPr lang="fr-FR" sz="1400" dirty="0" smtClean="0">
                <a:solidFill>
                  <a:schemeClr val="tx2">
                    <a:lumMod val="50000"/>
                  </a:schemeClr>
                </a:solidFill>
              </a:rPr>
              <a:t>vous permet la maitrise du temps et des coûts consacrés à chaque projet et aux activités. Un suivi des couts financier déjà engagé par mois, un suivi budgétaire soit par collaborateurs soit par type d’activité, et la valeur restant selon le contrat initial</a:t>
            </a:r>
            <a:r>
              <a:rPr lang="fr-FR" sz="1400" dirty="0" smtClean="0">
                <a:solidFill>
                  <a:schemeClr val="tx2">
                    <a:lumMod val="50000"/>
                  </a:schemeClr>
                </a:solidFill>
              </a:rPr>
              <a:t>.</a:t>
            </a:r>
            <a:endParaRPr lang="fr-FR" dirty="0">
              <a:solidFill>
                <a:schemeClr val="tx2">
                  <a:lumMod val="50000"/>
                </a:schemeClr>
              </a:solidFill>
            </a:endParaRPr>
          </a:p>
        </p:txBody>
      </p:sp>
      <p:grpSp>
        <p:nvGrpSpPr>
          <p:cNvPr id="79" name="Groupe 78"/>
          <p:cNvGrpSpPr/>
          <p:nvPr/>
        </p:nvGrpSpPr>
        <p:grpSpPr>
          <a:xfrm>
            <a:off x="6367474" y="3724276"/>
            <a:ext cx="2643206" cy="2357454"/>
            <a:chOff x="9644098" y="1857364"/>
            <a:chExt cx="2643206" cy="2357454"/>
          </a:xfrm>
        </p:grpSpPr>
        <p:sp>
          <p:nvSpPr>
            <p:cNvPr id="80" name="Rectangle 79"/>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ZoneTexte 80"/>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a:t>
              </a:r>
              <a:r>
                <a:rPr lang="fr-FR" sz="1400" dirty="0" smtClean="0">
                  <a:solidFill>
                    <a:schemeClr val="bg1"/>
                  </a:solidFill>
                </a:rPr>
                <a:t>convient</a:t>
              </a:r>
              <a:endParaRPr lang="fr-FR" dirty="0"/>
            </a:p>
          </p:txBody>
        </p:sp>
      </p:grpSp>
      <p:pic>
        <p:nvPicPr>
          <p:cNvPr id="84" name="Image 83" descr="logo beeSoftware.jpg"/>
          <p:cNvPicPr>
            <a:picLocks noChangeAspect="1"/>
          </p:cNvPicPr>
          <p:nvPr/>
        </p:nvPicPr>
        <p:blipFill>
          <a:blip r:embed="rId5"/>
          <a:stretch>
            <a:fillRect/>
          </a:stretch>
        </p:blipFill>
        <p:spPr>
          <a:xfrm>
            <a:off x="0" y="0"/>
            <a:ext cx="2071702" cy="946333"/>
          </a:xfrm>
          <a:prstGeom prst="rect">
            <a:avLst/>
          </a:prstGeom>
        </p:spPr>
      </p:pic>
      <p:grpSp>
        <p:nvGrpSpPr>
          <p:cNvPr id="90" name="Groupe 89"/>
          <p:cNvGrpSpPr/>
          <p:nvPr/>
        </p:nvGrpSpPr>
        <p:grpSpPr>
          <a:xfrm>
            <a:off x="6072198" y="285728"/>
            <a:ext cx="2857520" cy="500066"/>
            <a:chOff x="6072198" y="285728"/>
            <a:chExt cx="2857520" cy="500066"/>
          </a:xfrm>
        </p:grpSpPr>
        <p:sp>
          <p:nvSpPr>
            <p:cNvPr id="87" name="Rectangle 86"/>
            <p:cNvSpPr/>
            <p:nvPr/>
          </p:nvSpPr>
          <p:spPr>
            <a:xfrm>
              <a:off x="6072198" y="357166"/>
              <a:ext cx="2286016"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ZoneTexte 87"/>
            <p:cNvSpPr txBox="1"/>
            <p:nvPr/>
          </p:nvSpPr>
          <p:spPr>
            <a:xfrm>
              <a:off x="6143636" y="357166"/>
              <a:ext cx="2214578" cy="307777"/>
            </a:xfrm>
            <a:prstGeom prst="rect">
              <a:avLst/>
            </a:prstGeom>
            <a:noFill/>
          </p:spPr>
          <p:txBody>
            <a:bodyPr wrap="square" rtlCol="0">
              <a:spAutoFit/>
            </a:bodyPr>
            <a:lstStyle/>
            <a:p>
              <a:r>
                <a:rPr lang="fr-FR" sz="1400" dirty="0" smtClean="0">
                  <a:solidFill>
                    <a:schemeClr val="bg1"/>
                  </a:solidFill>
                </a:rPr>
                <a:t>Créer votre environnement</a:t>
              </a:r>
              <a:endParaRPr lang="fr-FR" sz="1400" dirty="0">
                <a:solidFill>
                  <a:schemeClr val="bg1"/>
                </a:solidFill>
              </a:endParaRPr>
            </a:p>
          </p:txBody>
        </p:sp>
        <p:pic>
          <p:nvPicPr>
            <p:cNvPr id="89" name="Image 88" descr="vers-bas-aller-icone-5467-48.png"/>
            <p:cNvPicPr>
              <a:picLocks noChangeAspect="1"/>
            </p:cNvPicPr>
            <p:nvPr/>
          </p:nvPicPr>
          <p:blipFill>
            <a:blip r:embed="rId4"/>
            <a:stretch>
              <a:fillRect/>
            </a:stretch>
          </p:blipFill>
          <p:spPr>
            <a:xfrm>
              <a:off x="8429652" y="285728"/>
              <a:ext cx="500066" cy="500066"/>
            </a:xfrm>
            <a:prstGeom prst="rect">
              <a:avLst/>
            </a:prstGeom>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sp>
        <p:nvSpPr>
          <p:cNvPr id="3" name="Rectangle 2"/>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grpSp>
        <p:nvGrpSpPr>
          <p:cNvPr id="8" name="Groupe 7"/>
          <p:cNvGrpSpPr/>
          <p:nvPr/>
        </p:nvGrpSpPr>
        <p:grpSpPr>
          <a:xfrm>
            <a:off x="1714480" y="214290"/>
            <a:ext cx="2214578" cy="500066"/>
            <a:chOff x="2428860" y="214290"/>
            <a:chExt cx="2214578" cy="500066"/>
          </a:xfrm>
        </p:grpSpPr>
        <p:sp>
          <p:nvSpPr>
            <p:cNvPr id="5" name="Rectangle 4"/>
            <p:cNvSpPr/>
            <p:nvPr/>
          </p:nvSpPr>
          <p:spPr>
            <a:xfrm>
              <a:off x="2428860" y="285728"/>
              <a:ext cx="1643074"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2500298" y="285728"/>
              <a:ext cx="1500198" cy="307777"/>
            </a:xfrm>
            <a:prstGeom prst="rect">
              <a:avLst/>
            </a:prstGeom>
            <a:noFill/>
          </p:spPr>
          <p:txBody>
            <a:bodyPr wrap="square" rtlCol="0">
              <a:spAutoFit/>
            </a:bodyPr>
            <a:lstStyle/>
            <a:p>
              <a:r>
                <a:rPr lang="fr-FR" sz="1400" dirty="0" smtClean="0">
                  <a:solidFill>
                    <a:schemeClr val="bg1"/>
                  </a:solidFill>
                </a:rPr>
                <a:t>Suivi de budget</a:t>
              </a:r>
              <a:endParaRPr lang="fr-FR" sz="1400" dirty="0">
                <a:solidFill>
                  <a:schemeClr val="bg1"/>
                </a:solidFill>
              </a:endParaRPr>
            </a:p>
          </p:txBody>
        </p:sp>
        <p:pic>
          <p:nvPicPr>
            <p:cNvPr id="7" name="Image 6" descr="vers-bas-aller-icone-5467-48.png"/>
            <p:cNvPicPr>
              <a:picLocks noChangeAspect="1"/>
            </p:cNvPicPr>
            <p:nvPr/>
          </p:nvPicPr>
          <p:blipFill>
            <a:blip r:embed="rId3"/>
            <a:stretch>
              <a:fillRect/>
            </a:stretch>
          </p:blipFill>
          <p:spPr>
            <a:xfrm>
              <a:off x="4143372" y="214290"/>
              <a:ext cx="500066" cy="500066"/>
            </a:xfrm>
            <a:prstGeom prst="rect">
              <a:avLst/>
            </a:prstGeom>
          </p:spPr>
        </p:pic>
      </p:grpSp>
      <p:grpSp>
        <p:nvGrpSpPr>
          <p:cNvPr id="9" name="Groupe 8"/>
          <p:cNvGrpSpPr/>
          <p:nvPr/>
        </p:nvGrpSpPr>
        <p:grpSpPr>
          <a:xfrm>
            <a:off x="0" y="785794"/>
            <a:ext cx="6000760" cy="428628"/>
            <a:chOff x="0" y="928670"/>
            <a:chExt cx="9144000" cy="428628"/>
          </a:xfrm>
        </p:grpSpPr>
        <p:sp>
          <p:nvSpPr>
            <p:cNvPr id="10" name="Rectangle 9"/>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0" y="928670"/>
              <a:ext cx="3809972" cy="369332"/>
            </a:xfrm>
            <a:prstGeom prst="rect">
              <a:avLst/>
            </a:prstGeom>
            <a:noFill/>
          </p:spPr>
          <p:txBody>
            <a:bodyPr wrap="square" rtlCol="0">
              <a:spAutoFit/>
            </a:bodyPr>
            <a:lstStyle/>
            <a:p>
              <a:r>
                <a:rPr lang="fr-FR" dirty="0" smtClean="0">
                  <a:solidFill>
                    <a:schemeClr val="bg1"/>
                  </a:solidFill>
                </a:rPr>
                <a:t>   Gestion </a:t>
              </a:r>
              <a:r>
                <a:rPr lang="fr-FR" dirty="0" smtClean="0">
                  <a:solidFill>
                    <a:schemeClr val="bg1"/>
                  </a:solidFill>
                </a:rPr>
                <a:t>des tickets</a:t>
              </a:r>
              <a:endParaRPr lang="fr-FR" dirty="0">
                <a:solidFill>
                  <a:schemeClr val="bg1"/>
                </a:solidFill>
              </a:endParaRPr>
            </a:p>
          </p:txBody>
        </p:sp>
      </p:grpSp>
      <p:sp>
        <p:nvSpPr>
          <p:cNvPr id="12" name="ZoneTexte 11"/>
          <p:cNvSpPr txBox="1"/>
          <p:nvPr/>
        </p:nvSpPr>
        <p:spPr>
          <a:xfrm>
            <a:off x="214282" y="1428736"/>
            <a:ext cx="5357850" cy="738664"/>
          </a:xfrm>
          <a:prstGeom prst="rect">
            <a:avLst/>
          </a:prstGeom>
          <a:noFill/>
        </p:spPr>
        <p:txBody>
          <a:bodyPr wrap="square" rtlCol="0">
            <a:spAutoFit/>
          </a:bodyPr>
          <a:lstStyle/>
          <a:p>
            <a:r>
              <a:rPr lang="fr-FR" sz="1400" dirty="0" smtClean="0">
                <a:solidFill>
                  <a:schemeClr val="tx2">
                    <a:lumMod val="50000"/>
                  </a:schemeClr>
                </a:solidFill>
              </a:rPr>
              <a:t>B-</a:t>
            </a:r>
            <a:r>
              <a:rPr lang="fr-FR" sz="1400" dirty="0" err="1" smtClean="0">
                <a:solidFill>
                  <a:schemeClr val="tx2">
                    <a:lumMod val="50000"/>
                  </a:schemeClr>
                </a:solidFill>
              </a:rPr>
              <a:t>Hive</a:t>
            </a:r>
            <a:r>
              <a:rPr lang="fr-FR" sz="1400" dirty="0" smtClean="0">
                <a:solidFill>
                  <a:schemeClr val="tx2">
                    <a:lumMod val="50000"/>
                  </a:schemeClr>
                </a:solidFill>
              </a:rPr>
              <a:t> </a:t>
            </a:r>
            <a:r>
              <a:rPr lang="fr-FR" sz="1400" dirty="0" smtClean="0">
                <a:solidFill>
                  <a:schemeClr val="tx2">
                    <a:lumMod val="50000"/>
                  </a:schemeClr>
                </a:solidFill>
              </a:rPr>
              <a:t>permet de recueillir l’ensemble des problèmes et erreurs connus, ce qui représente un réel plus en matière d'efficacité de traitement et rationalisation des compétences du centre de support</a:t>
            </a:r>
            <a:r>
              <a:rPr lang="fr-FR" sz="1400" dirty="0" smtClean="0">
                <a:solidFill>
                  <a:schemeClr val="tx2">
                    <a:lumMod val="50000"/>
                  </a:schemeClr>
                </a:solidFill>
              </a:rPr>
              <a:t>.</a:t>
            </a:r>
            <a:endParaRPr lang="fr-FR" dirty="0">
              <a:solidFill>
                <a:schemeClr val="tx2">
                  <a:lumMod val="50000"/>
                </a:schemeClr>
              </a:solidFill>
            </a:endParaRPr>
          </a:p>
        </p:txBody>
      </p:sp>
      <p:grpSp>
        <p:nvGrpSpPr>
          <p:cNvPr id="17" name="Groupe 16"/>
          <p:cNvGrpSpPr/>
          <p:nvPr/>
        </p:nvGrpSpPr>
        <p:grpSpPr>
          <a:xfrm>
            <a:off x="1785918" y="2500306"/>
            <a:ext cx="2357454" cy="500066"/>
            <a:chOff x="2071670" y="2500306"/>
            <a:chExt cx="2357454" cy="500066"/>
          </a:xfrm>
        </p:grpSpPr>
        <p:sp>
          <p:nvSpPr>
            <p:cNvPr id="14" name="Rectangle 13"/>
            <p:cNvSpPr/>
            <p:nvPr/>
          </p:nvSpPr>
          <p:spPr>
            <a:xfrm>
              <a:off x="2071670" y="2571744"/>
              <a:ext cx="1785950"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p:cNvSpPr txBox="1"/>
            <p:nvPr/>
          </p:nvSpPr>
          <p:spPr>
            <a:xfrm>
              <a:off x="2143108" y="2571744"/>
              <a:ext cx="1643074" cy="307777"/>
            </a:xfrm>
            <a:prstGeom prst="rect">
              <a:avLst/>
            </a:prstGeom>
            <a:noFill/>
          </p:spPr>
          <p:txBody>
            <a:bodyPr wrap="square" rtlCol="0">
              <a:spAutoFit/>
            </a:bodyPr>
            <a:lstStyle/>
            <a:p>
              <a:r>
                <a:rPr lang="fr-FR" sz="1400" dirty="0" smtClean="0">
                  <a:solidFill>
                    <a:schemeClr val="bg1"/>
                  </a:solidFill>
                </a:rPr>
                <a:t>Gestion des tickets</a:t>
              </a:r>
              <a:endParaRPr lang="fr-FR" sz="1400" dirty="0">
                <a:solidFill>
                  <a:schemeClr val="bg1"/>
                </a:solidFill>
              </a:endParaRPr>
            </a:p>
          </p:txBody>
        </p:sp>
        <p:pic>
          <p:nvPicPr>
            <p:cNvPr id="16" name="Image 15" descr="vers-bas-aller-icone-5467-48.png"/>
            <p:cNvPicPr>
              <a:picLocks noChangeAspect="1"/>
            </p:cNvPicPr>
            <p:nvPr/>
          </p:nvPicPr>
          <p:blipFill>
            <a:blip r:embed="rId3"/>
            <a:stretch>
              <a:fillRect/>
            </a:stretch>
          </p:blipFill>
          <p:spPr>
            <a:xfrm>
              <a:off x="3929058" y="2500306"/>
              <a:ext cx="500066" cy="500066"/>
            </a:xfrm>
            <a:prstGeom prst="rect">
              <a:avLst/>
            </a:prstGeom>
          </p:spPr>
        </p:pic>
      </p:grpSp>
      <p:grpSp>
        <p:nvGrpSpPr>
          <p:cNvPr id="18" name="Groupe 17"/>
          <p:cNvGrpSpPr/>
          <p:nvPr/>
        </p:nvGrpSpPr>
        <p:grpSpPr>
          <a:xfrm>
            <a:off x="0" y="3143248"/>
            <a:ext cx="6000760" cy="428628"/>
            <a:chOff x="0" y="928670"/>
            <a:chExt cx="9144000" cy="428628"/>
          </a:xfrm>
        </p:grpSpPr>
        <p:sp>
          <p:nvSpPr>
            <p:cNvPr id="19" name="Rectangle 18"/>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p:cNvSpPr txBox="1"/>
            <p:nvPr/>
          </p:nvSpPr>
          <p:spPr>
            <a:xfrm>
              <a:off x="0" y="928670"/>
              <a:ext cx="3809972" cy="369332"/>
            </a:xfrm>
            <a:prstGeom prst="rect">
              <a:avLst/>
            </a:prstGeom>
            <a:noFill/>
          </p:spPr>
          <p:txBody>
            <a:bodyPr wrap="square" rtlCol="0">
              <a:spAutoFit/>
            </a:bodyPr>
            <a:lstStyle/>
            <a:p>
              <a:r>
                <a:rPr lang="fr-FR" dirty="0" smtClean="0">
                  <a:solidFill>
                    <a:schemeClr val="bg1"/>
                  </a:solidFill>
                </a:rPr>
                <a:t>   Gestion de missions</a:t>
              </a:r>
              <a:endParaRPr lang="fr-FR" dirty="0">
                <a:solidFill>
                  <a:schemeClr val="bg1"/>
                </a:solidFill>
              </a:endParaRPr>
            </a:p>
          </p:txBody>
        </p:sp>
      </p:grpSp>
      <p:sp>
        <p:nvSpPr>
          <p:cNvPr id="21" name="ZoneTexte 20"/>
          <p:cNvSpPr txBox="1"/>
          <p:nvPr/>
        </p:nvSpPr>
        <p:spPr>
          <a:xfrm>
            <a:off x="428596" y="3714752"/>
            <a:ext cx="5072098" cy="738664"/>
          </a:xfrm>
          <a:prstGeom prst="rect">
            <a:avLst/>
          </a:prstGeom>
          <a:noFill/>
        </p:spPr>
        <p:txBody>
          <a:bodyPr wrap="square" rtlCol="0">
            <a:spAutoFit/>
          </a:bodyPr>
          <a:lstStyle/>
          <a:p>
            <a:r>
              <a:rPr lang="fr-FR" sz="1400" dirty="0" smtClean="0"/>
              <a:t>B-</a:t>
            </a:r>
            <a:r>
              <a:rPr lang="fr-FR" sz="1400" dirty="0" err="1" smtClean="0"/>
              <a:t>Hive</a:t>
            </a:r>
            <a:r>
              <a:rPr lang="fr-FR" sz="1400" dirty="0" smtClean="0"/>
              <a:t> intègre également un outil de suivi des prestations en clientèle qui permet d’optimiser la gestion des comptes rendus d’activité et de notifier les actions sur les contrats en cours</a:t>
            </a:r>
            <a:r>
              <a:rPr lang="fr-FR" sz="1400" dirty="0" smtClean="0"/>
              <a:t>.</a:t>
            </a:r>
            <a:endParaRPr lang="fr-FR" dirty="0"/>
          </a:p>
        </p:txBody>
      </p:sp>
      <p:grpSp>
        <p:nvGrpSpPr>
          <p:cNvPr id="22" name="Groupe 21"/>
          <p:cNvGrpSpPr/>
          <p:nvPr/>
        </p:nvGrpSpPr>
        <p:grpSpPr>
          <a:xfrm>
            <a:off x="1714480" y="4572008"/>
            <a:ext cx="2357454" cy="500066"/>
            <a:chOff x="2071670" y="2500306"/>
            <a:chExt cx="2357454" cy="500066"/>
          </a:xfrm>
        </p:grpSpPr>
        <p:sp>
          <p:nvSpPr>
            <p:cNvPr id="23" name="Rectangle 22"/>
            <p:cNvSpPr/>
            <p:nvPr/>
          </p:nvSpPr>
          <p:spPr>
            <a:xfrm>
              <a:off x="2071670" y="2571744"/>
              <a:ext cx="1785950"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143108" y="2571744"/>
              <a:ext cx="1643074" cy="307777"/>
            </a:xfrm>
            <a:prstGeom prst="rect">
              <a:avLst/>
            </a:prstGeom>
            <a:noFill/>
          </p:spPr>
          <p:txBody>
            <a:bodyPr wrap="square" rtlCol="0">
              <a:spAutoFit/>
            </a:bodyPr>
            <a:lstStyle/>
            <a:p>
              <a:r>
                <a:rPr lang="fr-FR" sz="1400" dirty="0" smtClean="0">
                  <a:solidFill>
                    <a:schemeClr val="bg1"/>
                  </a:solidFill>
                </a:rPr>
                <a:t>Gestion de missions</a:t>
              </a:r>
              <a:endParaRPr lang="fr-FR" sz="1400" dirty="0">
                <a:solidFill>
                  <a:schemeClr val="bg1"/>
                </a:solidFill>
              </a:endParaRPr>
            </a:p>
          </p:txBody>
        </p:sp>
        <p:pic>
          <p:nvPicPr>
            <p:cNvPr id="25" name="Image 24" descr="vers-bas-aller-icone-5467-48.png"/>
            <p:cNvPicPr>
              <a:picLocks noChangeAspect="1"/>
            </p:cNvPicPr>
            <p:nvPr/>
          </p:nvPicPr>
          <p:blipFill>
            <a:blip r:embed="rId3"/>
            <a:stretch>
              <a:fillRect/>
            </a:stretch>
          </p:blipFill>
          <p:spPr>
            <a:xfrm>
              <a:off x="3929058" y="2500306"/>
              <a:ext cx="500066" cy="500066"/>
            </a:xfrm>
            <a:prstGeom prst="rect">
              <a:avLst/>
            </a:prstGeom>
          </p:spPr>
        </p:pic>
      </p:grpSp>
      <p:grpSp>
        <p:nvGrpSpPr>
          <p:cNvPr id="28" name="Groupe 27"/>
          <p:cNvGrpSpPr/>
          <p:nvPr/>
        </p:nvGrpSpPr>
        <p:grpSpPr>
          <a:xfrm>
            <a:off x="0" y="6072206"/>
            <a:ext cx="9144000" cy="369332"/>
            <a:chOff x="0" y="6072206"/>
            <a:chExt cx="9144000" cy="369332"/>
          </a:xfrm>
        </p:grpSpPr>
        <p:sp>
          <p:nvSpPr>
            <p:cNvPr id="26" name="Rectangle 25"/>
            <p:cNvSpPr/>
            <p:nvPr/>
          </p:nvSpPr>
          <p:spPr>
            <a:xfrm>
              <a:off x="0" y="6143644"/>
              <a:ext cx="9144000"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p:cNvSpPr txBox="1"/>
            <p:nvPr/>
          </p:nvSpPr>
          <p:spPr>
            <a:xfrm>
              <a:off x="5500662" y="6072206"/>
              <a:ext cx="3643338" cy="369332"/>
            </a:xfrm>
            <a:prstGeom prst="rect">
              <a:avLst/>
            </a:prstGeom>
            <a:noFill/>
          </p:spPr>
          <p:txBody>
            <a:bodyPr wrap="square" rtlCol="0">
              <a:spAutoFit/>
            </a:bodyPr>
            <a:lstStyle/>
            <a:p>
              <a:r>
                <a:rPr lang="fr-FR" dirty="0" smtClean="0"/>
                <a:t>Activités   /  Applications  /  </a:t>
              </a:r>
              <a:r>
                <a:rPr lang="fr-FR" dirty="0" smtClean="0"/>
                <a:t>CGV </a:t>
              </a:r>
              <a:r>
                <a:rPr lang="fr-FR" dirty="0" smtClean="0"/>
                <a:t>…..</a:t>
              </a:r>
              <a:endParaRPr lang="fr-FR" dirty="0"/>
            </a:p>
          </p:txBody>
        </p:sp>
      </p:grpSp>
      <p:grpSp>
        <p:nvGrpSpPr>
          <p:cNvPr id="30" name="Groupe 76"/>
          <p:cNvGrpSpPr/>
          <p:nvPr/>
        </p:nvGrpSpPr>
        <p:grpSpPr>
          <a:xfrm>
            <a:off x="6215074" y="214290"/>
            <a:ext cx="2643206" cy="2357454"/>
            <a:chOff x="9644098" y="1857364"/>
            <a:chExt cx="2643206" cy="2357454"/>
          </a:xfrm>
        </p:grpSpPr>
        <p:sp>
          <p:nvSpPr>
            <p:cNvPr id="32" name="Rectangle 31"/>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p:cNvSpPr txBox="1"/>
            <p:nvPr/>
          </p:nvSpPr>
          <p:spPr>
            <a:xfrm>
              <a:off x="9644098" y="2000240"/>
              <a:ext cx="2643206" cy="369332"/>
            </a:xfrm>
            <a:prstGeom prst="rect">
              <a:avLst/>
            </a:prstGeom>
            <a:noFill/>
          </p:spPr>
          <p:txBody>
            <a:bodyPr wrap="square" rtlCol="0">
              <a:spAutoFit/>
            </a:bodyPr>
            <a:lstStyle/>
            <a:p>
              <a:endParaRPr lang="fr-FR" dirty="0"/>
            </a:p>
          </p:txBody>
        </p:sp>
      </p:grpSp>
      <p:sp>
        <p:nvSpPr>
          <p:cNvPr id="31" name="ZoneTexte 30"/>
          <p:cNvSpPr txBox="1"/>
          <p:nvPr/>
        </p:nvSpPr>
        <p:spPr>
          <a:xfrm>
            <a:off x="6357950" y="285728"/>
            <a:ext cx="2286016" cy="2246769"/>
          </a:xfrm>
          <a:prstGeom prst="rect">
            <a:avLst/>
          </a:prstGeom>
          <a:noFill/>
        </p:spPr>
        <p:txBody>
          <a:bodyPr wrap="square" rtlCol="0">
            <a:spAutoFit/>
          </a:bodyPr>
          <a:lstStyle/>
          <a:p>
            <a:r>
              <a:rPr lang="fr-FR" sz="1400" dirty="0" smtClean="0">
                <a:solidFill>
                  <a:schemeClr val="bg1"/>
                </a:solidFill>
              </a:rPr>
              <a:t>Valoriser les heures </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Suivi de projet…</a:t>
            </a:r>
          </a:p>
          <a:p>
            <a:r>
              <a:rPr lang="fr-FR" sz="1400" dirty="0" smtClean="0">
                <a:solidFill>
                  <a:schemeClr val="bg1"/>
                </a:solidFill>
              </a:rPr>
              <a:t>Devis, prévisionnel, facture, tableau de bord, </a:t>
            </a:r>
            <a:r>
              <a:rPr lang="fr-FR" sz="1400" dirty="0" smtClean="0">
                <a:solidFill>
                  <a:schemeClr val="bg1"/>
                </a:solidFill>
              </a:rPr>
              <a:t>vous pouvez </a:t>
            </a:r>
            <a:r>
              <a:rPr lang="fr-FR" sz="1400" dirty="0" smtClean="0">
                <a:solidFill>
                  <a:schemeClr val="bg1"/>
                </a:solidFill>
              </a:rPr>
              <a:t>suivre vos activités avec des tableaux et des graphes </a:t>
            </a:r>
            <a:r>
              <a:rPr lang="fr-FR" sz="1400" dirty="0" smtClean="0">
                <a:solidFill>
                  <a:schemeClr val="bg1"/>
                </a:solidFill>
              </a:rPr>
              <a:t>précis</a:t>
            </a:r>
            <a:endParaRPr lang="fr-FR" dirty="0">
              <a:solidFill>
                <a:schemeClr val="bg1"/>
              </a:solidFill>
            </a:endParaRPr>
          </a:p>
        </p:txBody>
      </p:sp>
      <p:sp>
        <p:nvSpPr>
          <p:cNvPr id="34" name="Rectangle à coins arrondis 33"/>
          <p:cNvSpPr/>
          <p:nvPr/>
        </p:nvSpPr>
        <p:spPr>
          <a:xfrm>
            <a:off x="9644066" y="428604"/>
            <a:ext cx="2928958" cy="1143008"/>
          </a:xfrm>
          <a:prstGeom prst="roundRect">
            <a:avLst>
              <a:gd name="adj" fmla="val 50000"/>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ZoneTexte 34"/>
          <p:cNvSpPr txBox="1"/>
          <p:nvPr/>
        </p:nvSpPr>
        <p:spPr>
          <a:xfrm>
            <a:off x="9644098" y="714356"/>
            <a:ext cx="2643206" cy="646331"/>
          </a:xfrm>
          <a:prstGeom prst="rect">
            <a:avLst/>
          </a:prstGeom>
          <a:noFill/>
        </p:spPr>
        <p:txBody>
          <a:bodyPr wrap="square" rtlCol="0">
            <a:spAutoFit/>
          </a:bodyPr>
          <a:lstStyle/>
          <a:p>
            <a:r>
              <a:rPr lang="fr-FR" dirty="0" smtClean="0">
                <a:solidFill>
                  <a:schemeClr val="bg1"/>
                </a:solidFill>
              </a:rPr>
              <a:t>Voir la liste détaillée des fonctionnalités de B-</a:t>
            </a:r>
            <a:r>
              <a:rPr lang="fr-FR" dirty="0" err="1" smtClean="0">
                <a:solidFill>
                  <a:schemeClr val="bg1"/>
                </a:solidFill>
              </a:rPr>
              <a:t>Hive</a:t>
            </a:r>
            <a:endParaRPr lang="fr-FR" dirty="0" smtClean="0">
              <a:solidFill>
                <a:schemeClr val="bg1"/>
              </a:solidFill>
            </a:endParaRPr>
          </a:p>
        </p:txBody>
      </p:sp>
      <p:sp>
        <p:nvSpPr>
          <p:cNvPr id="36" name="Rectangle 35"/>
          <p:cNvSpPr/>
          <p:nvPr/>
        </p:nvSpPr>
        <p:spPr>
          <a:xfrm>
            <a:off x="6286512" y="4786322"/>
            <a:ext cx="2393189"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ZoneTexte 38"/>
          <p:cNvSpPr txBox="1"/>
          <p:nvPr/>
        </p:nvSpPr>
        <p:spPr>
          <a:xfrm>
            <a:off x="6215074" y="4857760"/>
            <a:ext cx="2500330" cy="861774"/>
          </a:xfrm>
          <a:prstGeom prst="rect">
            <a:avLst/>
          </a:prstGeom>
          <a:noFill/>
        </p:spPr>
        <p:txBody>
          <a:bodyPr wrap="square" rtlCol="0">
            <a:spAutoFit/>
          </a:bodyPr>
          <a:lstStyle/>
          <a:p>
            <a:pPr algn="ctr"/>
            <a:r>
              <a:rPr lang="fr-FR" sz="1600" dirty="0" smtClean="0"/>
              <a:t>Contacter </a:t>
            </a:r>
            <a:r>
              <a:rPr lang="fr-FR" sz="1600" dirty="0" smtClean="0"/>
              <a:t>nous:</a:t>
            </a:r>
          </a:p>
          <a:p>
            <a:pPr algn="ctr"/>
            <a:r>
              <a:rPr lang="fr-FR" sz="1600" dirty="0" smtClean="0"/>
              <a:t> </a:t>
            </a:r>
            <a:endParaRPr lang="fr-FR" sz="1600" dirty="0" smtClean="0"/>
          </a:p>
          <a:p>
            <a:pPr algn="ctr"/>
            <a:r>
              <a:rPr lang="fr-FR" sz="1600" dirty="0" smtClean="0"/>
              <a:t>Staff@beesoftware.fr</a:t>
            </a:r>
            <a:endParaRPr lang="fr-FR" sz="1600" dirty="0"/>
          </a:p>
        </p:txBody>
      </p:sp>
      <p:sp>
        <p:nvSpPr>
          <p:cNvPr id="41" name="Rectangle 40"/>
          <p:cNvSpPr/>
          <p:nvPr/>
        </p:nvSpPr>
        <p:spPr>
          <a:xfrm>
            <a:off x="6143636" y="364331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ZoneTexte 36"/>
          <p:cNvSpPr txBox="1"/>
          <p:nvPr/>
        </p:nvSpPr>
        <p:spPr>
          <a:xfrm>
            <a:off x="6286512" y="3714752"/>
            <a:ext cx="2286016" cy="954107"/>
          </a:xfrm>
          <a:prstGeom prst="rect">
            <a:avLst/>
          </a:prstGeom>
          <a:noFill/>
        </p:spPr>
        <p:txBody>
          <a:bodyPr wrap="square" rtlCol="0">
            <a:spAutoFit/>
          </a:bodyPr>
          <a:lstStyle/>
          <a:p>
            <a:r>
              <a:rPr lang="fr-FR" sz="1400" dirty="0" smtClean="0">
                <a:solidFill>
                  <a:schemeClr val="bg1"/>
                </a:solidFill>
              </a:rPr>
              <a:t>B-</a:t>
            </a:r>
            <a:r>
              <a:rPr lang="fr-FR" sz="1400" dirty="0" err="1" smtClean="0">
                <a:solidFill>
                  <a:schemeClr val="bg1"/>
                </a:solidFill>
              </a:rPr>
              <a:t>Hive</a:t>
            </a:r>
            <a:r>
              <a:rPr lang="fr-FR" sz="1400" dirty="0" smtClean="0">
                <a:solidFill>
                  <a:schemeClr val="bg1"/>
                </a:solidFill>
              </a:rPr>
              <a:t> </a:t>
            </a:r>
            <a:r>
              <a:rPr lang="fr-FR" sz="1400" dirty="0" smtClean="0">
                <a:solidFill>
                  <a:schemeClr val="bg1"/>
                </a:solidFill>
              </a:rPr>
              <a:t>simplifie au quotidien </a:t>
            </a:r>
            <a:r>
              <a:rPr lang="fr-FR" sz="1400" dirty="0" smtClean="0">
                <a:solidFill>
                  <a:schemeClr val="bg1"/>
                </a:solidFill>
              </a:rPr>
              <a:t>l’organisation </a:t>
            </a:r>
            <a:r>
              <a:rPr lang="fr-FR" sz="1400" dirty="0" smtClean="0">
                <a:solidFill>
                  <a:schemeClr val="bg1"/>
                </a:solidFill>
              </a:rPr>
              <a:t>de votre entreprise </a:t>
            </a:r>
            <a:r>
              <a:rPr lang="fr-FR" sz="1400" dirty="0" smtClean="0">
                <a:solidFill>
                  <a:schemeClr val="bg1"/>
                </a:solidFill>
              </a:rPr>
              <a:t>grâce </a:t>
            </a:r>
            <a:r>
              <a:rPr lang="fr-FR" sz="1400" dirty="0" smtClean="0">
                <a:solidFill>
                  <a:schemeClr val="bg1"/>
                </a:solidFill>
              </a:rPr>
              <a:t>à ses nombreuses </a:t>
            </a:r>
            <a:r>
              <a:rPr lang="fr-FR" sz="1400" dirty="0" smtClean="0">
                <a:solidFill>
                  <a:schemeClr val="bg1"/>
                </a:solidFill>
              </a:rPr>
              <a:t>fonctionnalités</a:t>
            </a:r>
            <a:endParaRPr lang="fr-FR"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15" name="Groupe 14"/>
          <p:cNvGrpSpPr/>
          <p:nvPr/>
        </p:nvGrpSpPr>
        <p:grpSpPr>
          <a:xfrm>
            <a:off x="5929322" y="0"/>
            <a:ext cx="3214678" cy="6858000"/>
            <a:chOff x="5929322" y="0"/>
            <a:chExt cx="3214678" cy="6858000"/>
          </a:xfrm>
        </p:grpSpPr>
        <p:sp>
          <p:nvSpPr>
            <p:cNvPr id="3" name="Rectangle 2"/>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4" name="Rectangle 3"/>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6" name="ZoneTexte 5"/>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7" name="ZoneTexte 6"/>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8" name="Groupe 7"/>
            <p:cNvGrpSpPr/>
            <p:nvPr/>
          </p:nvGrpSpPr>
          <p:grpSpPr>
            <a:xfrm>
              <a:off x="6286512" y="2071678"/>
              <a:ext cx="2643206" cy="2357454"/>
              <a:chOff x="9644098" y="1857364"/>
              <a:chExt cx="2643206" cy="2357454"/>
            </a:xfrm>
          </p:grpSpPr>
          <p:sp>
            <p:nvSpPr>
              <p:cNvPr id="9" name="Rectangle 8"/>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a:t>
                </a:r>
                <a:r>
                  <a:rPr lang="fr-FR" sz="1400" dirty="0" smtClean="0">
                    <a:solidFill>
                      <a:schemeClr val="bg1"/>
                    </a:solidFill>
                  </a:rPr>
                  <a:t>convient</a:t>
                </a:r>
                <a:endParaRPr lang="fr-FR" dirty="0"/>
              </a:p>
            </p:txBody>
          </p:sp>
        </p:grpSp>
      </p:grpSp>
      <p:grpSp>
        <p:nvGrpSpPr>
          <p:cNvPr id="11" name="Groupe 10"/>
          <p:cNvGrpSpPr/>
          <p:nvPr/>
        </p:nvGrpSpPr>
        <p:grpSpPr>
          <a:xfrm>
            <a:off x="0" y="428604"/>
            <a:ext cx="6000760" cy="428628"/>
            <a:chOff x="0" y="928670"/>
            <a:chExt cx="9144000" cy="428628"/>
          </a:xfrm>
        </p:grpSpPr>
        <p:sp>
          <p:nvSpPr>
            <p:cNvPr id="12" name="Rectangle 11"/>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p:cNvSpPr txBox="1"/>
            <p:nvPr/>
          </p:nvSpPr>
          <p:spPr>
            <a:xfrm>
              <a:off x="217667" y="928670"/>
              <a:ext cx="6966894" cy="369332"/>
            </a:xfrm>
            <a:prstGeom prst="rect">
              <a:avLst/>
            </a:prstGeom>
            <a:noFill/>
          </p:spPr>
          <p:txBody>
            <a:bodyPr wrap="square" rtlCol="0">
              <a:spAutoFit/>
            </a:bodyPr>
            <a:lstStyle/>
            <a:p>
              <a:r>
                <a:rPr lang="fr-FR" dirty="0" smtClean="0">
                  <a:solidFill>
                    <a:schemeClr val="bg1"/>
                  </a:solidFill>
                </a:rPr>
                <a:t>Gestionnaire de </a:t>
              </a:r>
              <a:r>
                <a:rPr lang="fr-FR" dirty="0" smtClean="0">
                  <a:solidFill>
                    <a:schemeClr val="bg1"/>
                  </a:solidFill>
                </a:rPr>
                <a:t>temps et d’activités</a:t>
              </a:r>
              <a:endParaRPr lang="fr-FR" dirty="0">
                <a:solidFill>
                  <a:schemeClr val="bg1"/>
                </a:solidFill>
              </a:endParaRPr>
            </a:p>
          </p:txBody>
        </p:sp>
      </p:grpSp>
      <p:sp>
        <p:nvSpPr>
          <p:cNvPr id="14" name="ZoneTexte 13"/>
          <p:cNvSpPr txBox="1"/>
          <p:nvPr/>
        </p:nvSpPr>
        <p:spPr>
          <a:xfrm>
            <a:off x="357158" y="1000108"/>
            <a:ext cx="5429288" cy="5262979"/>
          </a:xfrm>
          <a:prstGeom prst="rect">
            <a:avLst/>
          </a:prstGeom>
          <a:noFill/>
        </p:spPr>
        <p:txBody>
          <a:bodyPr wrap="square" rtlCol="0">
            <a:spAutoFit/>
          </a:bodyPr>
          <a:lstStyle/>
          <a:p>
            <a:r>
              <a:rPr lang="fr-FR" sz="1400" dirty="0" smtClean="0"/>
              <a:t>B-</a:t>
            </a:r>
            <a:r>
              <a:rPr lang="fr-FR" sz="1400" dirty="0" err="1" smtClean="0"/>
              <a:t>Hive</a:t>
            </a:r>
            <a:r>
              <a:rPr lang="fr-FR" sz="1400" dirty="0" smtClean="0"/>
              <a:t> </a:t>
            </a:r>
            <a:r>
              <a:rPr lang="fr-FR" sz="1400" dirty="0" smtClean="0"/>
              <a:t>peut être utilisé dans de nombreux secteurs d’activité</a:t>
            </a:r>
            <a:r>
              <a:rPr lang="fr-FR" sz="1400" dirty="0" smtClean="0"/>
              <a:t>.</a:t>
            </a:r>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r>
              <a:rPr lang="fr-FR" sz="1400" dirty="0" smtClean="0"/>
              <a:t> </a:t>
            </a:r>
          </a:p>
          <a:p>
            <a:r>
              <a:rPr lang="fr-FR" sz="1400" b="1" dirty="0" smtClean="0"/>
              <a:t>Bénéfices</a:t>
            </a:r>
          </a:p>
          <a:p>
            <a:pPr lvl="0"/>
            <a:r>
              <a:rPr lang="fr-FR" sz="1400" dirty="0" smtClean="0"/>
              <a:t>Le suivi précis de l'avancement des projets</a:t>
            </a:r>
          </a:p>
          <a:p>
            <a:pPr lvl="0"/>
            <a:r>
              <a:rPr lang="fr-FR" sz="1400" dirty="0" smtClean="0"/>
              <a:t>La connaissance quantitative du temps passé sur les activités par les collaborateurs.</a:t>
            </a:r>
          </a:p>
          <a:p>
            <a:pPr lvl="0"/>
            <a:r>
              <a:rPr lang="fr-FR" sz="1400" dirty="0" smtClean="0"/>
              <a:t>Le suivi du management dans le suivi des projets.</a:t>
            </a:r>
          </a:p>
          <a:p>
            <a:pPr lvl="0"/>
            <a:r>
              <a:rPr lang="fr-FR" sz="1400" dirty="0" smtClean="0"/>
              <a:t>La mise à jour plus efficace de suivi du projet </a:t>
            </a:r>
          </a:p>
          <a:p>
            <a:pPr lvl="0"/>
            <a:r>
              <a:rPr lang="fr-FR" sz="1400" dirty="0" smtClean="0"/>
              <a:t>La normalisation des procédures administratives</a:t>
            </a:r>
          </a:p>
          <a:p>
            <a:pPr lvl="0"/>
            <a:r>
              <a:rPr lang="fr-FR" sz="1400" dirty="0" smtClean="0"/>
              <a:t>La suppression de nombreuses applications liées au  suivi </a:t>
            </a:r>
            <a:r>
              <a:rPr lang="fr-FR" sz="1400" dirty="0" smtClean="0"/>
              <a:t>d'activité</a:t>
            </a:r>
          </a:p>
          <a:p>
            <a:pPr lvl="0"/>
            <a:endParaRPr lang="fr-FR" sz="1400" dirty="0" smtClean="0"/>
          </a:p>
          <a:p>
            <a:r>
              <a:rPr lang="fr-FR" sz="1400" b="1" dirty="0" smtClean="0"/>
              <a:t>B-</a:t>
            </a:r>
            <a:r>
              <a:rPr lang="fr-FR" sz="1400" b="1" dirty="0" err="1" smtClean="0"/>
              <a:t>Hive</a:t>
            </a:r>
            <a:r>
              <a:rPr lang="fr-FR" sz="1400" b="1" dirty="0" smtClean="0"/>
              <a:t> est un outil totalement personnalisable pour un suivi adapté à vos </a:t>
            </a:r>
            <a:r>
              <a:rPr lang="fr-FR" sz="1400" b="1" dirty="0" err="1" smtClean="0"/>
              <a:t>process</a:t>
            </a:r>
            <a:r>
              <a:rPr lang="fr-FR" sz="1400" b="1" dirty="0" smtClean="0"/>
              <a:t>.</a:t>
            </a:r>
            <a:r>
              <a:rPr lang="fr-FR" sz="1400" b="1" dirty="0" smtClean="0"/>
              <a:t> </a:t>
            </a:r>
            <a:endParaRPr lang="fr-FR" sz="14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8826"/>
            <a:ext cx="9144000" cy="6849174"/>
          </a:xfrm>
          <a:prstGeom prst="rect">
            <a:avLst/>
          </a:prstGeom>
          <a:ln>
            <a:noFill/>
          </a:ln>
          <a:effectLst>
            <a:outerShdw blurRad="292100" dist="139700" dir="2700000" algn="tl" rotWithShape="0">
              <a:srgbClr val="333333">
                <a:alpha val="65000"/>
              </a:srgbClr>
            </a:outerShdw>
          </a:effectLst>
        </p:spPr>
      </p:pic>
      <p:grpSp>
        <p:nvGrpSpPr>
          <p:cNvPr id="3" name="Groupe 2"/>
          <p:cNvGrpSpPr/>
          <p:nvPr/>
        </p:nvGrpSpPr>
        <p:grpSpPr>
          <a:xfrm>
            <a:off x="5929322" y="0"/>
            <a:ext cx="3214678" cy="6858000"/>
            <a:chOff x="5929322" y="0"/>
            <a:chExt cx="3214678" cy="6858000"/>
          </a:xfrm>
        </p:grpSpPr>
        <p:sp>
          <p:nvSpPr>
            <p:cNvPr id="4" name="Rectangle 3"/>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5" name="Rectangle 4"/>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7" name="ZoneTexte 6"/>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8" name="ZoneTexte 7"/>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9" name="Groupe 8"/>
            <p:cNvGrpSpPr/>
            <p:nvPr/>
          </p:nvGrpSpPr>
          <p:grpSpPr>
            <a:xfrm>
              <a:off x="6286512" y="2071678"/>
              <a:ext cx="2643206" cy="2357454"/>
              <a:chOff x="9644098" y="1857364"/>
              <a:chExt cx="2643206" cy="2357454"/>
            </a:xfrm>
          </p:grpSpPr>
          <p:sp>
            <p:nvSpPr>
              <p:cNvPr id="10" name="Rectangle 9"/>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a:t>
                </a:r>
                <a:r>
                  <a:rPr lang="fr-FR" sz="1400" dirty="0" smtClean="0">
                    <a:solidFill>
                      <a:schemeClr val="bg1"/>
                    </a:solidFill>
                  </a:rPr>
                  <a:t>convient</a:t>
                </a:r>
                <a:endParaRPr lang="fr-FR" dirty="0"/>
              </a:p>
            </p:txBody>
          </p:sp>
        </p:grpSp>
      </p:grpSp>
      <p:sp>
        <p:nvSpPr>
          <p:cNvPr id="12" name="ZoneTexte 11"/>
          <p:cNvSpPr txBox="1"/>
          <p:nvPr/>
        </p:nvSpPr>
        <p:spPr>
          <a:xfrm>
            <a:off x="428596" y="428604"/>
            <a:ext cx="5072098" cy="3416320"/>
          </a:xfrm>
          <a:prstGeom prst="rect">
            <a:avLst/>
          </a:prstGeom>
          <a:noFill/>
        </p:spPr>
        <p:txBody>
          <a:bodyPr wrap="square" rtlCol="0">
            <a:spAutoFit/>
          </a:bodyPr>
          <a:lstStyle/>
          <a:p>
            <a:r>
              <a:rPr lang="fr-FR" b="1" dirty="0" smtClean="0"/>
              <a:t>Atouts</a:t>
            </a:r>
            <a:endParaRPr lang="fr-FR" b="1" dirty="0" smtClean="0"/>
          </a:p>
          <a:p>
            <a:pPr lvl="0"/>
            <a:r>
              <a:rPr lang="fr-FR" dirty="0" smtClean="0"/>
              <a:t>Une adaptation complète/synthétique  de suivi d'activité de votre entreprise.</a:t>
            </a:r>
          </a:p>
          <a:p>
            <a:pPr lvl="0"/>
            <a:r>
              <a:rPr lang="fr-FR" dirty="0" smtClean="0"/>
              <a:t>Une adaptation </a:t>
            </a:r>
            <a:r>
              <a:rPr lang="fr-FR" dirty="0" err="1" smtClean="0"/>
              <a:t>compléte</a:t>
            </a:r>
            <a:r>
              <a:rPr lang="fr-FR" dirty="0" smtClean="0"/>
              <a:t>/synthétique  du système de gestion de votre projet.</a:t>
            </a:r>
          </a:p>
          <a:p>
            <a:pPr lvl="0"/>
            <a:r>
              <a:rPr lang="fr-FR" dirty="0" smtClean="0"/>
              <a:t>Une conception ergonomique et fonctionnelle  au suivi de votre activité.</a:t>
            </a:r>
          </a:p>
          <a:p>
            <a:r>
              <a:rPr lang="fr-FR" b="1" dirty="0" smtClean="0"/>
              <a:t> </a:t>
            </a:r>
            <a:endParaRPr lang="fr-FR" dirty="0" smtClean="0"/>
          </a:p>
          <a:p>
            <a:r>
              <a:rPr lang="fr-FR" b="1" dirty="0" smtClean="0"/>
              <a:t>B-</a:t>
            </a:r>
            <a:r>
              <a:rPr lang="fr-FR" b="1" dirty="0" err="1" smtClean="0"/>
              <a:t>Hive</a:t>
            </a:r>
            <a:r>
              <a:rPr lang="fr-FR" b="1" dirty="0" smtClean="0"/>
              <a:t> intègre la </a:t>
            </a:r>
            <a:r>
              <a:rPr lang="fr-FR" b="1" u="sng" dirty="0" smtClean="0">
                <a:hlinkClick r:id="rId4"/>
              </a:rPr>
              <a:t>gestion des temps</a:t>
            </a:r>
            <a:r>
              <a:rPr lang="fr-FR" b="1" dirty="0" smtClean="0"/>
              <a:t> et à la </a:t>
            </a:r>
            <a:r>
              <a:rPr lang="fr-FR" b="1" u="sng" dirty="0" smtClean="0">
                <a:hlinkClick r:id="rId5"/>
              </a:rPr>
              <a:t>gestion des plannings</a:t>
            </a:r>
            <a:r>
              <a:rPr lang="fr-FR" b="1" dirty="0" smtClean="0"/>
              <a:t> au suivi de votre activité</a:t>
            </a:r>
            <a:endParaRPr lang="fr-FR" dirty="0" smtClean="0"/>
          </a:p>
          <a:p>
            <a:endParaRPr lang="fr-FR" dirty="0" smtClean="0"/>
          </a:p>
          <a:p>
            <a:endParaRPr lang="fr-FR" dirty="0"/>
          </a:p>
        </p:txBody>
      </p:sp>
      <p:grpSp>
        <p:nvGrpSpPr>
          <p:cNvPr id="13" name="Groupe 12"/>
          <p:cNvGrpSpPr/>
          <p:nvPr/>
        </p:nvGrpSpPr>
        <p:grpSpPr>
          <a:xfrm>
            <a:off x="4286248" y="5643578"/>
            <a:ext cx="1357322" cy="500066"/>
            <a:chOff x="3071802" y="2500306"/>
            <a:chExt cx="1357322" cy="500066"/>
          </a:xfrm>
        </p:grpSpPr>
        <p:sp>
          <p:nvSpPr>
            <p:cNvPr id="14" name="Rectangle 13"/>
            <p:cNvSpPr/>
            <p:nvPr/>
          </p:nvSpPr>
          <p:spPr>
            <a:xfrm>
              <a:off x="3071802" y="2571744"/>
              <a:ext cx="785818"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p:cNvSpPr txBox="1"/>
            <p:nvPr/>
          </p:nvSpPr>
          <p:spPr>
            <a:xfrm>
              <a:off x="3143240" y="2571744"/>
              <a:ext cx="714380" cy="307777"/>
            </a:xfrm>
            <a:prstGeom prst="rect">
              <a:avLst/>
            </a:prstGeom>
            <a:noFill/>
          </p:spPr>
          <p:txBody>
            <a:bodyPr wrap="square" rtlCol="0">
              <a:spAutoFit/>
            </a:bodyPr>
            <a:lstStyle/>
            <a:p>
              <a:r>
                <a:rPr lang="fr-FR" sz="1400" dirty="0" smtClean="0">
                  <a:solidFill>
                    <a:schemeClr val="bg1"/>
                  </a:solidFill>
                </a:rPr>
                <a:t>Menu</a:t>
              </a:r>
              <a:endParaRPr lang="fr-FR" sz="1400" dirty="0">
                <a:solidFill>
                  <a:schemeClr val="bg1"/>
                </a:solidFill>
              </a:endParaRPr>
            </a:p>
          </p:txBody>
        </p:sp>
        <p:pic>
          <p:nvPicPr>
            <p:cNvPr id="16" name="Image 15" descr="vers-bas-aller-icone-5467-48.png"/>
            <p:cNvPicPr>
              <a:picLocks noChangeAspect="1"/>
            </p:cNvPicPr>
            <p:nvPr/>
          </p:nvPicPr>
          <p:blipFill>
            <a:blip r:embed="rId6"/>
            <a:stretch>
              <a:fillRect/>
            </a:stretch>
          </p:blipFill>
          <p:spPr>
            <a:xfrm>
              <a:off x="3929058" y="2500306"/>
              <a:ext cx="500066" cy="500066"/>
            </a:xfrm>
            <a:prstGeom prst="rect">
              <a:avLst/>
            </a:prstGeom>
          </p:spPr>
        </p:pic>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4" name="Groupe 3"/>
          <p:cNvGrpSpPr/>
          <p:nvPr/>
        </p:nvGrpSpPr>
        <p:grpSpPr>
          <a:xfrm>
            <a:off x="0" y="285728"/>
            <a:ext cx="6000760" cy="428628"/>
            <a:chOff x="0" y="928670"/>
            <a:chExt cx="9144000" cy="428628"/>
          </a:xfrm>
        </p:grpSpPr>
        <p:sp>
          <p:nvSpPr>
            <p:cNvPr id="5" name="Rectangle 4"/>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0" y="928670"/>
              <a:ext cx="3143272" cy="369332"/>
            </a:xfrm>
            <a:prstGeom prst="rect">
              <a:avLst/>
            </a:prstGeom>
            <a:noFill/>
          </p:spPr>
          <p:txBody>
            <a:bodyPr wrap="square" rtlCol="0">
              <a:spAutoFit/>
            </a:bodyPr>
            <a:lstStyle/>
            <a:p>
              <a:r>
                <a:rPr lang="fr-FR" dirty="0" smtClean="0">
                  <a:solidFill>
                    <a:schemeClr val="bg1"/>
                  </a:solidFill>
                </a:rPr>
                <a:t>  </a:t>
              </a:r>
              <a:r>
                <a:rPr lang="fr-FR" dirty="0" smtClean="0">
                  <a:solidFill>
                    <a:schemeClr val="bg1"/>
                  </a:solidFill>
                </a:rPr>
                <a:t> Suivi </a:t>
              </a:r>
              <a:r>
                <a:rPr lang="fr-FR" dirty="0" smtClean="0">
                  <a:solidFill>
                    <a:schemeClr val="bg1"/>
                  </a:solidFill>
                </a:rPr>
                <a:t>de budget</a:t>
              </a:r>
              <a:endParaRPr lang="fr-FR" dirty="0">
                <a:solidFill>
                  <a:schemeClr val="bg1"/>
                </a:solidFill>
              </a:endParaRPr>
            </a:p>
          </p:txBody>
        </p:sp>
      </p:grpSp>
      <p:grpSp>
        <p:nvGrpSpPr>
          <p:cNvPr id="7" name="Groupe 6"/>
          <p:cNvGrpSpPr/>
          <p:nvPr/>
        </p:nvGrpSpPr>
        <p:grpSpPr>
          <a:xfrm>
            <a:off x="5929322" y="0"/>
            <a:ext cx="3214678" cy="6858000"/>
            <a:chOff x="5929322" y="0"/>
            <a:chExt cx="3214678" cy="6858000"/>
          </a:xfrm>
        </p:grpSpPr>
        <p:sp>
          <p:nvSpPr>
            <p:cNvPr id="8" name="Rectangle 7"/>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9" name="Rectangle 8"/>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11" name="ZoneTexte 10"/>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12" name="ZoneTexte 11"/>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13" name="Groupe 12"/>
            <p:cNvGrpSpPr/>
            <p:nvPr/>
          </p:nvGrpSpPr>
          <p:grpSpPr>
            <a:xfrm>
              <a:off x="6286512" y="2071678"/>
              <a:ext cx="2643206" cy="2357454"/>
              <a:chOff x="9644098" y="1857364"/>
              <a:chExt cx="2643206" cy="2357454"/>
            </a:xfrm>
          </p:grpSpPr>
          <p:sp>
            <p:nvSpPr>
              <p:cNvPr id="14" name="Rectangle 13"/>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a:t>
                </a:r>
                <a:r>
                  <a:rPr lang="fr-FR" sz="1400" dirty="0" smtClean="0">
                    <a:solidFill>
                      <a:schemeClr val="bg1"/>
                    </a:solidFill>
                  </a:rPr>
                  <a:t>convient</a:t>
                </a:r>
                <a:endParaRPr lang="fr-FR" dirty="0"/>
              </a:p>
            </p:txBody>
          </p:sp>
        </p:grpSp>
      </p:grpSp>
      <p:sp>
        <p:nvSpPr>
          <p:cNvPr id="16" name="ZoneTexte 15"/>
          <p:cNvSpPr txBox="1"/>
          <p:nvPr/>
        </p:nvSpPr>
        <p:spPr>
          <a:xfrm>
            <a:off x="214282" y="857232"/>
            <a:ext cx="5429288" cy="5324535"/>
          </a:xfrm>
          <a:prstGeom prst="rect">
            <a:avLst/>
          </a:prstGeom>
          <a:noFill/>
        </p:spPr>
        <p:txBody>
          <a:bodyPr wrap="square" rtlCol="0">
            <a:spAutoFit/>
          </a:bodyPr>
          <a:lstStyle/>
          <a:p>
            <a:r>
              <a:rPr lang="fr-FR" sz="1400" dirty="0" smtClean="0"/>
              <a:t>Le suivi de budget de B-</a:t>
            </a:r>
            <a:r>
              <a:rPr lang="fr-FR" sz="1400" dirty="0" err="1" smtClean="0"/>
              <a:t>Hive</a:t>
            </a:r>
            <a:r>
              <a:rPr lang="fr-FR" sz="1400" dirty="0" smtClean="0"/>
              <a:t> vous permet de lier la saisie des temps passés à une notion budgétaire. Il consolide les temps passés de vos collaborateurs et vous permet de maitriser l'état d'avancement de vos projets ou activités selon plusieurs critères financiers : Cout en €, valeur de départ et suivi </a:t>
            </a:r>
            <a:r>
              <a:rPr lang="fr-FR" sz="1400" dirty="0" smtClean="0"/>
              <a:t>mensuel</a:t>
            </a:r>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r>
              <a:rPr lang="fr-FR" sz="1400" dirty="0" smtClean="0"/>
              <a:t> </a:t>
            </a:r>
          </a:p>
          <a:p>
            <a:r>
              <a:rPr lang="fr-FR" sz="1400" b="1" dirty="0" smtClean="0"/>
              <a:t> </a:t>
            </a:r>
            <a:endParaRPr lang="fr-FR" sz="1400" dirty="0" smtClean="0"/>
          </a:p>
          <a:p>
            <a:r>
              <a:rPr lang="fr-FR" sz="1400" b="1" dirty="0" smtClean="0"/>
              <a:t>Bénéfices :</a:t>
            </a:r>
          </a:p>
          <a:p>
            <a:pPr lvl="0"/>
            <a:r>
              <a:rPr lang="fr-FR" sz="1400" dirty="0" smtClean="0"/>
              <a:t>Suivi les prévisions et les charges budgétaires</a:t>
            </a:r>
          </a:p>
          <a:p>
            <a:pPr lvl="0"/>
            <a:r>
              <a:rPr lang="fr-FR" sz="1400" dirty="0" smtClean="0"/>
              <a:t>Affectation des dépenses par fonctions, site ou collaborateur</a:t>
            </a:r>
          </a:p>
          <a:p>
            <a:r>
              <a:rPr lang="fr-FR" sz="1400" b="1" dirty="0" smtClean="0"/>
              <a:t>Atouts :</a:t>
            </a:r>
            <a:endParaRPr lang="fr-FR" sz="1400" dirty="0" smtClean="0"/>
          </a:p>
          <a:p>
            <a:pPr lvl="0"/>
            <a:r>
              <a:rPr lang="fr-FR" sz="1400" dirty="0" smtClean="0"/>
              <a:t>Système d’information personnalisable (clients, affaires, projets, activités…). </a:t>
            </a:r>
          </a:p>
          <a:p>
            <a:pPr lvl="0"/>
            <a:r>
              <a:rPr lang="fr-FR" sz="1400" dirty="0" smtClean="0"/>
              <a:t>Contrôles en temps réel des données. </a:t>
            </a:r>
          </a:p>
          <a:p>
            <a:pPr lvl="0"/>
            <a:r>
              <a:rPr lang="fr-FR" sz="1400" dirty="0" smtClean="0"/>
              <a:t>Consultation individuelle ou collective d’activité. </a:t>
            </a:r>
          </a:p>
          <a:p>
            <a:pPr lvl="0"/>
            <a:r>
              <a:rPr lang="fr-FR" sz="1400" dirty="0" smtClean="0"/>
              <a:t>imputation par projet, par ligne</a:t>
            </a:r>
          </a:p>
          <a:p>
            <a:endParaRPr lang="fr-FR" dirty="0"/>
          </a:p>
        </p:txBody>
      </p:sp>
      <p:grpSp>
        <p:nvGrpSpPr>
          <p:cNvPr id="17" name="Groupe 16"/>
          <p:cNvGrpSpPr/>
          <p:nvPr/>
        </p:nvGrpSpPr>
        <p:grpSpPr>
          <a:xfrm>
            <a:off x="4214810" y="6072206"/>
            <a:ext cx="1357322" cy="500066"/>
            <a:chOff x="3071802" y="2500306"/>
            <a:chExt cx="1357322" cy="500066"/>
          </a:xfrm>
        </p:grpSpPr>
        <p:sp>
          <p:nvSpPr>
            <p:cNvPr id="18" name="Rectangle 17"/>
            <p:cNvSpPr/>
            <p:nvPr/>
          </p:nvSpPr>
          <p:spPr>
            <a:xfrm>
              <a:off x="3071802" y="2571744"/>
              <a:ext cx="785818"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p:cNvSpPr txBox="1"/>
            <p:nvPr/>
          </p:nvSpPr>
          <p:spPr>
            <a:xfrm>
              <a:off x="3143240" y="2571744"/>
              <a:ext cx="714380" cy="307777"/>
            </a:xfrm>
            <a:prstGeom prst="rect">
              <a:avLst/>
            </a:prstGeom>
            <a:noFill/>
          </p:spPr>
          <p:txBody>
            <a:bodyPr wrap="square" rtlCol="0">
              <a:spAutoFit/>
            </a:bodyPr>
            <a:lstStyle/>
            <a:p>
              <a:r>
                <a:rPr lang="fr-FR" sz="1400" dirty="0" smtClean="0">
                  <a:solidFill>
                    <a:schemeClr val="bg1"/>
                  </a:solidFill>
                </a:rPr>
                <a:t>Menu</a:t>
              </a:r>
              <a:endParaRPr lang="fr-FR" sz="1400" dirty="0">
                <a:solidFill>
                  <a:schemeClr val="bg1"/>
                </a:solidFill>
              </a:endParaRPr>
            </a:p>
          </p:txBody>
        </p:sp>
        <p:pic>
          <p:nvPicPr>
            <p:cNvPr id="20" name="Image 19" descr="vers-bas-aller-icone-5467-48.png"/>
            <p:cNvPicPr>
              <a:picLocks noChangeAspect="1"/>
            </p:cNvPicPr>
            <p:nvPr/>
          </p:nvPicPr>
          <p:blipFill>
            <a:blip r:embed="rId4"/>
            <a:stretch>
              <a:fillRect/>
            </a:stretch>
          </p:blipFill>
          <p:spPr>
            <a:xfrm>
              <a:off x="3929058" y="2500306"/>
              <a:ext cx="500066" cy="500066"/>
            </a:xfrm>
            <a:prstGeom prst="rect">
              <a:avLst/>
            </a:prstGeom>
          </p:spPr>
        </p:pic>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6" name="Groupe 5"/>
          <p:cNvGrpSpPr/>
          <p:nvPr/>
        </p:nvGrpSpPr>
        <p:grpSpPr>
          <a:xfrm>
            <a:off x="5929322" y="0"/>
            <a:ext cx="3214678" cy="6858000"/>
            <a:chOff x="5929322" y="0"/>
            <a:chExt cx="3214678" cy="6858000"/>
          </a:xfrm>
        </p:grpSpPr>
        <p:sp>
          <p:nvSpPr>
            <p:cNvPr id="7" name="Rectangle 6"/>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8" name="Rectangle 7"/>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10" name="ZoneTexte 9"/>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11" name="ZoneTexte 10"/>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12" name="Groupe 11"/>
            <p:cNvGrpSpPr/>
            <p:nvPr/>
          </p:nvGrpSpPr>
          <p:grpSpPr>
            <a:xfrm>
              <a:off x="6286512" y="2071678"/>
              <a:ext cx="2643206" cy="2357454"/>
              <a:chOff x="9644098" y="1857364"/>
              <a:chExt cx="2643206" cy="2357454"/>
            </a:xfrm>
          </p:grpSpPr>
          <p:sp>
            <p:nvSpPr>
              <p:cNvPr id="13" name="Rectangle 12"/>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a:t>
                </a:r>
                <a:r>
                  <a:rPr lang="fr-FR" sz="1400" dirty="0" smtClean="0">
                    <a:solidFill>
                      <a:schemeClr val="bg1"/>
                    </a:solidFill>
                  </a:rPr>
                  <a:t>convient</a:t>
                </a:r>
                <a:endParaRPr lang="fr-FR" dirty="0"/>
              </a:p>
            </p:txBody>
          </p:sp>
        </p:grpSp>
      </p:grpSp>
      <p:sp>
        <p:nvSpPr>
          <p:cNvPr id="15" name="ZoneTexte 14"/>
          <p:cNvSpPr txBox="1"/>
          <p:nvPr/>
        </p:nvSpPr>
        <p:spPr>
          <a:xfrm>
            <a:off x="214282" y="857232"/>
            <a:ext cx="5429288" cy="2677656"/>
          </a:xfrm>
          <a:prstGeom prst="rect">
            <a:avLst/>
          </a:prstGeom>
          <a:noFill/>
        </p:spPr>
        <p:txBody>
          <a:bodyPr wrap="square" rtlCol="0">
            <a:spAutoFit/>
          </a:bodyPr>
          <a:lstStyle/>
          <a:p>
            <a:r>
              <a:rPr lang="fr-FR" sz="1400" dirty="0" smtClean="0"/>
              <a:t>De </a:t>
            </a:r>
            <a:r>
              <a:rPr lang="fr-FR" sz="1400" dirty="0" smtClean="0"/>
              <a:t>plus en plus d’entreprises et d’administrations cherchent des outils leur permettant d’adapter leurs ressources à des besoins liées à leur activité ou tout simplement un outil leur permettant de remonter les incidents ou des demandes d’actions à réaliser .</a:t>
            </a:r>
          </a:p>
          <a:p>
            <a:r>
              <a:rPr lang="fr-FR" sz="1400" dirty="0" smtClean="0"/>
              <a:t>La gestion des tickets de B-</a:t>
            </a:r>
            <a:r>
              <a:rPr lang="fr-FR" sz="1400" dirty="0" err="1" smtClean="0"/>
              <a:t>Hive</a:t>
            </a:r>
            <a:r>
              <a:rPr lang="fr-FR" sz="1400" dirty="0" smtClean="0"/>
              <a:t> est une solution orientée support client. Son déploiement est simple et rapide ce qui permet d’avoir un centre de support et un processus d’organisation opérationnel afin de traiter les incidents rencontrés par les clients et ce en fonction des différents contrats établis.</a:t>
            </a:r>
          </a:p>
          <a:p>
            <a:r>
              <a:rPr lang="fr-FR" sz="1400" dirty="0" smtClean="0"/>
              <a:t>La </a:t>
            </a:r>
            <a:r>
              <a:rPr lang="fr-FR" sz="1400" dirty="0" smtClean="0"/>
              <a:t>gestion des tickets de B-</a:t>
            </a:r>
            <a:r>
              <a:rPr lang="fr-FR" sz="1400" dirty="0" err="1" smtClean="0"/>
              <a:t>hive</a:t>
            </a:r>
            <a:r>
              <a:rPr lang="fr-FR" sz="1400" dirty="0" smtClean="0"/>
              <a:t> permet aussi de déclarer des actions à réaliser.</a:t>
            </a:r>
          </a:p>
          <a:p>
            <a:r>
              <a:rPr lang="fr-FR" sz="1400" dirty="0" smtClean="0"/>
              <a:t> </a:t>
            </a:r>
          </a:p>
        </p:txBody>
      </p:sp>
      <p:grpSp>
        <p:nvGrpSpPr>
          <p:cNvPr id="20" name="Groupe 19"/>
          <p:cNvGrpSpPr/>
          <p:nvPr/>
        </p:nvGrpSpPr>
        <p:grpSpPr>
          <a:xfrm>
            <a:off x="0" y="285728"/>
            <a:ext cx="6000760" cy="428628"/>
            <a:chOff x="0" y="928670"/>
            <a:chExt cx="9144000" cy="428628"/>
          </a:xfrm>
        </p:grpSpPr>
        <p:sp>
          <p:nvSpPr>
            <p:cNvPr id="21" name="Rectangle 20"/>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p:cNvSpPr txBox="1"/>
            <p:nvPr/>
          </p:nvSpPr>
          <p:spPr>
            <a:xfrm>
              <a:off x="0" y="928670"/>
              <a:ext cx="3809972" cy="369332"/>
            </a:xfrm>
            <a:prstGeom prst="rect">
              <a:avLst/>
            </a:prstGeom>
            <a:noFill/>
          </p:spPr>
          <p:txBody>
            <a:bodyPr wrap="square" rtlCol="0">
              <a:spAutoFit/>
            </a:bodyPr>
            <a:lstStyle/>
            <a:p>
              <a:r>
                <a:rPr lang="fr-FR" dirty="0" smtClean="0">
                  <a:solidFill>
                    <a:schemeClr val="bg1"/>
                  </a:solidFill>
                </a:rPr>
                <a:t>   Gestion </a:t>
              </a:r>
              <a:r>
                <a:rPr lang="fr-FR" dirty="0" smtClean="0">
                  <a:solidFill>
                    <a:schemeClr val="bg1"/>
                  </a:solidFill>
                </a:rPr>
                <a:t>des tickets</a:t>
              </a:r>
              <a:endParaRPr lang="fr-FR" dirty="0">
                <a:solidFill>
                  <a:schemeClr val="bg1"/>
                </a:solidFill>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3" name="Groupe 2"/>
          <p:cNvGrpSpPr/>
          <p:nvPr/>
        </p:nvGrpSpPr>
        <p:grpSpPr>
          <a:xfrm>
            <a:off x="5929322" y="0"/>
            <a:ext cx="3214678" cy="6858000"/>
            <a:chOff x="5929322" y="0"/>
            <a:chExt cx="3214678" cy="6858000"/>
          </a:xfrm>
        </p:grpSpPr>
        <p:sp>
          <p:nvSpPr>
            <p:cNvPr id="4" name="Rectangle 3"/>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5" name="Rectangle 4"/>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7" name="ZoneTexte 6"/>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8" name="ZoneTexte 7"/>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9" name="Groupe 8"/>
            <p:cNvGrpSpPr/>
            <p:nvPr/>
          </p:nvGrpSpPr>
          <p:grpSpPr>
            <a:xfrm>
              <a:off x="6286512" y="2071678"/>
              <a:ext cx="2643206" cy="2357454"/>
              <a:chOff x="9644098" y="1857364"/>
              <a:chExt cx="2643206" cy="2357454"/>
            </a:xfrm>
          </p:grpSpPr>
          <p:sp>
            <p:nvSpPr>
              <p:cNvPr id="10" name="Rectangle 9"/>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a:t>
                </a:r>
                <a:r>
                  <a:rPr lang="fr-FR" sz="1400" dirty="0" smtClean="0">
                    <a:solidFill>
                      <a:schemeClr val="bg1"/>
                    </a:solidFill>
                  </a:rPr>
                  <a:t>convient</a:t>
                </a:r>
                <a:endParaRPr lang="fr-FR" dirty="0"/>
              </a:p>
            </p:txBody>
          </p:sp>
        </p:grpSp>
      </p:grpSp>
      <p:sp>
        <p:nvSpPr>
          <p:cNvPr id="12" name="ZoneTexte 11"/>
          <p:cNvSpPr txBox="1"/>
          <p:nvPr/>
        </p:nvSpPr>
        <p:spPr>
          <a:xfrm>
            <a:off x="357158" y="357166"/>
            <a:ext cx="5572164" cy="3539430"/>
          </a:xfrm>
          <a:prstGeom prst="rect">
            <a:avLst/>
          </a:prstGeom>
          <a:noFill/>
        </p:spPr>
        <p:txBody>
          <a:bodyPr wrap="square" rtlCol="0">
            <a:spAutoFit/>
          </a:bodyPr>
          <a:lstStyle/>
          <a:p>
            <a:r>
              <a:rPr lang="fr-FR" sz="1400" b="1" dirty="0" smtClean="0"/>
              <a:t>Bénéfices :</a:t>
            </a:r>
          </a:p>
          <a:p>
            <a:pPr lvl="0"/>
            <a:r>
              <a:rPr lang="fr-FR" sz="1400" dirty="0" smtClean="0"/>
              <a:t>Organiser et répondre à un incident</a:t>
            </a:r>
          </a:p>
          <a:p>
            <a:pPr lvl="0"/>
            <a:r>
              <a:rPr lang="fr-FR" sz="1400" dirty="0" smtClean="0"/>
              <a:t>Suivre la résolution de l’incident</a:t>
            </a:r>
          </a:p>
          <a:p>
            <a:pPr lvl="0"/>
            <a:r>
              <a:rPr lang="fr-FR" sz="1400" dirty="0" smtClean="0"/>
              <a:t>Notification par mail</a:t>
            </a:r>
          </a:p>
          <a:p>
            <a:pPr lvl="0"/>
            <a:r>
              <a:rPr lang="fr-FR" sz="1400" dirty="0" err="1" smtClean="0"/>
              <a:t>Reporting</a:t>
            </a:r>
            <a:endParaRPr lang="fr-FR" sz="1400" dirty="0" smtClean="0"/>
          </a:p>
          <a:p>
            <a:r>
              <a:rPr lang="fr-FR" sz="1400" b="1" dirty="0" smtClean="0"/>
              <a:t>Atouts</a:t>
            </a:r>
            <a:r>
              <a:rPr lang="fr-FR" sz="1400" b="1" dirty="0" smtClean="0"/>
              <a:t> :</a:t>
            </a:r>
            <a:endParaRPr lang="fr-FR" sz="1400" dirty="0" smtClean="0"/>
          </a:p>
          <a:p>
            <a:pPr lvl="0"/>
            <a:r>
              <a:rPr lang="fr-FR" sz="1400" dirty="0" smtClean="0"/>
              <a:t>Personnalisation de l’interface</a:t>
            </a:r>
          </a:p>
          <a:p>
            <a:pPr lvl="0"/>
            <a:r>
              <a:rPr lang="fr-FR" sz="1400" dirty="0" smtClean="0"/>
              <a:t>Possibilité d’ouvrir un ticket soit via l’interface soit par mail</a:t>
            </a:r>
          </a:p>
          <a:p>
            <a:pPr lvl="0"/>
            <a:r>
              <a:rPr lang="fr-FR" sz="1400" b="1" dirty="0" smtClean="0"/>
              <a:t>Architecture  modulaire</a:t>
            </a:r>
            <a:endParaRPr lang="fr-FR" sz="1400" dirty="0" smtClean="0"/>
          </a:p>
          <a:p>
            <a:pPr lvl="0"/>
            <a:r>
              <a:rPr lang="fr-FR" sz="1400" b="1" dirty="0" smtClean="0"/>
              <a:t>Des fonctionnalités d’analyse</a:t>
            </a:r>
            <a:endParaRPr lang="fr-FR" sz="1400" dirty="0" smtClean="0"/>
          </a:p>
          <a:p>
            <a:pPr lvl="0"/>
            <a:r>
              <a:rPr lang="fr-FR" sz="1400" dirty="0" smtClean="0"/>
              <a:t>Réduction des coûts de suivi </a:t>
            </a:r>
          </a:p>
          <a:p>
            <a:r>
              <a:rPr lang="fr-FR" sz="1400" b="1" dirty="0" smtClean="0"/>
              <a:t> </a:t>
            </a:r>
            <a:endParaRPr lang="fr-FR" sz="1400" dirty="0" smtClean="0"/>
          </a:p>
          <a:p>
            <a:r>
              <a:rPr lang="fr-FR" sz="1400" b="1" dirty="0" smtClean="0"/>
              <a:t> </a:t>
            </a:r>
            <a:endParaRPr lang="fr-FR" sz="1400" dirty="0" smtClean="0"/>
          </a:p>
          <a:p>
            <a:r>
              <a:rPr lang="fr-FR" sz="1400" dirty="0" smtClean="0"/>
              <a:t>La gestion de tickets B-</a:t>
            </a:r>
            <a:r>
              <a:rPr lang="fr-FR" sz="1400" dirty="0" err="1" smtClean="0"/>
              <a:t>Hive</a:t>
            </a:r>
            <a:r>
              <a:rPr lang="fr-FR" sz="1400" dirty="0" smtClean="0"/>
              <a:t> répond à l’ensemble des problématiques de </a:t>
            </a:r>
            <a:r>
              <a:rPr lang="fr-FR" sz="1400" dirty="0" err="1" smtClean="0"/>
              <a:t>reporting</a:t>
            </a:r>
            <a:r>
              <a:rPr lang="fr-FR" sz="1400" dirty="0" smtClean="0"/>
              <a:t>, gestion et pilotage de la sureté et sécurité de votre entreprise  avec de nombreuses fonctionnalités intégrées de gestion des incidents</a:t>
            </a:r>
            <a:r>
              <a:rPr lang="fr-FR" sz="1400" dirty="0" smtClean="0"/>
              <a:t>.</a:t>
            </a:r>
            <a:endParaRPr lang="fr-FR" sz="1400" dirty="0"/>
          </a:p>
        </p:txBody>
      </p:sp>
      <p:grpSp>
        <p:nvGrpSpPr>
          <p:cNvPr id="13" name="Groupe 12"/>
          <p:cNvGrpSpPr/>
          <p:nvPr/>
        </p:nvGrpSpPr>
        <p:grpSpPr>
          <a:xfrm>
            <a:off x="4071934" y="5643578"/>
            <a:ext cx="1357322" cy="500066"/>
            <a:chOff x="3071802" y="2500306"/>
            <a:chExt cx="1357322" cy="500066"/>
          </a:xfrm>
        </p:grpSpPr>
        <p:sp>
          <p:nvSpPr>
            <p:cNvPr id="14" name="Rectangle 13"/>
            <p:cNvSpPr/>
            <p:nvPr/>
          </p:nvSpPr>
          <p:spPr>
            <a:xfrm>
              <a:off x="3071802" y="2571744"/>
              <a:ext cx="785818"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p:cNvSpPr txBox="1"/>
            <p:nvPr/>
          </p:nvSpPr>
          <p:spPr>
            <a:xfrm>
              <a:off x="3143240" y="2571744"/>
              <a:ext cx="714380" cy="307777"/>
            </a:xfrm>
            <a:prstGeom prst="rect">
              <a:avLst/>
            </a:prstGeom>
            <a:noFill/>
          </p:spPr>
          <p:txBody>
            <a:bodyPr wrap="square" rtlCol="0">
              <a:spAutoFit/>
            </a:bodyPr>
            <a:lstStyle/>
            <a:p>
              <a:r>
                <a:rPr lang="fr-FR" sz="1400" dirty="0" smtClean="0">
                  <a:solidFill>
                    <a:schemeClr val="bg1"/>
                  </a:solidFill>
                </a:rPr>
                <a:t>Menu</a:t>
              </a:r>
              <a:endParaRPr lang="fr-FR" sz="1400" dirty="0">
                <a:solidFill>
                  <a:schemeClr val="bg1"/>
                </a:solidFill>
              </a:endParaRPr>
            </a:p>
          </p:txBody>
        </p:sp>
        <p:pic>
          <p:nvPicPr>
            <p:cNvPr id="16" name="Image 15" descr="vers-bas-aller-icone-5467-48.png"/>
            <p:cNvPicPr>
              <a:picLocks noChangeAspect="1"/>
            </p:cNvPicPr>
            <p:nvPr/>
          </p:nvPicPr>
          <p:blipFill>
            <a:blip r:embed="rId4"/>
            <a:stretch>
              <a:fillRect/>
            </a:stretch>
          </p:blipFill>
          <p:spPr>
            <a:xfrm>
              <a:off x="3929058" y="2500306"/>
              <a:ext cx="500066" cy="500066"/>
            </a:xfrm>
            <a:prstGeom prst="rect">
              <a:avLst/>
            </a:prstGeom>
          </p:spPr>
        </p:pic>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3" name="Groupe 2"/>
          <p:cNvGrpSpPr/>
          <p:nvPr/>
        </p:nvGrpSpPr>
        <p:grpSpPr>
          <a:xfrm>
            <a:off x="5929322" y="0"/>
            <a:ext cx="3214678" cy="6858000"/>
            <a:chOff x="5929322" y="0"/>
            <a:chExt cx="3214678" cy="6858000"/>
          </a:xfrm>
        </p:grpSpPr>
        <p:sp>
          <p:nvSpPr>
            <p:cNvPr id="4" name="Rectangle 3"/>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5" name="Rectangle 4"/>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7" name="ZoneTexte 6"/>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8" name="ZoneTexte 7"/>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9" name="Groupe 8"/>
            <p:cNvGrpSpPr/>
            <p:nvPr/>
          </p:nvGrpSpPr>
          <p:grpSpPr>
            <a:xfrm>
              <a:off x="6286512" y="2071678"/>
              <a:ext cx="2643206" cy="2357454"/>
              <a:chOff x="9644098" y="1857364"/>
              <a:chExt cx="2643206" cy="2357454"/>
            </a:xfrm>
          </p:grpSpPr>
          <p:sp>
            <p:nvSpPr>
              <p:cNvPr id="10" name="Rectangle 9"/>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a:t>
                </a:r>
                <a:r>
                  <a:rPr lang="fr-FR" sz="1400" dirty="0" smtClean="0">
                    <a:solidFill>
                      <a:schemeClr val="bg1"/>
                    </a:solidFill>
                  </a:rPr>
                  <a:t>convient</a:t>
                </a:r>
                <a:endParaRPr lang="fr-FR" dirty="0"/>
              </a:p>
            </p:txBody>
          </p:sp>
        </p:grpSp>
      </p:grpSp>
      <p:grpSp>
        <p:nvGrpSpPr>
          <p:cNvPr id="12" name="Groupe 11"/>
          <p:cNvGrpSpPr/>
          <p:nvPr/>
        </p:nvGrpSpPr>
        <p:grpSpPr>
          <a:xfrm>
            <a:off x="0" y="357166"/>
            <a:ext cx="6000760" cy="428628"/>
            <a:chOff x="0" y="928670"/>
            <a:chExt cx="9144000" cy="428628"/>
          </a:xfrm>
        </p:grpSpPr>
        <p:sp>
          <p:nvSpPr>
            <p:cNvPr id="13" name="Rectangle 12"/>
            <p:cNvSpPr/>
            <p:nvPr/>
          </p:nvSpPr>
          <p:spPr>
            <a:xfrm>
              <a:off x="0" y="928670"/>
              <a:ext cx="9144000" cy="428628"/>
            </a:xfrm>
            <a:prstGeom prst="rect">
              <a:avLst/>
            </a:prstGeom>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p:cNvSpPr txBox="1"/>
            <p:nvPr/>
          </p:nvSpPr>
          <p:spPr>
            <a:xfrm>
              <a:off x="0" y="928670"/>
              <a:ext cx="3809972" cy="369332"/>
            </a:xfrm>
            <a:prstGeom prst="rect">
              <a:avLst/>
            </a:prstGeom>
            <a:noFill/>
          </p:spPr>
          <p:txBody>
            <a:bodyPr wrap="square" rtlCol="0">
              <a:spAutoFit/>
            </a:bodyPr>
            <a:lstStyle/>
            <a:p>
              <a:r>
                <a:rPr lang="fr-FR" dirty="0" smtClean="0">
                  <a:solidFill>
                    <a:schemeClr val="bg1"/>
                  </a:solidFill>
                </a:rPr>
                <a:t>   Gestion de missions</a:t>
              </a:r>
              <a:endParaRPr lang="fr-FR" dirty="0">
                <a:solidFill>
                  <a:schemeClr val="bg1"/>
                </a:solidFill>
              </a:endParaRPr>
            </a:p>
          </p:txBody>
        </p:sp>
      </p:grpSp>
      <p:sp>
        <p:nvSpPr>
          <p:cNvPr id="15" name="ZoneTexte 14"/>
          <p:cNvSpPr txBox="1"/>
          <p:nvPr/>
        </p:nvSpPr>
        <p:spPr>
          <a:xfrm>
            <a:off x="285720" y="1000108"/>
            <a:ext cx="5357850" cy="5693866"/>
          </a:xfrm>
          <a:prstGeom prst="rect">
            <a:avLst/>
          </a:prstGeom>
          <a:noFill/>
        </p:spPr>
        <p:txBody>
          <a:bodyPr wrap="square" rtlCol="0">
            <a:spAutoFit/>
          </a:bodyPr>
          <a:lstStyle/>
          <a:p>
            <a:r>
              <a:rPr lang="fr-FR" sz="1400" dirty="0" smtClean="0"/>
              <a:t>B-</a:t>
            </a:r>
            <a:r>
              <a:rPr lang="fr-FR" sz="1400" dirty="0" err="1" smtClean="0"/>
              <a:t>Hive</a:t>
            </a:r>
            <a:r>
              <a:rPr lang="fr-FR" sz="1400" dirty="0" smtClean="0"/>
              <a:t> intègre également un outil de suivi des prestations en clientèle qui permet d’optimiser la gestion des comptes rendus d’activité et de notifier les actions sur les contrats en cours</a:t>
            </a:r>
            <a:r>
              <a:rPr lang="fr-FR" sz="1400" dirty="0" smtClean="0"/>
              <a:t>.</a:t>
            </a:r>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endParaRPr lang="fr-FR" sz="1400" dirty="0" smtClean="0"/>
          </a:p>
          <a:p>
            <a:r>
              <a:rPr lang="fr-FR" sz="1400" dirty="0" smtClean="0"/>
              <a:t> </a:t>
            </a:r>
          </a:p>
          <a:p>
            <a:r>
              <a:rPr lang="fr-FR" sz="1400" b="1" dirty="0" smtClean="0"/>
              <a:t>Bénéfices :</a:t>
            </a:r>
          </a:p>
          <a:p>
            <a:pPr lvl="0"/>
            <a:r>
              <a:rPr lang="fr-FR" sz="1400" dirty="0" smtClean="0"/>
              <a:t>La feuille de temps est réalisée par B-</a:t>
            </a:r>
            <a:r>
              <a:rPr lang="fr-FR" sz="1400" dirty="0" err="1" smtClean="0"/>
              <a:t>hive</a:t>
            </a:r>
            <a:r>
              <a:rPr lang="fr-FR" sz="1400" dirty="0" smtClean="0"/>
              <a:t> selon le contrat de la mission et des congés</a:t>
            </a:r>
          </a:p>
          <a:p>
            <a:pPr lvl="0"/>
            <a:r>
              <a:rPr lang="fr-FR" sz="1400" dirty="0" smtClean="0"/>
              <a:t>la feuille de temps et la note de frais sont modifiables par le collaborateur</a:t>
            </a:r>
          </a:p>
          <a:p>
            <a:pPr lvl="0"/>
            <a:r>
              <a:rPr lang="fr-FR" sz="1400" dirty="0" smtClean="0"/>
              <a:t>La capacité à générer des comptes rendus et des factures prévisionnels.</a:t>
            </a:r>
          </a:p>
          <a:p>
            <a:pPr lvl="0"/>
            <a:r>
              <a:rPr lang="fr-FR" sz="1400" dirty="0" smtClean="0"/>
              <a:t>Lié un cout journalier au contrat.</a:t>
            </a:r>
          </a:p>
          <a:p>
            <a:pPr lvl="0"/>
            <a:r>
              <a:rPr lang="fr-FR" sz="1400" dirty="0" smtClean="0"/>
              <a:t>Etablissement des factures mensuel par collaborateur</a:t>
            </a:r>
          </a:p>
          <a:p>
            <a:pPr lvl="0"/>
            <a:r>
              <a:rPr lang="fr-FR" sz="1400" dirty="0" smtClean="0"/>
              <a:t>La normalisation des procédures administratives</a:t>
            </a:r>
          </a:p>
          <a:p>
            <a:pPr lvl="0"/>
            <a:r>
              <a:rPr lang="fr-FR" sz="1400" dirty="0" smtClean="0"/>
              <a:t>La suppression de nombreuses applications liées au  suivi </a:t>
            </a:r>
            <a:r>
              <a:rPr lang="fr-FR" sz="1400" dirty="0" smtClean="0"/>
              <a:t>d'activité</a:t>
            </a:r>
            <a:endParaRPr lang="fr-FR" sz="14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s-3.jpeg"/>
          <p:cNvPicPr>
            <a:picLocks noChangeAspect="1"/>
          </p:cNvPicPr>
          <p:nvPr/>
        </p:nvPicPr>
        <p:blipFill>
          <a:blip r:embed="rId2"/>
          <a:stretch>
            <a:fillRect/>
          </a:stretch>
        </p:blipFill>
        <p:spPr>
          <a:xfrm>
            <a:off x="0" y="0"/>
            <a:ext cx="9144000" cy="6849174"/>
          </a:xfrm>
          <a:prstGeom prst="rect">
            <a:avLst/>
          </a:prstGeom>
          <a:ln>
            <a:noFill/>
          </a:ln>
          <a:effectLst>
            <a:outerShdw blurRad="292100" dist="139700" dir="2700000" algn="tl" rotWithShape="0">
              <a:srgbClr val="333333">
                <a:alpha val="65000"/>
              </a:srgbClr>
            </a:outerShdw>
          </a:effectLst>
        </p:spPr>
      </p:pic>
      <p:grpSp>
        <p:nvGrpSpPr>
          <p:cNvPr id="3" name="Groupe 2"/>
          <p:cNvGrpSpPr/>
          <p:nvPr/>
        </p:nvGrpSpPr>
        <p:grpSpPr>
          <a:xfrm>
            <a:off x="5929322" y="0"/>
            <a:ext cx="3214678" cy="6858000"/>
            <a:chOff x="5929322" y="0"/>
            <a:chExt cx="3214678" cy="6858000"/>
          </a:xfrm>
        </p:grpSpPr>
        <p:sp>
          <p:nvSpPr>
            <p:cNvPr id="4" name="Rectangle 3"/>
            <p:cNvSpPr/>
            <p:nvPr/>
          </p:nvSpPr>
          <p:spPr>
            <a:xfrm>
              <a:off x="5929322" y="0"/>
              <a:ext cx="3214678" cy="685800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dirty="0"/>
            </a:p>
          </p:txBody>
        </p:sp>
        <p:sp>
          <p:nvSpPr>
            <p:cNvPr id="5" name="Rectangle 4"/>
            <p:cNvSpPr/>
            <p:nvPr/>
          </p:nvSpPr>
          <p:spPr>
            <a:xfrm>
              <a:off x="6215074" y="214290"/>
              <a:ext cx="2643206" cy="1571636"/>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3" descr="\\MYBOOKLIVEDUO\Beesoftware\B-HIVE\BeeSoftware\logo\logo-bhive1.jpg"/>
            <p:cNvPicPr>
              <a:picLocks noChangeAspect="1" noChangeArrowheads="1"/>
            </p:cNvPicPr>
            <p:nvPr/>
          </p:nvPicPr>
          <p:blipFill>
            <a:blip r:embed="rId3" cstate="print"/>
            <a:srcRect/>
            <a:stretch>
              <a:fillRect/>
            </a:stretch>
          </p:blipFill>
          <p:spPr bwMode="auto">
            <a:xfrm>
              <a:off x="6215074" y="928670"/>
              <a:ext cx="928693" cy="870396"/>
            </a:xfrm>
            <a:prstGeom prst="rect">
              <a:avLst/>
            </a:prstGeom>
            <a:noFill/>
          </p:spPr>
        </p:pic>
        <p:sp>
          <p:nvSpPr>
            <p:cNvPr id="7" name="ZoneTexte 6"/>
            <p:cNvSpPr txBox="1"/>
            <p:nvPr/>
          </p:nvSpPr>
          <p:spPr>
            <a:xfrm>
              <a:off x="6786578" y="285728"/>
              <a:ext cx="1500198" cy="523220"/>
            </a:xfrm>
            <a:prstGeom prst="rect">
              <a:avLst/>
            </a:prstGeom>
            <a:noFill/>
          </p:spPr>
          <p:txBody>
            <a:bodyPr wrap="square" rtlCol="0">
              <a:spAutoFit/>
            </a:bodyPr>
            <a:lstStyle/>
            <a:p>
              <a:r>
                <a:rPr lang="fr-FR" sz="2800" i="1" dirty="0" smtClean="0">
                  <a:solidFill>
                    <a:schemeClr val="tx2">
                      <a:lumMod val="50000"/>
                    </a:schemeClr>
                  </a:solidFill>
                  <a:latin typeface="Bookman Old Style" pitchFamily="18" charset="0"/>
                </a:rPr>
                <a:t>B-</a:t>
              </a:r>
              <a:r>
                <a:rPr lang="fr-FR" sz="2800" i="1" dirty="0" err="1" smtClean="0">
                  <a:solidFill>
                    <a:schemeClr val="tx2">
                      <a:lumMod val="50000"/>
                    </a:schemeClr>
                  </a:solidFill>
                  <a:latin typeface="Bookman Old Style" pitchFamily="18" charset="0"/>
                </a:rPr>
                <a:t>Hive</a:t>
              </a:r>
              <a:endParaRPr lang="fr-FR" sz="2800" i="1" dirty="0">
                <a:solidFill>
                  <a:schemeClr val="tx2">
                    <a:lumMod val="50000"/>
                  </a:schemeClr>
                </a:solidFill>
                <a:latin typeface="Bookman Old Style" pitchFamily="18" charset="0"/>
              </a:endParaRPr>
            </a:p>
          </p:txBody>
        </p:sp>
        <p:sp>
          <p:nvSpPr>
            <p:cNvPr id="8" name="ZoneTexte 7"/>
            <p:cNvSpPr txBox="1"/>
            <p:nvPr/>
          </p:nvSpPr>
          <p:spPr>
            <a:xfrm>
              <a:off x="7215206" y="928670"/>
              <a:ext cx="1571636" cy="738664"/>
            </a:xfrm>
            <a:prstGeom prst="rect">
              <a:avLst/>
            </a:prstGeom>
            <a:noFill/>
          </p:spPr>
          <p:txBody>
            <a:bodyPr wrap="square" rtlCol="0">
              <a:spAutoFit/>
            </a:bodyPr>
            <a:lstStyle/>
            <a:p>
              <a:pPr algn="ctr"/>
              <a:r>
                <a:rPr lang="fr-FR" sz="1400" i="1" dirty="0" smtClean="0">
                  <a:solidFill>
                    <a:schemeClr val="tx2">
                      <a:lumMod val="50000"/>
                    </a:schemeClr>
                  </a:solidFill>
                  <a:latin typeface="Bookman Old Style" pitchFamily="18" charset="0"/>
                </a:rPr>
                <a:t>Logiciel Web pour le</a:t>
              </a:r>
            </a:p>
            <a:p>
              <a:pPr algn="ctr"/>
              <a:r>
                <a:rPr lang="fr-FR" sz="1400" i="1" dirty="0" smtClean="0">
                  <a:solidFill>
                    <a:schemeClr val="tx2">
                      <a:lumMod val="50000"/>
                    </a:schemeClr>
                  </a:solidFill>
                  <a:latin typeface="Bookman Old Style" pitchFamily="18" charset="0"/>
                </a:rPr>
                <a:t>Suivi d’activités</a:t>
              </a:r>
              <a:endParaRPr lang="fr-FR" sz="1400" i="1" dirty="0">
                <a:solidFill>
                  <a:schemeClr val="tx2">
                    <a:lumMod val="50000"/>
                  </a:schemeClr>
                </a:solidFill>
                <a:latin typeface="Bookman Old Style" pitchFamily="18" charset="0"/>
              </a:endParaRPr>
            </a:p>
          </p:txBody>
        </p:sp>
        <p:grpSp>
          <p:nvGrpSpPr>
            <p:cNvPr id="9" name="Groupe 8"/>
            <p:cNvGrpSpPr/>
            <p:nvPr/>
          </p:nvGrpSpPr>
          <p:grpSpPr>
            <a:xfrm>
              <a:off x="6286512" y="2071678"/>
              <a:ext cx="2643206" cy="2357454"/>
              <a:chOff x="9644098" y="1857364"/>
              <a:chExt cx="2643206" cy="2357454"/>
            </a:xfrm>
          </p:grpSpPr>
          <p:sp>
            <p:nvSpPr>
              <p:cNvPr id="10" name="Rectangle 9"/>
              <p:cNvSpPr/>
              <p:nvPr/>
            </p:nvSpPr>
            <p:spPr>
              <a:xfrm>
                <a:off x="9644098" y="1857364"/>
                <a:ext cx="2643206" cy="2357454"/>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9644098" y="2000240"/>
                <a:ext cx="2643206" cy="2031325"/>
              </a:xfrm>
              <a:prstGeom prst="rect">
                <a:avLst/>
              </a:prstGeom>
              <a:noFill/>
            </p:spPr>
            <p:txBody>
              <a:bodyPr wrap="square" rtlCol="0">
                <a:spAutoFit/>
              </a:bodyPr>
              <a:lstStyle/>
              <a:p>
                <a:r>
                  <a:rPr lang="fr-FR" sz="1400" dirty="0" smtClean="0">
                    <a:solidFill>
                      <a:schemeClr val="bg1"/>
                    </a:solidFill>
                  </a:rPr>
                  <a:t>Valoriser le temps de travail</a:t>
                </a: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endParaRPr lang="fr-FR" sz="1400" dirty="0" smtClean="0">
                  <a:solidFill>
                    <a:schemeClr val="bg1"/>
                  </a:solidFill>
                </a:endParaRPr>
              </a:p>
              <a:p>
                <a:r>
                  <a:rPr lang="fr-FR" sz="1400" dirty="0" smtClean="0">
                    <a:solidFill>
                      <a:schemeClr val="bg1"/>
                    </a:solidFill>
                  </a:rPr>
                  <a:t>Plus  d’interface disponibles…</a:t>
                </a:r>
              </a:p>
              <a:p>
                <a:r>
                  <a:rPr lang="fr-FR" sz="1400" dirty="0" smtClean="0">
                    <a:solidFill>
                      <a:schemeClr val="bg1"/>
                    </a:solidFill>
                  </a:rPr>
                  <a:t>De la client/projet à la plus complexe, nous avons l’interface qui vous </a:t>
                </a:r>
                <a:r>
                  <a:rPr lang="fr-FR" sz="1400" dirty="0" smtClean="0">
                    <a:solidFill>
                      <a:schemeClr val="bg1"/>
                    </a:solidFill>
                  </a:rPr>
                  <a:t>convient</a:t>
                </a:r>
                <a:endParaRPr lang="fr-FR" dirty="0"/>
              </a:p>
            </p:txBody>
          </p:sp>
        </p:grpSp>
      </p:grpSp>
      <p:sp>
        <p:nvSpPr>
          <p:cNvPr id="12" name="ZoneTexte 11"/>
          <p:cNvSpPr txBox="1"/>
          <p:nvPr/>
        </p:nvSpPr>
        <p:spPr>
          <a:xfrm>
            <a:off x="428596" y="428604"/>
            <a:ext cx="5214974" cy="1815882"/>
          </a:xfrm>
          <a:prstGeom prst="rect">
            <a:avLst/>
          </a:prstGeom>
          <a:noFill/>
        </p:spPr>
        <p:txBody>
          <a:bodyPr wrap="square" rtlCol="0">
            <a:spAutoFit/>
          </a:bodyPr>
          <a:lstStyle/>
          <a:p>
            <a:r>
              <a:rPr lang="fr-FR" sz="1400" b="1" dirty="0" smtClean="0"/>
              <a:t>Atouts</a:t>
            </a:r>
            <a:r>
              <a:rPr lang="fr-FR" sz="1400" b="1" dirty="0" smtClean="0"/>
              <a:t> :</a:t>
            </a:r>
          </a:p>
          <a:p>
            <a:pPr lvl="0"/>
            <a:r>
              <a:rPr lang="fr-FR" sz="1400" dirty="0" smtClean="0"/>
              <a:t>Une adaptation synthétique  du système de gestion de vos prestations.</a:t>
            </a:r>
          </a:p>
          <a:p>
            <a:pPr lvl="0"/>
            <a:r>
              <a:rPr lang="fr-FR" sz="1400" dirty="0" smtClean="0"/>
              <a:t>Une conception ergonomique et fonctionnelle  au suivi de votre activité.</a:t>
            </a:r>
          </a:p>
          <a:p>
            <a:r>
              <a:rPr lang="fr-FR" sz="1400" dirty="0" smtClean="0"/>
              <a:t> </a:t>
            </a:r>
          </a:p>
          <a:p>
            <a:r>
              <a:rPr lang="fr-FR" sz="1400" b="1" dirty="0" smtClean="0"/>
              <a:t>B-</a:t>
            </a:r>
            <a:r>
              <a:rPr lang="fr-FR" sz="1400" b="1" dirty="0" err="1" smtClean="0"/>
              <a:t>Hive</a:t>
            </a:r>
            <a:r>
              <a:rPr lang="fr-FR" sz="1400" b="1" dirty="0" smtClean="0"/>
              <a:t> est une solution simple pour gérer les missions grâce à une interface simple et conviviale</a:t>
            </a:r>
            <a:endParaRPr lang="fr-FR" sz="1400" dirty="0"/>
          </a:p>
        </p:txBody>
      </p:sp>
      <p:grpSp>
        <p:nvGrpSpPr>
          <p:cNvPr id="13" name="Groupe 12"/>
          <p:cNvGrpSpPr/>
          <p:nvPr/>
        </p:nvGrpSpPr>
        <p:grpSpPr>
          <a:xfrm>
            <a:off x="4071934" y="5643578"/>
            <a:ext cx="1357322" cy="500066"/>
            <a:chOff x="3071802" y="2500306"/>
            <a:chExt cx="1357322" cy="500066"/>
          </a:xfrm>
        </p:grpSpPr>
        <p:sp>
          <p:nvSpPr>
            <p:cNvPr id="14" name="Rectangle 13"/>
            <p:cNvSpPr/>
            <p:nvPr/>
          </p:nvSpPr>
          <p:spPr>
            <a:xfrm>
              <a:off x="3071802" y="2571744"/>
              <a:ext cx="785818" cy="357190"/>
            </a:xfrm>
            <a:prstGeom prst="rect">
              <a:avLst/>
            </a:prstGeom>
            <a:solidFill>
              <a:schemeClr val="accent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p:cNvSpPr txBox="1"/>
            <p:nvPr/>
          </p:nvSpPr>
          <p:spPr>
            <a:xfrm>
              <a:off x="3143240" y="2571744"/>
              <a:ext cx="714380" cy="307777"/>
            </a:xfrm>
            <a:prstGeom prst="rect">
              <a:avLst/>
            </a:prstGeom>
            <a:noFill/>
          </p:spPr>
          <p:txBody>
            <a:bodyPr wrap="square" rtlCol="0">
              <a:spAutoFit/>
            </a:bodyPr>
            <a:lstStyle/>
            <a:p>
              <a:r>
                <a:rPr lang="fr-FR" sz="1400" dirty="0" smtClean="0">
                  <a:solidFill>
                    <a:schemeClr val="bg1"/>
                  </a:solidFill>
                </a:rPr>
                <a:t>Menu</a:t>
              </a:r>
              <a:endParaRPr lang="fr-FR" sz="1400" dirty="0">
                <a:solidFill>
                  <a:schemeClr val="bg1"/>
                </a:solidFill>
              </a:endParaRPr>
            </a:p>
          </p:txBody>
        </p:sp>
        <p:pic>
          <p:nvPicPr>
            <p:cNvPr id="16" name="Image 15" descr="vers-bas-aller-icone-5467-48.png"/>
            <p:cNvPicPr>
              <a:picLocks noChangeAspect="1"/>
            </p:cNvPicPr>
            <p:nvPr/>
          </p:nvPicPr>
          <p:blipFill>
            <a:blip r:embed="rId4"/>
            <a:stretch>
              <a:fillRect/>
            </a:stretch>
          </p:blipFill>
          <p:spPr>
            <a:xfrm>
              <a:off x="3929058" y="2500306"/>
              <a:ext cx="500066" cy="500066"/>
            </a:xfrm>
            <a:prstGeom prst="rect">
              <a:avLst/>
            </a:prstGeom>
          </p:spPr>
        </p:pic>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ville-de-lille.jpg"/>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0" y="0"/>
            <a:ext cx="9245616" cy="68580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noFill/>
          </a:ln>
          <a:effectLst>
            <a:outerShdw blurRad="292100" dist="139700" dir="2700000" algn="tl" rotWithShape="0">
              <a:srgbClr val="333333">
                <a:alpha val="65000"/>
              </a:srgbClr>
            </a:outerShdw>
          </a:effectLst>
        </p:spPr>
      </p:pic>
      <p:pic>
        <p:nvPicPr>
          <p:cNvPr id="5" name="Image 4" descr="logo beeSoftware.jpg"/>
          <p:cNvPicPr>
            <a:picLocks noChangeAspect="1"/>
          </p:cNvPicPr>
          <p:nvPr/>
        </p:nvPicPr>
        <p:blipFill>
          <a:blip r:embed="rId3"/>
          <a:stretch>
            <a:fillRect/>
          </a:stretch>
        </p:blipFill>
        <p:spPr>
          <a:xfrm>
            <a:off x="3143240" y="1285860"/>
            <a:ext cx="2971383" cy="1357298"/>
          </a:xfrm>
          <a:prstGeom prst="rect">
            <a:avLst/>
          </a:prstGeom>
        </p:spPr>
      </p:pic>
      <p:sp>
        <p:nvSpPr>
          <p:cNvPr id="6" name="ZoneTexte 5"/>
          <p:cNvSpPr txBox="1"/>
          <p:nvPr/>
        </p:nvSpPr>
        <p:spPr>
          <a:xfrm>
            <a:off x="2786050" y="3000372"/>
            <a:ext cx="4572032" cy="707886"/>
          </a:xfrm>
          <a:prstGeom prst="rect">
            <a:avLst/>
          </a:prstGeom>
          <a:noFill/>
        </p:spPr>
        <p:txBody>
          <a:bodyPr wrap="square" rtlCol="0">
            <a:spAutoFit/>
          </a:bodyPr>
          <a:lstStyle/>
          <a:p>
            <a:r>
              <a:rPr lang="fr-FR" sz="4000" b="1" dirty="0" smtClean="0">
                <a:solidFill>
                  <a:schemeClr val="bg1"/>
                </a:solidFill>
              </a:rPr>
              <a:t>Contactez - nous</a:t>
            </a:r>
            <a:endParaRPr lang="fr-FR" sz="4000" b="1" dirty="0">
              <a:solidFill>
                <a:schemeClr val="bg1"/>
              </a:solidFill>
            </a:endParaRPr>
          </a:p>
        </p:txBody>
      </p:sp>
      <p:sp>
        <p:nvSpPr>
          <p:cNvPr id="7" name="ZoneTexte 6"/>
          <p:cNvSpPr txBox="1"/>
          <p:nvPr/>
        </p:nvSpPr>
        <p:spPr>
          <a:xfrm>
            <a:off x="2857488" y="4000504"/>
            <a:ext cx="4071966" cy="584775"/>
          </a:xfrm>
          <a:prstGeom prst="rect">
            <a:avLst/>
          </a:prstGeom>
          <a:noFill/>
        </p:spPr>
        <p:txBody>
          <a:bodyPr wrap="square" rtlCol="0">
            <a:spAutoFit/>
          </a:bodyPr>
          <a:lstStyle/>
          <a:p>
            <a:r>
              <a:rPr lang="fr-FR" sz="3200" b="1" dirty="0" smtClean="0">
                <a:solidFill>
                  <a:schemeClr val="bg1"/>
                </a:solidFill>
              </a:rPr>
              <a:t>Staff@besoftware.fr</a:t>
            </a:r>
            <a:endParaRPr lang="fr-FR" sz="3200" b="1" dirty="0">
              <a:solidFill>
                <a:schemeClr val="bg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5321</TotalTime>
  <Words>775</Words>
  <Application>Microsoft Office PowerPoint</Application>
  <PresentationFormat>Affichage à l'écran (4:3)</PresentationFormat>
  <Paragraphs>209</Paragraphs>
  <Slides>14</Slides>
  <Notes>0</Notes>
  <HiddenSlides>0</HiddenSlides>
  <MMClips>0</MMClips>
  <ScaleCrop>false</ScaleCrop>
  <HeadingPairs>
    <vt:vector size="4" baseType="variant">
      <vt:variant>
        <vt:lpstr>Thème</vt:lpstr>
      </vt:variant>
      <vt:variant>
        <vt:i4>1</vt:i4>
      </vt:variant>
      <vt:variant>
        <vt:lpstr>Titres des diapositives</vt:lpstr>
      </vt:variant>
      <vt:variant>
        <vt:i4>14</vt:i4>
      </vt:variant>
    </vt:vector>
  </HeadingPairs>
  <TitlesOfParts>
    <vt:vector size="15" baseType="lpstr">
      <vt:lpstr>Thème Office</vt:lpstr>
      <vt:lpstr>Diapositive 1</vt:lpstr>
      <vt:lpstr>Diapositive 2</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HERMEZ Ludivine</dc:creator>
  <cp:lastModifiedBy>HERMEZ Ludivine</cp:lastModifiedBy>
  <cp:revision>99</cp:revision>
  <dcterms:created xsi:type="dcterms:W3CDTF">2013-12-03T10:16:50Z</dcterms:created>
  <dcterms:modified xsi:type="dcterms:W3CDTF">2013-12-08T16:40:32Z</dcterms:modified>
</cp:coreProperties>
</file>