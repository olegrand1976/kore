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1" r:id="rId2"/>
    <p:sldId id="292" r:id="rId3"/>
    <p:sldId id="293" r:id="rId4"/>
    <p:sldId id="294" r:id="rId5"/>
    <p:sldId id="314" r:id="rId6"/>
    <p:sldId id="304" r:id="rId7"/>
    <p:sldId id="297" r:id="rId8"/>
    <p:sldId id="313" r:id="rId9"/>
    <p:sldId id="309" r:id="rId10"/>
    <p:sldId id="305" r:id="rId11"/>
    <p:sldId id="306" r:id="rId12"/>
    <p:sldId id="307" r:id="rId13"/>
    <p:sldId id="296" r:id="rId14"/>
    <p:sldId id="302" r:id="rId15"/>
  </p:sldIdLst>
  <p:sldSz cx="9144000" cy="6858000" type="screen4x3"/>
  <p:notesSz cx="9144000" cy="6858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6CCFF"/>
    <a:srgbClr val="A50021"/>
    <a:srgbClr val="3028D0"/>
  </p:clrMru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4801" autoAdjust="0"/>
    <p:restoredTop sz="87207" autoAdjust="0"/>
  </p:normalViewPr>
  <p:slideViewPr>
    <p:cSldViewPr>
      <p:cViewPr>
        <p:scale>
          <a:sx n="70" d="100"/>
          <a:sy n="70" d="100"/>
        </p:scale>
        <p:origin x="-156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56FDCA-F10A-4569-ADA3-BC521BBB95DE}" type="doc">
      <dgm:prSet loTypeId="urn:microsoft.com/office/officeart/2005/8/layout/cycle6" loCatId="relationship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EA455704-5F2F-43FD-B4F4-C82835626BFF}">
      <dgm:prSet phldrT="[Texte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>
        <a:solidFill>
          <a:srgbClr val="C00000"/>
        </a:solidFill>
      </dgm:spPr>
      <dgm:t>
        <a:bodyPr/>
        <a:lstStyle/>
        <a:p>
          <a:r>
            <a:rPr lang="fr-FR" sz="1600" dirty="0" smtClean="0"/>
            <a:t>TMA</a:t>
          </a:r>
          <a:endParaRPr lang="fr-FR" sz="1600" dirty="0"/>
        </a:p>
      </dgm:t>
    </dgm:pt>
    <dgm:pt modelId="{99D18549-E2C4-4E25-9708-E34BF8829F36}" type="parTrans" cxnId="{C45BB2C7-C506-4202-8857-CA26D46DC94E}">
      <dgm:prSet/>
      <dgm:spPr/>
      <dgm:t>
        <a:bodyPr/>
        <a:lstStyle/>
        <a:p>
          <a:endParaRPr lang="fr-FR"/>
        </a:p>
      </dgm:t>
    </dgm:pt>
    <dgm:pt modelId="{6A62E854-9050-47A6-9A98-30E1267DB04E}" type="sibTrans" cxnId="{C45BB2C7-C506-4202-8857-CA26D46DC94E}">
      <dgm:prSet/>
      <dgm:spPr/>
      <dgm:t>
        <a:bodyPr/>
        <a:lstStyle/>
        <a:p>
          <a:endParaRPr lang="fr-FR"/>
        </a:p>
      </dgm:t>
    </dgm:pt>
    <dgm:pt modelId="{7E08A364-1B19-4A0F-91E0-A92D2153AAD1}">
      <dgm:prSet phldrT="[Texte]" custT="1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fr-FR" sz="1600" dirty="0" smtClean="0"/>
            <a:t>SSII</a:t>
          </a:r>
          <a:endParaRPr lang="fr-FR" sz="1600" dirty="0"/>
        </a:p>
      </dgm:t>
    </dgm:pt>
    <dgm:pt modelId="{B5FDC29C-535E-44EC-AD19-6E37407AEC93}" type="parTrans" cxnId="{888A8256-ECA8-4225-A559-8DFC41148E6A}">
      <dgm:prSet/>
      <dgm:spPr/>
      <dgm:t>
        <a:bodyPr/>
        <a:lstStyle/>
        <a:p>
          <a:endParaRPr lang="fr-FR"/>
        </a:p>
      </dgm:t>
    </dgm:pt>
    <dgm:pt modelId="{D102889D-A39B-4F39-8EB2-93205C06052E}" type="sibTrans" cxnId="{888A8256-ECA8-4225-A559-8DFC41148E6A}">
      <dgm:prSet/>
      <dgm:spPr/>
      <dgm:t>
        <a:bodyPr/>
        <a:lstStyle/>
        <a:p>
          <a:endParaRPr lang="fr-FR"/>
        </a:p>
      </dgm:t>
    </dgm:pt>
    <dgm:pt modelId="{E3BE4FB8-7A21-45D5-AA9D-469C75CB2913}">
      <dgm:prSet phldrT="[Texte]" custT="1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>
        <a:solidFill>
          <a:srgbClr val="FFC000"/>
        </a:solidFill>
      </dgm:spPr>
      <dgm:t>
        <a:bodyPr/>
        <a:lstStyle/>
        <a:p>
          <a:r>
            <a:rPr lang="fr-FR" sz="1600" dirty="0" smtClean="0">
              <a:solidFill>
                <a:schemeClr val="tx1"/>
              </a:solidFill>
            </a:rPr>
            <a:t>Support</a:t>
          </a:r>
        </a:p>
      </dgm:t>
    </dgm:pt>
    <dgm:pt modelId="{A0581428-8DE2-4B5A-9A0A-B9DB3DA29E40}" type="parTrans" cxnId="{CF1286AB-A03A-4A4C-9CDB-595E00CD9D1C}">
      <dgm:prSet/>
      <dgm:spPr/>
      <dgm:t>
        <a:bodyPr/>
        <a:lstStyle/>
        <a:p>
          <a:endParaRPr lang="fr-FR"/>
        </a:p>
      </dgm:t>
    </dgm:pt>
    <dgm:pt modelId="{50F04CEB-7AF8-4CAD-9094-08F7E526303B}" type="sibTrans" cxnId="{CF1286AB-A03A-4A4C-9CDB-595E00CD9D1C}">
      <dgm:prSet/>
      <dgm:spPr/>
      <dgm:t>
        <a:bodyPr/>
        <a:lstStyle/>
        <a:p>
          <a:endParaRPr lang="fr-FR"/>
        </a:p>
      </dgm:t>
    </dgm:pt>
    <dgm:pt modelId="{7D02C143-9D02-43F1-8B3A-3C55D8CA4863}">
      <dgm:prSet phldrT="[Texte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solidFill>
          <a:srgbClr val="7030A0"/>
        </a:solidFill>
      </dgm:spPr>
      <dgm:t>
        <a:bodyPr/>
        <a:lstStyle/>
        <a:p>
          <a:r>
            <a:rPr lang="fr-FR" dirty="0" smtClean="0">
              <a:solidFill>
                <a:schemeClr val="tx1"/>
              </a:solidFill>
            </a:rPr>
            <a:t>Maintenance technique</a:t>
          </a:r>
        </a:p>
        <a:p>
          <a:r>
            <a:rPr lang="fr-FR" i="1" dirty="0" smtClean="0">
              <a:solidFill>
                <a:schemeClr val="tx1"/>
              </a:solidFill>
            </a:rPr>
            <a:t>(en cours)</a:t>
          </a:r>
          <a:endParaRPr lang="fr-FR" i="1" dirty="0">
            <a:solidFill>
              <a:schemeClr val="tx1"/>
            </a:solidFill>
          </a:endParaRPr>
        </a:p>
      </dgm:t>
    </dgm:pt>
    <dgm:pt modelId="{F2D5BC4F-0DEA-4BAC-8FB3-CDA3EB26E16A}" type="parTrans" cxnId="{540C8494-521B-4568-98F6-06ECF8301129}">
      <dgm:prSet/>
      <dgm:spPr/>
      <dgm:t>
        <a:bodyPr/>
        <a:lstStyle/>
        <a:p>
          <a:endParaRPr lang="fr-FR"/>
        </a:p>
      </dgm:t>
    </dgm:pt>
    <dgm:pt modelId="{BB435B31-F1C2-4FC0-AE3A-8EEBA2DFF0A6}" type="sibTrans" cxnId="{540C8494-521B-4568-98F6-06ECF8301129}">
      <dgm:prSet/>
      <dgm:spPr/>
      <dgm:t>
        <a:bodyPr/>
        <a:lstStyle/>
        <a:p>
          <a:endParaRPr lang="fr-FR"/>
        </a:p>
      </dgm:t>
    </dgm:pt>
    <dgm:pt modelId="{07A2DC56-C94B-4913-A2C0-7C3E275F49D8}">
      <dgm:prSet phldrT="[Texte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r-FR" dirty="0" smtClean="0"/>
            <a:t>Dossier administratif</a:t>
          </a:r>
        </a:p>
        <a:p>
          <a:r>
            <a:rPr lang="fr-FR" i="1" dirty="0" smtClean="0"/>
            <a:t>(commandé)</a:t>
          </a:r>
          <a:endParaRPr lang="fr-FR" i="1" dirty="0"/>
        </a:p>
      </dgm:t>
    </dgm:pt>
    <dgm:pt modelId="{78BAD516-8F4D-4653-A083-1AA583402308}" type="parTrans" cxnId="{09A40662-5321-43C3-A6F9-5B2701ABB9F5}">
      <dgm:prSet/>
      <dgm:spPr/>
      <dgm:t>
        <a:bodyPr/>
        <a:lstStyle/>
        <a:p>
          <a:endParaRPr lang="fr-FR"/>
        </a:p>
      </dgm:t>
    </dgm:pt>
    <dgm:pt modelId="{D1DE37D7-10F8-441C-BD99-A179B1A11102}" type="sibTrans" cxnId="{09A40662-5321-43C3-A6F9-5B2701ABB9F5}">
      <dgm:prSet/>
      <dgm:spPr/>
      <dgm:t>
        <a:bodyPr/>
        <a:lstStyle/>
        <a:p>
          <a:endParaRPr lang="fr-FR"/>
        </a:p>
      </dgm:t>
    </dgm:pt>
    <dgm:pt modelId="{53A21FAC-9293-4616-87F5-68FAF285BF46}">
      <dgm:prSet phldrT="[Texte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r-FR" dirty="0" smtClean="0"/>
            <a:t>Projet Informatique</a:t>
          </a:r>
        </a:p>
        <a:p>
          <a:r>
            <a:rPr lang="fr-FR" i="1" dirty="0" smtClean="0"/>
            <a:t>(commandé)</a:t>
          </a:r>
          <a:endParaRPr lang="fr-FR" i="1" dirty="0"/>
        </a:p>
      </dgm:t>
    </dgm:pt>
    <dgm:pt modelId="{7CFFA4C9-2B38-4561-95C9-0BCA1303970B}" type="parTrans" cxnId="{71E4351A-1CE8-406E-B692-50EFDD6BE9AB}">
      <dgm:prSet/>
      <dgm:spPr/>
      <dgm:t>
        <a:bodyPr/>
        <a:lstStyle/>
        <a:p>
          <a:endParaRPr lang="fr-FR"/>
        </a:p>
      </dgm:t>
    </dgm:pt>
    <dgm:pt modelId="{55739EB1-8861-45A4-ADED-30CAF50CDC6A}" type="sibTrans" cxnId="{71E4351A-1CE8-406E-B692-50EFDD6BE9AB}">
      <dgm:prSet/>
      <dgm:spPr/>
      <dgm:t>
        <a:bodyPr/>
        <a:lstStyle/>
        <a:p>
          <a:endParaRPr lang="fr-FR"/>
        </a:p>
      </dgm:t>
    </dgm:pt>
    <dgm:pt modelId="{7F844286-09E2-4BC5-9445-06BA24E38650}">
      <dgm:prSet phldrT="[Texte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solidFill>
          <a:srgbClr val="00B050"/>
        </a:solidFill>
      </dgm:spPr>
      <dgm:t>
        <a:bodyPr/>
        <a:lstStyle/>
        <a:p>
          <a:r>
            <a:rPr lang="fr-FR" dirty="0" smtClean="0"/>
            <a:t>Autre ?</a:t>
          </a:r>
        </a:p>
        <a:p>
          <a:r>
            <a:rPr lang="fr-FR" dirty="0" smtClean="0"/>
            <a:t>Demander-le gratuitement</a:t>
          </a:r>
          <a:endParaRPr lang="fr-FR" dirty="0"/>
        </a:p>
      </dgm:t>
    </dgm:pt>
    <dgm:pt modelId="{2E29C0F5-C4FE-41BE-944D-B2651460A040}" type="parTrans" cxnId="{A71723DB-2F3F-435B-A4B9-7E2AA2B8211F}">
      <dgm:prSet/>
      <dgm:spPr/>
      <dgm:t>
        <a:bodyPr/>
        <a:lstStyle/>
        <a:p>
          <a:endParaRPr lang="fr-FR"/>
        </a:p>
      </dgm:t>
    </dgm:pt>
    <dgm:pt modelId="{EDF081BA-037B-4F88-B8A6-09FCC189ED3A}" type="sibTrans" cxnId="{A71723DB-2F3F-435B-A4B9-7E2AA2B8211F}">
      <dgm:prSet/>
      <dgm:spPr/>
      <dgm:t>
        <a:bodyPr/>
        <a:lstStyle/>
        <a:p>
          <a:endParaRPr lang="fr-FR"/>
        </a:p>
      </dgm:t>
    </dgm:pt>
    <dgm:pt modelId="{3201E424-A068-4F3B-97D6-0CA306B6D64D}" type="pres">
      <dgm:prSet presAssocID="{F656FDCA-F10A-4569-ADA3-BC521BBB95DE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F44EBCF5-0279-4B00-960E-60E517681875}" type="pres">
      <dgm:prSet presAssocID="{EA455704-5F2F-43FD-B4F4-C82835626BFF}" presName="node" presStyleLbl="node1" presStyleIdx="0" presStyleCnt="7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38BF02AB-C339-4458-AF40-E697F25613A9}" type="pres">
      <dgm:prSet presAssocID="{EA455704-5F2F-43FD-B4F4-C82835626BFF}" presName="spNode" presStyleCnt="0"/>
      <dgm:spPr/>
      <dgm:t>
        <a:bodyPr/>
        <a:lstStyle/>
        <a:p>
          <a:endParaRPr lang="fr-FR"/>
        </a:p>
      </dgm:t>
    </dgm:pt>
    <dgm:pt modelId="{64862357-9BFF-45E2-BBCC-A284ABF2E115}" type="pres">
      <dgm:prSet presAssocID="{6A62E854-9050-47A6-9A98-30E1267DB04E}" presName="sibTrans" presStyleLbl="sibTrans1D1" presStyleIdx="0" presStyleCnt="7"/>
      <dgm:spPr/>
      <dgm:t>
        <a:bodyPr/>
        <a:lstStyle/>
        <a:p>
          <a:endParaRPr lang="fr-FR"/>
        </a:p>
      </dgm:t>
    </dgm:pt>
    <dgm:pt modelId="{D1231913-354D-4C8D-A792-BBDCB407C560}" type="pres">
      <dgm:prSet presAssocID="{7E08A364-1B19-4A0F-91E0-A92D2153AAD1}" presName="node" presStyleLbl="node1" presStyleIdx="1" presStyleCnt="7" custRadScaleRad="132855" custRadScaleInc="107406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3BCF6BFA-AF75-4D15-826C-5609175548DC}" type="pres">
      <dgm:prSet presAssocID="{7E08A364-1B19-4A0F-91E0-A92D2153AAD1}" presName="spNode" presStyleCnt="0"/>
      <dgm:spPr/>
      <dgm:t>
        <a:bodyPr/>
        <a:lstStyle/>
        <a:p>
          <a:endParaRPr lang="fr-FR"/>
        </a:p>
      </dgm:t>
    </dgm:pt>
    <dgm:pt modelId="{A2AE8883-E62E-41A8-A0F4-F6DBAC0F149E}" type="pres">
      <dgm:prSet presAssocID="{D102889D-A39B-4F39-8EB2-93205C06052E}" presName="sibTrans" presStyleLbl="sibTrans1D1" presStyleIdx="1" presStyleCnt="7"/>
      <dgm:spPr/>
      <dgm:t>
        <a:bodyPr/>
        <a:lstStyle/>
        <a:p>
          <a:endParaRPr lang="fr-FR"/>
        </a:p>
      </dgm:t>
    </dgm:pt>
    <dgm:pt modelId="{492ADD7D-816E-4975-8D8E-F24D7E7766A8}" type="pres">
      <dgm:prSet presAssocID="{E3BE4FB8-7A21-45D5-AA9D-469C75CB2913}" presName="node" presStyleLbl="node1" presStyleIdx="2" presStyleCnt="7" custRadScaleRad="142161" custRadScaleInc="3171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D0356398-50E5-4F28-99A1-595731B50864}" type="pres">
      <dgm:prSet presAssocID="{E3BE4FB8-7A21-45D5-AA9D-469C75CB2913}" presName="spNode" presStyleCnt="0"/>
      <dgm:spPr/>
      <dgm:t>
        <a:bodyPr/>
        <a:lstStyle/>
        <a:p>
          <a:endParaRPr lang="fr-FR"/>
        </a:p>
      </dgm:t>
    </dgm:pt>
    <dgm:pt modelId="{0E18C0ED-E3AA-4807-8BC8-CBAE1DA5AAC8}" type="pres">
      <dgm:prSet presAssocID="{50F04CEB-7AF8-4CAD-9094-08F7E526303B}" presName="sibTrans" presStyleLbl="sibTrans1D1" presStyleIdx="2" presStyleCnt="7"/>
      <dgm:spPr/>
      <dgm:t>
        <a:bodyPr/>
        <a:lstStyle/>
        <a:p>
          <a:endParaRPr lang="fr-FR"/>
        </a:p>
      </dgm:t>
    </dgm:pt>
    <dgm:pt modelId="{BDB31EBE-10D9-4728-9A76-C587114A9906}" type="pres">
      <dgm:prSet presAssocID="{7D02C143-9D02-43F1-8B3A-3C55D8CA4863}" presName="node" presStyleLbl="node1" presStyleIdx="3" presStyleCnt="7" custRadScaleRad="103960" custRadScaleInc="-67116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8B5575FD-CC7F-4A1E-A242-BC6DACEBDF72}" type="pres">
      <dgm:prSet presAssocID="{7D02C143-9D02-43F1-8B3A-3C55D8CA4863}" presName="spNode" presStyleCnt="0"/>
      <dgm:spPr/>
      <dgm:t>
        <a:bodyPr/>
        <a:lstStyle/>
        <a:p>
          <a:endParaRPr lang="fr-FR"/>
        </a:p>
      </dgm:t>
    </dgm:pt>
    <dgm:pt modelId="{5C93FF07-E27F-4D81-8CA8-1A7830F2370C}" type="pres">
      <dgm:prSet presAssocID="{BB435B31-F1C2-4FC0-AE3A-8EEBA2DFF0A6}" presName="sibTrans" presStyleLbl="sibTrans1D1" presStyleIdx="3" presStyleCnt="7"/>
      <dgm:spPr/>
      <dgm:t>
        <a:bodyPr/>
        <a:lstStyle/>
        <a:p>
          <a:endParaRPr lang="fr-FR"/>
        </a:p>
      </dgm:t>
    </dgm:pt>
    <dgm:pt modelId="{BEC28C30-E4E4-467A-9EF5-128D35C90D7D}" type="pres">
      <dgm:prSet presAssocID="{07A2DC56-C94B-4913-A2C0-7C3E275F49D8}" presName="node" presStyleLbl="node1" presStyleIdx="4" presStyleCnt="7" custRadScaleRad="104934" custRadScaleInc="71168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E6F78F18-F53F-4F5D-A02E-226E75BB6CE1}" type="pres">
      <dgm:prSet presAssocID="{07A2DC56-C94B-4913-A2C0-7C3E275F49D8}" presName="spNode" presStyleCnt="0"/>
      <dgm:spPr/>
      <dgm:t>
        <a:bodyPr/>
        <a:lstStyle/>
        <a:p>
          <a:endParaRPr lang="fr-FR"/>
        </a:p>
      </dgm:t>
    </dgm:pt>
    <dgm:pt modelId="{320A98BF-409C-4B70-B662-0BA7B2D4A362}" type="pres">
      <dgm:prSet presAssocID="{D1DE37D7-10F8-441C-BD99-A179B1A11102}" presName="sibTrans" presStyleLbl="sibTrans1D1" presStyleIdx="4" presStyleCnt="7"/>
      <dgm:spPr/>
      <dgm:t>
        <a:bodyPr/>
        <a:lstStyle/>
        <a:p>
          <a:endParaRPr lang="fr-FR"/>
        </a:p>
      </dgm:t>
    </dgm:pt>
    <dgm:pt modelId="{1C33056A-9E0D-446D-AF62-32FDC13FEDDD}" type="pres">
      <dgm:prSet presAssocID="{53A21FAC-9293-4616-87F5-68FAF285BF46}" presName="node" presStyleLbl="node1" presStyleIdx="5" presStyleCnt="7" custRadScaleRad="140516" custRadScaleInc="-10762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D424BAA7-C406-4485-BD7D-2A72EB476CAA}" type="pres">
      <dgm:prSet presAssocID="{53A21FAC-9293-4616-87F5-68FAF285BF46}" presName="spNode" presStyleCnt="0"/>
      <dgm:spPr/>
      <dgm:t>
        <a:bodyPr/>
        <a:lstStyle/>
        <a:p>
          <a:endParaRPr lang="fr-FR"/>
        </a:p>
      </dgm:t>
    </dgm:pt>
    <dgm:pt modelId="{EB720F68-0B3D-48A5-8BD7-8E8AF7B109F9}" type="pres">
      <dgm:prSet presAssocID="{55739EB1-8861-45A4-ADED-30CAF50CDC6A}" presName="sibTrans" presStyleLbl="sibTrans1D1" presStyleIdx="5" presStyleCnt="7"/>
      <dgm:spPr/>
      <dgm:t>
        <a:bodyPr/>
        <a:lstStyle/>
        <a:p>
          <a:endParaRPr lang="fr-FR"/>
        </a:p>
      </dgm:t>
    </dgm:pt>
    <dgm:pt modelId="{107D47FB-942F-49C4-B22B-99208A808380}" type="pres">
      <dgm:prSet presAssocID="{7F844286-09E2-4BC5-9445-06BA24E38650}" presName="node" presStyleLbl="node1" presStyleIdx="6" presStyleCnt="7" custRadScaleRad="130627" custRadScaleInc="-105312">
        <dgm:presLayoutVars>
          <dgm:bulletEnabled val="1"/>
        </dgm:presLayoutVars>
      </dgm:prSet>
      <dgm:spPr>
        <a:prstGeom prst="hexagon">
          <a:avLst/>
        </a:prstGeom>
      </dgm:spPr>
      <dgm:t>
        <a:bodyPr/>
        <a:lstStyle/>
        <a:p>
          <a:endParaRPr lang="fr-FR"/>
        </a:p>
      </dgm:t>
    </dgm:pt>
    <dgm:pt modelId="{3E69F0B6-12CC-4E69-BB0F-59AA5E86B2B5}" type="pres">
      <dgm:prSet presAssocID="{7F844286-09E2-4BC5-9445-06BA24E38650}" presName="spNode" presStyleCnt="0"/>
      <dgm:spPr/>
    </dgm:pt>
    <dgm:pt modelId="{A9168A6C-8B1A-47EC-9E75-A03E4CBFB538}" type="pres">
      <dgm:prSet presAssocID="{EDF081BA-037B-4F88-B8A6-09FCC189ED3A}" presName="sibTrans" presStyleLbl="sibTrans1D1" presStyleIdx="6" presStyleCnt="7"/>
      <dgm:spPr/>
      <dgm:t>
        <a:bodyPr/>
        <a:lstStyle/>
        <a:p>
          <a:endParaRPr lang="fr-FR"/>
        </a:p>
      </dgm:t>
    </dgm:pt>
  </dgm:ptLst>
  <dgm:cxnLst>
    <dgm:cxn modelId="{1EFDF752-192A-446B-81C0-A64A736D7A0D}" type="presOf" srcId="{55739EB1-8861-45A4-ADED-30CAF50CDC6A}" destId="{EB720F68-0B3D-48A5-8BD7-8E8AF7B109F9}" srcOrd="0" destOrd="0" presId="urn:microsoft.com/office/officeart/2005/8/layout/cycle6"/>
    <dgm:cxn modelId="{A71723DB-2F3F-435B-A4B9-7E2AA2B8211F}" srcId="{F656FDCA-F10A-4569-ADA3-BC521BBB95DE}" destId="{7F844286-09E2-4BC5-9445-06BA24E38650}" srcOrd="6" destOrd="0" parTransId="{2E29C0F5-C4FE-41BE-944D-B2651460A040}" sibTransId="{EDF081BA-037B-4F88-B8A6-09FCC189ED3A}"/>
    <dgm:cxn modelId="{76E0E766-01F0-4DE2-A698-ECCDD4F85D47}" type="presOf" srcId="{7D02C143-9D02-43F1-8B3A-3C55D8CA4863}" destId="{BDB31EBE-10D9-4728-9A76-C587114A9906}" srcOrd="0" destOrd="0" presId="urn:microsoft.com/office/officeart/2005/8/layout/cycle6"/>
    <dgm:cxn modelId="{6F8E66C1-94CA-4A80-8256-3E9145911BA5}" type="presOf" srcId="{F656FDCA-F10A-4569-ADA3-BC521BBB95DE}" destId="{3201E424-A068-4F3B-97D6-0CA306B6D64D}" srcOrd="0" destOrd="0" presId="urn:microsoft.com/office/officeart/2005/8/layout/cycle6"/>
    <dgm:cxn modelId="{C23065C9-7249-41BE-90B7-607B9E45794E}" type="presOf" srcId="{53A21FAC-9293-4616-87F5-68FAF285BF46}" destId="{1C33056A-9E0D-446D-AF62-32FDC13FEDDD}" srcOrd="0" destOrd="0" presId="urn:microsoft.com/office/officeart/2005/8/layout/cycle6"/>
    <dgm:cxn modelId="{09A40662-5321-43C3-A6F9-5B2701ABB9F5}" srcId="{F656FDCA-F10A-4569-ADA3-BC521BBB95DE}" destId="{07A2DC56-C94B-4913-A2C0-7C3E275F49D8}" srcOrd="4" destOrd="0" parTransId="{78BAD516-8F4D-4653-A083-1AA583402308}" sibTransId="{D1DE37D7-10F8-441C-BD99-A179B1A11102}"/>
    <dgm:cxn modelId="{6DA71E5C-8126-4D9A-B51E-B9E6852E2021}" type="presOf" srcId="{50F04CEB-7AF8-4CAD-9094-08F7E526303B}" destId="{0E18C0ED-E3AA-4807-8BC8-CBAE1DA5AAC8}" srcOrd="0" destOrd="0" presId="urn:microsoft.com/office/officeart/2005/8/layout/cycle6"/>
    <dgm:cxn modelId="{888A8256-ECA8-4225-A559-8DFC41148E6A}" srcId="{F656FDCA-F10A-4569-ADA3-BC521BBB95DE}" destId="{7E08A364-1B19-4A0F-91E0-A92D2153AAD1}" srcOrd="1" destOrd="0" parTransId="{B5FDC29C-535E-44EC-AD19-6E37407AEC93}" sibTransId="{D102889D-A39B-4F39-8EB2-93205C06052E}"/>
    <dgm:cxn modelId="{CF1286AB-A03A-4A4C-9CDB-595E00CD9D1C}" srcId="{F656FDCA-F10A-4569-ADA3-BC521BBB95DE}" destId="{E3BE4FB8-7A21-45D5-AA9D-469C75CB2913}" srcOrd="2" destOrd="0" parTransId="{A0581428-8DE2-4B5A-9A0A-B9DB3DA29E40}" sibTransId="{50F04CEB-7AF8-4CAD-9094-08F7E526303B}"/>
    <dgm:cxn modelId="{4C70A447-64E0-46A4-9A75-D8D44B4BACE2}" type="presOf" srcId="{BB435B31-F1C2-4FC0-AE3A-8EEBA2DFF0A6}" destId="{5C93FF07-E27F-4D81-8CA8-1A7830F2370C}" srcOrd="0" destOrd="0" presId="urn:microsoft.com/office/officeart/2005/8/layout/cycle6"/>
    <dgm:cxn modelId="{FA7F7949-DE5B-4090-A793-237A97B06744}" type="presOf" srcId="{7F844286-09E2-4BC5-9445-06BA24E38650}" destId="{107D47FB-942F-49C4-B22B-99208A808380}" srcOrd="0" destOrd="0" presId="urn:microsoft.com/office/officeart/2005/8/layout/cycle6"/>
    <dgm:cxn modelId="{634859C1-E32C-41B7-BCD8-6401724D56C3}" type="presOf" srcId="{D1DE37D7-10F8-441C-BD99-A179B1A11102}" destId="{320A98BF-409C-4B70-B662-0BA7B2D4A362}" srcOrd="0" destOrd="0" presId="urn:microsoft.com/office/officeart/2005/8/layout/cycle6"/>
    <dgm:cxn modelId="{C45BB2C7-C506-4202-8857-CA26D46DC94E}" srcId="{F656FDCA-F10A-4569-ADA3-BC521BBB95DE}" destId="{EA455704-5F2F-43FD-B4F4-C82835626BFF}" srcOrd="0" destOrd="0" parTransId="{99D18549-E2C4-4E25-9708-E34BF8829F36}" sibTransId="{6A62E854-9050-47A6-9A98-30E1267DB04E}"/>
    <dgm:cxn modelId="{71E4351A-1CE8-406E-B692-50EFDD6BE9AB}" srcId="{F656FDCA-F10A-4569-ADA3-BC521BBB95DE}" destId="{53A21FAC-9293-4616-87F5-68FAF285BF46}" srcOrd="5" destOrd="0" parTransId="{7CFFA4C9-2B38-4561-95C9-0BCA1303970B}" sibTransId="{55739EB1-8861-45A4-ADED-30CAF50CDC6A}"/>
    <dgm:cxn modelId="{BBE4664B-AEF1-4DAF-91FD-83273140F820}" type="presOf" srcId="{6A62E854-9050-47A6-9A98-30E1267DB04E}" destId="{64862357-9BFF-45E2-BBCC-A284ABF2E115}" srcOrd="0" destOrd="0" presId="urn:microsoft.com/office/officeart/2005/8/layout/cycle6"/>
    <dgm:cxn modelId="{34E74D87-FC98-4FDA-ACA9-523EE03DD6C0}" type="presOf" srcId="{7E08A364-1B19-4A0F-91E0-A92D2153AAD1}" destId="{D1231913-354D-4C8D-A792-BBDCB407C560}" srcOrd="0" destOrd="0" presId="urn:microsoft.com/office/officeart/2005/8/layout/cycle6"/>
    <dgm:cxn modelId="{2E9030A3-9A44-464D-93C2-14C6B45DE213}" type="presOf" srcId="{E3BE4FB8-7A21-45D5-AA9D-469C75CB2913}" destId="{492ADD7D-816E-4975-8D8E-F24D7E7766A8}" srcOrd="0" destOrd="0" presId="urn:microsoft.com/office/officeart/2005/8/layout/cycle6"/>
    <dgm:cxn modelId="{540C8494-521B-4568-98F6-06ECF8301129}" srcId="{F656FDCA-F10A-4569-ADA3-BC521BBB95DE}" destId="{7D02C143-9D02-43F1-8B3A-3C55D8CA4863}" srcOrd="3" destOrd="0" parTransId="{F2D5BC4F-0DEA-4BAC-8FB3-CDA3EB26E16A}" sibTransId="{BB435B31-F1C2-4FC0-AE3A-8EEBA2DFF0A6}"/>
    <dgm:cxn modelId="{D2324B98-34A7-4C0E-819F-F70419EAEEF1}" type="presOf" srcId="{EA455704-5F2F-43FD-B4F4-C82835626BFF}" destId="{F44EBCF5-0279-4B00-960E-60E517681875}" srcOrd="0" destOrd="0" presId="urn:microsoft.com/office/officeart/2005/8/layout/cycle6"/>
    <dgm:cxn modelId="{47E67D1E-B877-45E2-AD43-31387BFE21AA}" type="presOf" srcId="{07A2DC56-C94B-4913-A2C0-7C3E275F49D8}" destId="{BEC28C30-E4E4-467A-9EF5-128D35C90D7D}" srcOrd="0" destOrd="0" presId="urn:microsoft.com/office/officeart/2005/8/layout/cycle6"/>
    <dgm:cxn modelId="{2832C3EE-672D-43C5-A867-703160625FAC}" type="presOf" srcId="{EDF081BA-037B-4F88-B8A6-09FCC189ED3A}" destId="{A9168A6C-8B1A-47EC-9E75-A03E4CBFB538}" srcOrd="0" destOrd="0" presId="urn:microsoft.com/office/officeart/2005/8/layout/cycle6"/>
    <dgm:cxn modelId="{58826526-5574-4FB9-BE3C-2BCF4DAB22A4}" type="presOf" srcId="{D102889D-A39B-4F39-8EB2-93205C06052E}" destId="{A2AE8883-E62E-41A8-A0F4-F6DBAC0F149E}" srcOrd="0" destOrd="0" presId="urn:microsoft.com/office/officeart/2005/8/layout/cycle6"/>
    <dgm:cxn modelId="{56312DF1-1761-427B-9DB6-92D25AAB0ACE}" type="presParOf" srcId="{3201E424-A068-4F3B-97D6-0CA306B6D64D}" destId="{F44EBCF5-0279-4B00-960E-60E517681875}" srcOrd="0" destOrd="0" presId="urn:microsoft.com/office/officeart/2005/8/layout/cycle6"/>
    <dgm:cxn modelId="{1B0FB6DC-A624-4EC9-89FF-F86FC02134A7}" type="presParOf" srcId="{3201E424-A068-4F3B-97D6-0CA306B6D64D}" destId="{38BF02AB-C339-4458-AF40-E697F25613A9}" srcOrd="1" destOrd="0" presId="urn:microsoft.com/office/officeart/2005/8/layout/cycle6"/>
    <dgm:cxn modelId="{F55ADF63-DF8F-4A43-A60C-08FBBF0351C4}" type="presParOf" srcId="{3201E424-A068-4F3B-97D6-0CA306B6D64D}" destId="{64862357-9BFF-45E2-BBCC-A284ABF2E115}" srcOrd="2" destOrd="0" presId="urn:microsoft.com/office/officeart/2005/8/layout/cycle6"/>
    <dgm:cxn modelId="{3F5F230A-82FD-4A44-BEB6-3414EE58E587}" type="presParOf" srcId="{3201E424-A068-4F3B-97D6-0CA306B6D64D}" destId="{D1231913-354D-4C8D-A792-BBDCB407C560}" srcOrd="3" destOrd="0" presId="urn:microsoft.com/office/officeart/2005/8/layout/cycle6"/>
    <dgm:cxn modelId="{FA99C090-C666-4AB0-A16D-081779FA896B}" type="presParOf" srcId="{3201E424-A068-4F3B-97D6-0CA306B6D64D}" destId="{3BCF6BFA-AF75-4D15-826C-5609175548DC}" srcOrd="4" destOrd="0" presId="urn:microsoft.com/office/officeart/2005/8/layout/cycle6"/>
    <dgm:cxn modelId="{148D8CD7-F7C0-4E75-9668-9EDE604C26B2}" type="presParOf" srcId="{3201E424-A068-4F3B-97D6-0CA306B6D64D}" destId="{A2AE8883-E62E-41A8-A0F4-F6DBAC0F149E}" srcOrd="5" destOrd="0" presId="urn:microsoft.com/office/officeart/2005/8/layout/cycle6"/>
    <dgm:cxn modelId="{066058EF-3495-428C-AD78-EF440BF0D142}" type="presParOf" srcId="{3201E424-A068-4F3B-97D6-0CA306B6D64D}" destId="{492ADD7D-816E-4975-8D8E-F24D7E7766A8}" srcOrd="6" destOrd="0" presId="urn:microsoft.com/office/officeart/2005/8/layout/cycle6"/>
    <dgm:cxn modelId="{94C7E2DA-CB51-4B60-9E52-787BAEAE5826}" type="presParOf" srcId="{3201E424-A068-4F3B-97D6-0CA306B6D64D}" destId="{D0356398-50E5-4F28-99A1-595731B50864}" srcOrd="7" destOrd="0" presId="urn:microsoft.com/office/officeart/2005/8/layout/cycle6"/>
    <dgm:cxn modelId="{E8272F14-8A0A-4105-91C3-83A002E10879}" type="presParOf" srcId="{3201E424-A068-4F3B-97D6-0CA306B6D64D}" destId="{0E18C0ED-E3AA-4807-8BC8-CBAE1DA5AAC8}" srcOrd="8" destOrd="0" presId="urn:microsoft.com/office/officeart/2005/8/layout/cycle6"/>
    <dgm:cxn modelId="{55957ED8-C353-4EF5-BCC7-25E347B7110B}" type="presParOf" srcId="{3201E424-A068-4F3B-97D6-0CA306B6D64D}" destId="{BDB31EBE-10D9-4728-9A76-C587114A9906}" srcOrd="9" destOrd="0" presId="urn:microsoft.com/office/officeart/2005/8/layout/cycle6"/>
    <dgm:cxn modelId="{362B13D8-0F55-4D5C-ABAE-196C345C2513}" type="presParOf" srcId="{3201E424-A068-4F3B-97D6-0CA306B6D64D}" destId="{8B5575FD-CC7F-4A1E-A242-BC6DACEBDF72}" srcOrd="10" destOrd="0" presId="urn:microsoft.com/office/officeart/2005/8/layout/cycle6"/>
    <dgm:cxn modelId="{3C24167E-FA84-4639-B2D3-9E41E5DD191C}" type="presParOf" srcId="{3201E424-A068-4F3B-97D6-0CA306B6D64D}" destId="{5C93FF07-E27F-4D81-8CA8-1A7830F2370C}" srcOrd="11" destOrd="0" presId="urn:microsoft.com/office/officeart/2005/8/layout/cycle6"/>
    <dgm:cxn modelId="{5DDBA628-D972-43B2-9510-0C7A2EADB523}" type="presParOf" srcId="{3201E424-A068-4F3B-97D6-0CA306B6D64D}" destId="{BEC28C30-E4E4-467A-9EF5-128D35C90D7D}" srcOrd="12" destOrd="0" presId="urn:microsoft.com/office/officeart/2005/8/layout/cycle6"/>
    <dgm:cxn modelId="{B6960CED-5BB0-48C1-9912-5D796705A28B}" type="presParOf" srcId="{3201E424-A068-4F3B-97D6-0CA306B6D64D}" destId="{E6F78F18-F53F-4F5D-A02E-226E75BB6CE1}" srcOrd="13" destOrd="0" presId="urn:microsoft.com/office/officeart/2005/8/layout/cycle6"/>
    <dgm:cxn modelId="{FF649E02-30F0-4500-83D8-B29748984799}" type="presParOf" srcId="{3201E424-A068-4F3B-97D6-0CA306B6D64D}" destId="{320A98BF-409C-4B70-B662-0BA7B2D4A362}" srcOrd="14" destOrd="0" presId="urn:microsoft.com/office/officeart/2005/8/layout/cycle6"/>
    <dgm:cxn modelId="{F531E5B7-9AEB-4EAA-9D2F-6B6C6AE4DC00}" type="presParOf" srcId="{3201E424-A068-4F3B-97D6-0CA306B6D64D}" destId="{1C33056A-9E0D-446D-AF62-32FDC13FEDDD}" srcOrd="15" destOrd="0" presId="urn:microsoft.com/office/officeart/2005/8/layout/cycle6"/>
    <dgm:cxn modelId="{C1F709AE-3FD4-4394-B1D1-F35AE2E6A5F5}" type="presParOf" srcId="{3201E424-A068-4F3B-97D6-0CA306B6D64D}" destId="{D424BAA7-C406-4485-BD7D-2A72EB476CAA}" srcOrd="16" destOrd="0" presId="urn:microsoft.com/office/officeart/2005/8/layout/cycle6"/>
    <dgm:cxn modelId="{18F6E3C8-DDDE-40A4-9F62-1BD19DA72B48}" type="presParOf" srcId="{3201E424-A068-4F3B-97D6-0CA306B6D64D}" destId="{EB720F68-0B3D-48A5-8BD7-8E8AF7B109F9}" srcOrd="17" destOrd="0" presId="urn:microsoft.com/office/officeart/2005/8/layout/cycle6"/>
    <dgm:cxn modelId="{C63DC07F-6CF2-42D1-BB88-65E9512A4532}" type="presParOf" srcId="{3201E424-A068-4F3B-97D6-0CA306B6D64D}" destId="{107D47FB-942F-49C4-B22B-99208A808380}" srcOrd="18" destOrd="0" presId="urn:microsoft.com/office/officeart/2005/8/layout/cycle6"/>
    <dgm:cxn modelId="{342D5D4D-C4BF-4423-B4F2-68EE5F7D6A82}" type="presParOf" srcId="{3201E424-A068-4F3B-97D6-0CA306B6D64D}" destId="{3E69F0B6-12CC-4E69-BB0F-59AA5E86B2B5}" srcOrd="19" destOrd="0" presId="urn:microsoft.com/office/officeart/2005/8/layout/cycle6"/>
    <dgm:cxn modelId="{9A2FFF48-FF10-4EAF-B622-D0C422217A65}" type="presParOf" srcId="{3201E424-A068-4F3B-97D6-0CA306B6D64D}" destId="{A9168A6C-8B1A-47EC-9E75-A03E4CBFB538}" srcOrd="20" destOrd="0" presId="urn:microsoft.com/office/officeart/2005/8/layout/cycle6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96D707-4BF9-4416-815E-7FBB62B5D3FB}" type="datetimeFigureOut">
              <a:rPr lang="fr-FR"/>
              <a:pPr>
                <a:defRPr/>
              </a:pPr>
              <a:t>24/09/2009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C113EF-EFAE-4E56-A4CD-2354ECA6279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F701B-1A8E-4393-B155-FBB43ECA9A63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E60B1-84BB-4F9C-A980-E51473995D0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784" y="2906316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90F4-C108-49B4-949C-C2E13BA695E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736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FE6D-2A41-4831-A6C1-EAC601A8844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6085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6085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D94D4-AFC8-4770-BF7E-648C4A5DFFC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4C9F1-5BD5-4DC2-8838-1EB259572760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E74AD-B0B7-4E42-A636-484A2FD68FFA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1" y="272653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4703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6BCDC-7445-46C4-9A39-7CF115F760DD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17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17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2B7A-534A-4F86-9D30-7DBAD6B9B942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0424D-4E16-40E1-AB72-499712588C9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261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3EF7-CF1F-4008-B78B-0AC241F12776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6C8F8472-4403-4D36-A783-8BB39D8EEF98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4.jpeg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6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4.jpeg"/><Relationship Id="rId4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4.jpeg"/><Relationship Id="rId4" Type="http://schemas.openxmlformats.org/officeDocument/2006/relationships/image" Target="../media/image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4.jpeg"/><Relationship Id="rId4" Type="http://schemas.openxmlformats.org/officeDocument/2006/relationships/image" Target="../media/image3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gif"/><Relationship Id="rId3" Type="http://schemas.openxmlformats.org/officeDocument/2006/relationships/image" Target="../media/image3.gif"/><Relationship Id="rId7" Type="http://schemas.openxmlformats.org/officeDocument/2006/relationships/image" Target="../media/image17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gif"/><Relationship Id="rId5" Type="http://schemas.openxmlformats.org/officeDocument/2006/relationships/image" Target="../media/image15.gif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357938" y="1785938"/>
            <a:ext cx="24288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4200" dirty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Bee Software</a:t>
            </a:r>
          </a:p>
        </p:txBody>
      </p:sp>
      <p:sp>
        <p:nvSpPr>
          <p:cNvPr id="7175" name="ZoneTexte 3"/>
          <p:cNvSpPr txBox="1">
            <a:spLocks noChangeArrowheads="1"/>
          </p:cNvSpPr>
          <p:nvPr/>
        </p:nvSpPr>
        <p:spPr bwMode="auto">
          <a:xfrm>
            <a:off x="6429375" y="2527300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200" dirty="0" smtClean="0">
                <a:latin typeface="Calibri" pitchFamily="34" charset="0"/>
              </a:rPr>
              <a:t>Tel. 33 (0)3 62 27 62 38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Gsm 33 (0)6 26 08 62 84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Fax. 33 (0)3 62 27 62 39</a:t>
            </a:r>
          </a:p>
          <a:p>
            <a:pPr algn="ctr"/>
            <a:endParaRPr lang="fr-FR" sz="1200" dirty="0" smtClean="0">
              <a:latin typeface="Calibri" pitchFamily="34" charset="0"/>
            </a:endParaRPr>
          </a:p>
          <a:p>
            <a:pPr algn="ctr"/>
            <a:r>
              <a:rPr lang="fr-FR" sz="1200" dirty="0" smtClean="0">
                <a:latin typeface="Calibri" pitchFamily="34" charset="0"/>
              </a:rPr>
              <a:t>E-mail</a:t>
            </a:r>
            <a:r>
              <a:rPr lang="fr-FR" sz="1200" dirty="0">
                <a:latin typeface="Calibri" pitchFamily="34" charset="0"/>
              </a:rPr>
              <a:t>. contact@beesoftware.net</a:t>
            </a:r>
          </a:p>
        </p:txBody>
      </p:sp>
      <p:pic>
        <p:nvPicPr>
          <p:cNvPr id="7176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43688" y="5357813"/>
            <a:ext cx="20002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ZoneTexte 13"/>
          <p:cNvSpPr txBox="1">
            <a:spLocks noChangeArrowheads="1"/>
          </p:cNvSpPr>
          <p:nvPr/>
        </p:nvSpPr>
        <p:spPr bwMode="auto">
          <a:xfrm rot="5400000">
            <a:off x="-730250" y="5770563"/>
            <a:ext cx="1785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000" dirty="0" err="1"/>
              <a:t>Beesoftware</a:t>
            </a:r>
            <a:r>
              <a:rPr lang="fr-FR" sz="1000" dirty="0"/>
              <a:t> – Septembre 2008</a:t>
            </a:r>
          </a:p>
        </p:txBody>
      </p:sp>
      <p:sp>
        <p:nvSpPr>
          <p:cNvPr id="10" name="ZoneTexte 8"/>
          <p:cNvSpPr txBox="1">
            <a:spLocks noChangeArrowheads="1"/>
          </p:cNvSpPr>
          <p:nvPr/>
        </p:nvSpPr>
        <p:spPr bwMode="auto">
          <a:xfrm>
            <a:off x="857250" y="5572125"/>
            <a:ext cx="5000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r-FR" sz="4800" dirty="0" smtClean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www.beesoftware.net</a:t>
            </a:r>
            <a:endParaRPr lang="fr-FR" sz="4800" dirty="0">
              <a:solidFill>
                <a:schemeClr val="accent2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43042" y="0"/>
            <a:ext cx="43577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Test du module SUPPORT</a:t>
            </a:r>
          </a:p>
        </p:txBody>
      </p:sp>
      <p:grpSp>
        <p:nvGrpSpPr>
          <p:cNvPr id="28" name="Groupe 59"/>
          <p:cNvGrpSpPr/>
          <p:nvPr/>
        </p:nvGrpSpPr>
        <p:grpSpPr>
          <a:xfrm>
            <a:off x="906349" y="2232091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9" name="Hexagone 28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Congés</a:t>
              </a:r>
              <a:endParaRPr lang="fr-FR" sz="1700" kern="1200" dirty="0"/>
            </a:p>
          </p:txBody>
        </p:sp>
      </p:grpSp>
      <p:grpSp>
        <p:nvGrpSpPr>
          <p:cNvPr id="50" name="Groupe 62"/>
          <p:cNvGrpSpPr/>
          <p:nvPr/>
        </p:nvGrpSpPr>
        <p:grpSpPr>
          <a:xfrm>
            <a:off x="2263671" y="1714058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1" name="Hexagone 50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52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CRA</a:t>
              </a:r>
              <a:endParaRPr lang="fr-FR" sz="1700" kern="1200" dirty="0"/>
            </a:p>
          </p:txBody>
        </p:sp>
      </p:grpSp>
      <p:grpSp>
        <p:nvGrpSpPr>
          <p:cNvPr id="53" name="Groupe 68"/>
          <p:cNvGrpSpPr/>
          <p:nvPr/>
        </p:nvGrpSpPr>
        <p:grpSpPr>
          <a:xfrm>
            <a:off x="906349" y="3250190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4" name="Hexagone 53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55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dirty="0" smtClean="0"/>
                <a:t>Budget</a:t>
              </a:r>
              <a:endParaRPr lang="fr-FR" sz="1700" kern="1200" dirty="0"/>
            </a:p>
          </p:txBody>
        </p:sp>
      </p:grpSp>
      <p:grpSp>
        <p:nvGrpSpPr>
          <p:cNvPr id="56" name="Groupe 71"/>
          <p:cNvGrpSpPr/>
          <p:nvPr/>
        </p:nvGrpSpPr>
        <p:grpSpPr>
          <a:xfrm>
            <a:off x="2241358" y="3821694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7" name="Hexagone 56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58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err="1" smtClean="0"/>
                <a:t>Reporting</a:t>
              </a:r>
              <a:endParaRPr lang="fr-FR" sz="1700" kern="1200" dirty="0"/>
            </a:p>
          </p:txBody>
        </p:sp>
      </p:grpSp>
      <p:grpSp>
        <p:nvGrpSpPr>
          <p:cNvPr id="59" name="Groupe 74"/>
          <p:cNvGrpSpPr/>
          <p:nvPr/>
        </p:nvGrpSpPr>
        <p:grpSpPr>
          <a:xfrm>
            <a:off x="3620993" y="2232091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60" name="Hexagone 59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Statistique</a:t>
              </a:r>
              <a:endParaRPr lang="fr-FR" sz="1700" kern="1200" dirty="0"/>
            </a:p>
          </p:txBody>
        </p:sp>
      </p:grpSp>
      <p:grpSp>
        <p:nvGrpSpPr>
          <p:cNvPr id="62" name="Groupe 77"/>
          <p:cNvGrpSpPr/>
          <p:nvPr/>
        </p:nvGrpSpPr>
        <p:grpSpPr>
          <a:xfrm>
            <a:off x="3598680" y="3285694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63" name="Hexagone 62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Planning</a:t>
              </a:r>
              <a:endParaRPr lang="fr-FR" sz="1700" kern="1200" dirty="0"/>
            </a:p>
          </p:txBody>
        </p:sp>
      </p:grpSp>
      <p:grpSp>
        <p:nvGrpSpPr>
          <p:cNvPr id="65" name="Groupe 62"/>
          <p:cNvGrpSpPr/>
          <p:nvPr/>
        </p:nvGrpSpPr>
        <p:grpSpPr>
          <a:xfrm>
            <a:off x="2263671" y="2750124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66" name="Hexagone 65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FFC00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67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>
                  <a:solidFill>
                    <a:schemeClr val="tx1"/>
                  </a:solidFill>
                </a:rPr>
                <a:t>SUPPORT</a:t>
              </a:r>
              <a:endParaRPr lang="fr-FR" sz="1700" kern="12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3"/>
          <p:cNvSpPr txBox="1">
            <a:spLocks noChangeArrowheads="1"/>
          </p:cNvSpPr>
          <p:nvPr/>
        </p:nvSpPr>
        <p:spPr bwMode="auto">
          <a:xfrm>
            <a:off x="1643042" y="1357298"/>
            <a:ext cx="6929486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R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esponsable du service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>
                <a:latin typeface="Vrinda" pitchFamily="2" charset="0"/>
              </a:rPr>
              <a:t> Il correspond au chef du service, il contrôle les prestations réalisées dans le mois.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>
                <a:latin typeface="Vrinda" pitchFamily="2" charset="0"/>
              </a:rPr>
              <a:t> En fonction du </a:t>
            </a:r>
            <a:r>
              <a:rPr lang="fr-FR" sz="1200" dirty="0" err="1" smtClean="0">
                <a:latin typeface="Vrinda" pitchFamily="2" charset="0"/>
              </a:rPr>
              <a:t>workflow</a:t>
            </a:r>
            <a:r>
              <a:rPr lang="fr-FR" sz="1200" dirty="0" smtClean="0">
                <a:latin typeface="Vrinda" pitchFamily="2" charset="0"/>
              </a:rPr>
              <a:t>, il peut gérer les congés et consulter tous les plannings mis a disposition par B-Hive.</a:t>
            </a:r>
          </a:p>
          <a:p>
            <a:pPr>
              <a:defRPr/>
            </a:pPr>
            <a:endParaRPr lang="fr-FR" sz="1000" dirty="0">
              <a:latin typeface="Vrinda" pitchFamily="2" charset="0"/>
              <a:cs typeface="Vrinda" pitchFamily="2" charset="0"/>
            </a:endParaRPr>
          </a:p>
        </p:txBody>
      </p:sp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3000364" y="357166"/>
            <a:ext cx="571504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Les profiles SUPPORT de B-Hive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6" name="ZoneTexte 3"/>
          <p:cNvSpPr txBox="1">
            <a:spLocks noChangeArrowheads="1"/>
          </p:cNvSpPr>
          <p:nvPr/>
        </p:nvSpPr>
        <p:spPr bwMode="auto">
          <a:xfrm>
            <a:off x="1643042" y="2643182"/>
            <a:ext cx="5929354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S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upport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>
                <a:latin typeface="Vrinda" pitchFamily="2" charset="0"/>
              </a:rPr>
              <a:t> II correspond à un membre de votre équipe de support. Il reçoit les nouvelles demandes par mail, les prend en charge et les suit jusqu’à sa résolution. </a:t>
            </a:r>
          </a:p>
          <a:p>
            <a:pPr>
              <a:defRPr/>
            </a:pPr>
            <a:endParaRPr lang="fr-FR" sz="1400" dirty="0">
              <a:latin typeface="Vrinda" pitchFamily="2" charset="0"/>
              <a:cs typeface="Vrinda" pitchFamily="2" charset="0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pic>
        <p:nvPicPr>
          <p:cNvPr id="1028" name="Picture 4" descr="D:\B-HIVE\profile\profilCol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2712591"/>
            <a:ext cx="457200" cy="457200"/>
          </a:xfrm>
          <a:prstGeom prst="rect">
            <a:avLst/>
          </a:prstGeom>
          <a:noFill/>
        </p:spPr>
      </p:pic>
      <p:pic>
        <p:nvPicPr>
          <p:cNvPr id="4" name="Picture 3" descr="D:\B-HIVE\profile\profilUser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8662" y="3900494"/>
            <a:ext cx="457200" cy="457200"/>
          </a:xfrm>
          <a:prstGeom prst="rect">
            <a:avLst/>
          </a:prstGeom>
          <a:noFill/>
        </p:spPr>
      </p:pic>
      <p:sp>
        <p:nvSpPr>
          <p:cNvPr id="14" name="ZoneTexte 3"/>
          <p:cNvSpPr txBox="1">
            <a:spLocks noChangeArrowheads="1"/>
          </p:cNvSpPr>
          <p:nvPr/>
        </p:nvSpPr>
        <p:spPr bwMode="auto">
          <a:xfrm>
            <a:off x="1643042" y="3786190"/>
            <a:ext cx="5929354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U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tilisateur - </a:t>
            </a:r>
            <a:r>
              <a:rPr lang="fr-FR" sz="32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</a:rPr>
              <a:t>C</a:t>
            </a:r>
            <a:r>
              <a:rPr lang="fr-FR" sz="1400" dirty="0" smtClean="0">
                <a:latin typeface="Vrinda" pitchFamily="2" charset="0"/>
                <a:cs typeface="Vrinda" pitchFamily="2" charset="0"/>
              </a:rPr>
              <a:t>lient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>
                <a:latin typeface="Vrinda" pitchFamily="2" charset="0"/>
              </a:rPr>
              <a:t> Il correspond a un utilisateur de votre entreprise ou à un client.</a:t>
            </a:r>
          </a:p>
          <a:p>
            <a:pPr>
              <a:buFont typeface="Arial" pitchFamily="34" charset="0"/>
              <a:buChar char="•"/>
            </a:pPr>
            <a:r>
              <a:rPr lang="fr-FR" sz="1200" dirty="0" smtClean="0">
                <a:latin typeface="Vrinda" pitchFamily="2" charset="0"/>
              </a:rPr>
              <a:t> Il peut uniquement remonter saisir des demandes qui seront traitées ensuite par le service support.</a:t>
            </a:r>
          </a:p>
          <a:p>
            <a:pPr>
              <a:defRPr/>
            </a:pPr>
            <a:endParaRPr lang="fr-FR" sz="1400" dirty="0">
              <a:latin typeface="Vrinda" pitchFamily="2" charset="0"/>
              <a:cs typeface="Vrinda" pitchFamily="2" charset="0"/>
            </a:endParaRPr>
          </a:p>
        </p:txBody>
      </p:sp>
      <p:pic>
        <p:nvPicPr>
          <p:cNvPr id="19" name="Picture 2" descr="D:\B-HIVE\profile\profilCP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28662" y="1500174"/>
            <a:ext cx="457200" cy="457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2643182"/>
            <a:ext cx="6677025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Accessible sur Internet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12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Mise à jour de la feuille de temps (CRA)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0766" y="1412874"/>
            <a:ext cx="775176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dirty="0">
                <a:latin typeface="Vrinda" pitchFamily="2" charset="0"/>
              </a:rPr>
              <a:t>La feuille de temps est extrêmement </a:t>
            </a:r>
            <a:r>
              <a:rPr lang="fr-FR" sz="1200" dirty="0" smtClean="0">
                <a:latin typeface="Vrinda" pitchFamily="2" charset="0"/>
              </a:rPr>
              <a:t>importante </a:t>
            </a:r>
            <a:r>
              <a:rPr lang="fr-FR" sz="1200" dirty="0">
                <a:latin typeface="Vrinda" pitchFamily="2" charset="0"/>
              </a:rPr>
              <a:t>pour B-Hive, c’est </a:t>
            </a:r>
            <a:r>
              <a:rPr lang="fr-FR" sz="1200" dirty="0" smtClean="0">
                <a:latin typeface="Vrinda" pitchFamily="2" charset="0"/>
              </a:rPr>
              <a:t>elle </a:t>
            </a:r>
            <a:r>
              <a:rPr lang="fr-FR" sz="1200" dirty="0">
                <a:latin typeface="Vrinda" pitchFamily="2" charset="0"/>
              </a:rPr>
              <a:t>qui permet de donner l’avancement sur les demandes en </a:t>
            </a:r>
            <a:r>
              <a:rPr lang="fr-FR" sz="1200" dirty="0" smtClean="0">
                <a:latin typeface="Vrinda" pitchFamily="2" charset="0"/>
              </a:rPr>
              <a:t>cours. Selon </a:t>
            </a:r>
            <a:r>
              <a:rPr lang="fr-FR" sz="1200" dirty="0">
                <a:latin typeface="Vrinda" pitchFamily="2" charset="0"/>
              </a:rPr>
              <a:t>toute logique, seul les utilisateurs ne saisissent pas leur temps. Par contre le responsable </a:t>
            </a:r>
            <a:r>
              <a:rPr lang="fr-FR" sz="1200" dirty="0" smtClean="0">
                <a:latin typeface="Vrinda" pitchFamily="2" charset="0"/>
              </a:rPr>
              <a:t>de service et le chef d’équipe, saisissent </a:t>
            </a:r>
            <a:r>
              <a:rPr lang="fr-FR" sz="1200" dirty="0">
                <a:latin typeface="Vrinda" pitchFamily="2" charset="0"/>
              </a:rPr>
              <a:t>leur journée sur une tache de « </a:t>
            </a:r>
            <a:r>
              <a:rPr lang="fr-FR" sz="1200" dirty="0" smtClean="0">
                <a:latin typeface="Vrinda" pitchFamily="2" charset="0"/>
              </a:rPr>
              <a:t>Suivi</a:t>
            </a:r>
            <a:r>
              <a:rPr lang="fr-FR" sz="1200" dirty="0">
                <a:latin typeface="Vrinda" pitchFamily="2" charset="0"/>
              </a:rPr>
              <a:t> » ou autres … Et </a:t>
            </a:r>
            <a:r>
              <a:rPr lang="fr-FR" sz="1200" dirty="0" smtClean="0">
                <a:latin typeface="Vrinda" pitchFamily="2" charset="0"/>
              </a:rPr>
              <a:t>l’équipe support, </a:t>
            </a:r>
            <a:r>
              <a:rPr lang="fr-FR" sz="1200" dirty="0">
                <a:latin typeface="Vrinda" pitchFamily="2" charset="0"/>
              </a:rPr>
              <a:t>sur les </a:t>
            </a:r>
            <a:r>
              <a:rPr lang="fr-FR" sz="1200" dirty="0" smtClean="0">
                <a:latin typeface="Vrinda" pitchFamily="2" charset="0"/>
              </a:rPr>
              <a:t>demandes résolues </a:t>
            </a:r>
            <a:r>
              <a:rPr lang="fr-FR" sz="1200" dirty="0">
                <a:latin typeface="Vrinda" pitchFamily="2" charset="0"/>
              </a:rPr>
              <a:t>dans la journée.</a:t>
            </a:r>
          </a:p>
          <a:p>
            <a:endParaRPr lang="fr-FR" sz="1200" dirty="0">
              <a:latin typeface="Vrinda" pitchFamily="2" charset="0"/>
            </a:endParaRPr>
          </a:p>
          <a:p>
            <a:r>
              <a:rPr lang="fr-FR" sz="1200" dirty="0">
                <a:latin typeface="Vrinda" pitchFamily="2" charset="0"/>
                <a:sym typeface="Wingdings" pitchFamily="2" charset="2"/>
              </a:rPr>
              <a:t> Pour réaliser votre CRA, choisissez un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  <a:sym typeface="Wingdings" pitchFamily="2" charset="2"/>
              </a:rPr>
              <a:t>profile </a:t>
            </a:r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  <a:sym typeface="Wingdings" pitchFamily="2" charset="2"/>
              </a:rPr>
              <a:t>SUPPORT</a:t>
            </a:r>
            <a:endParaRPr lang="fr-FR" sz="1200" b="1" dirty="0">
              <a:solidFill>
                <a:schemeClr val="accent2"/>
              </a:solidFill>
              <a:latin typeface="Vrinda" pitchFamily="2" charset="0"/>
            </a:endParaRPr>
          </a:p>
        </p:txBody>
      </p:sp>
      <p:pic>
        <p:nvPicPr>
          <p:cNvPr id="19" name="Picture 4" descr="D:\B-HIVE\profile\profilCol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pic>
        <p:nvPicPr>
          <p:cNvPr id="20" name="Picture 2" descr="D:\B-HIVE\profile\profilCP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1500174"/>
            <a:ext cx="457200" cy="457200"/>
          </a:xfrm>
          <a:prstGeom prst="rect">
            <a:avLst/>
          </a:prstGeom>
          <a:noFill/>
        </p:spPr>
      </p:pic>
      <p:sp>
        <p:nvSpPr>
          <p:cNvPr id="21" name="Flèche droite 20"/>
          <p:cNvSpPr/>
          <p:nvPr/>
        </p:nvSpPr>
        <p:spPr>
          <a:xfrm>
            <a:off x="1214414" y="300037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lèche droite 21"/>
          <p:cNvSpPr/>
          <p:nvPr/>
        </p:nvSpPr>
        <p:spPr>
          <a:xfrm rot="10800000">
            <a:off x="2071670" y="264318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lèche droite 22"/>
          <p:cNvSpPr/>
          <p:nvPr/>
        </p:nvSpPr>
        <p:spPr>
          <a:xfrm rot="12793563">
            <a:off x="5584132" y="413956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Innovant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4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Création d’un ticket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928662" y="1628774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dirty="0">
                <a:latin typeface="Vrinda" pitchFamily="2" charset="0"/>
              </a:rPr>
              <a:t>La création </a:t>
            </a:r>
            <a:r>
              <a:rPr lang="fr-FR" sz="1200" dirty="0" smtClean="0">
                <a:latin typeface="Vrinda" pitchFamily="2" charset="0"/>
              </a:rPr>
              <a:t>d’un ticket </a:t>
            </a:r>
            <a:r>
              <a:rPr lang="fr-FR" sz="1200" dirty="0">
                <a:latin typeface="Vrinda" pitchFamily="2" charset="0"/>
              </a:rPr>
              <a:t>peut se faire par tous les </a:t>
            </a:r>
            <a:r>
              <a:rPr lang="fr-FR" sz="1200" dirty="0" smtClean="0">
                <a:latin typeface="Vrinda" pitchFamily="2" charset="0"/>
              </a:rPr>
              <a:t>profiles.</a:t>
            </a:r>
            <a:endParaRPr lang="fr-FR" sz="1200" dirty="0">
              <a:latin typeface="Vrinda" pitchFamily="2" charset="0"/>
            </a:endParaRPr>
          </a:p>
          <a:p>
            <a:r>
              <a:rPr lang="fr-FR" sz="1200" dirty="0">
                <a:latin typeface="Vrinda" pitchFamily="2" charset="0"/>
              </a:rPr>
              <a:t>Dans l’environnement de test, vous pouvez utiliser le profile que vous voulez pour créer </a:t>
            </a:r>
            <a:r>
              <a:rPr lang="fr-FR" sz="1200" dirty="0" smtClean="0">
                <a:latin typeface="Vrinda" pitchFamily="2" charset="0"/>
              </a:rPr>
              <a:t>votre ticket.</a:t>
            </a:r>
            <a:endParaRPr lang="fr-FR" sz="1200" dirty="0">
              <a:latin typeface="Vrinda" pitchFamily="2" charset="0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928662" y="4643446"/>
            <a:ext cx="55771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>
                <a:latin typeface="Vrinda" pitchFamily="2" charset="0"/>
              </a:rPr>
              <a:t>Une fois </a:t>
            </a:r>
            <a:r>
              <a:rPr lang="fr-FR" sz="1200" dirty="0" smtClean="0">
                <a:latin typeface="Vrinda" pitchFamily="2" charset="0"/>
              </a:rPr>
              <a:t>le ticket </a:t>
            </a:r>
            <a:r>
              <a:rPr lang="fr-FR" sz="1200" dirty="0">
                <a:latin typeface="Vrinda" pitchFamily="2" charset="0"/>
              </a:rPr>
              <a:t>créé, </a:t>
            </a:r>
            <a:r>
              <a:rPr lang="fr-FR" sz="1200" dirty="0" smtClean="0">
                <a:latin typeface="Vrinda" pitchFamily="2" charset="0"/>
              </a:rPr>
              <a:t>l’équipe du support reçoit </a:t>
            </a:r>
            <a:r>
              <a:rPr lang="fr-FR" sz="1200" dirty="0">
                <a:latin typeface="Vrinda" pitchFamily="2" charset="0"/>
              </a:rPr>
              <a:t>un mail, </a:t>
            </a:r>
            <a:endParaRPr lang="fr-FR" sz="1200" dirty="0" smtClean="0">
              <a:latin typeface="Vrinda" pitchFamily="2" charset="0"/>
            </a:endParaRPr>
          </a:p>
          <a:p>
            <a:r>
              <a:rPr lang="fr-FR" sz="1200" dirty="0" smtClean="0">
                <a:latin typeface="Vrinda" pitchFamily="2" charset="0"/>
              </a:rPr>
              <a:t>toute </a:t>
            </a:r>
            <a:r>
              <a:rPr lang="fr-FR" sz="1200" dirty="0">
                <a:latin typeface="Vrinda" pitchFamily="2" charset="0"/>
              </a:rPr>
              <a:t>fois cette fonctionnalité n’est pas </a:t>
            </a:r>
            <a:r>
              <a:rPr lang="fr-FR" sz="1200" dirty="0" smtClean="0">
                <a:latin typeface="Vrinda" pitchFamily="2" charset="0"/>
              </a:rPr>
              <a:t>disponible dans </a:t>
            </a:r>
            <a:r>
              <a:rPr lang="fr-FR" sz="1200" dirty="0">
                <a:latin typeface="Vrinda" pitchFamily="2" charset="0"/>
              </a:rPr>
              <a:t>l’environnement de test</a:t>
            </a:r>
          </a:p>
        </p:txBody>
      </p:sp>
      <p:pic>
        <p:nvPicPr>
          <p:cNvPr id="17" name="Picture 4" descr="D:\B-HIVE\profile\profilCol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1928802"/>
            <a:ext cx="457200" cy="457200"/>
          </a:xfrm>
          <a:prstGeom prst="rect">
            <a:avLst/>
          </a:prstGeom>
          <a:noFill/>
        </p:spPr>
      </p:pic>
      <p:pic>
        <p:nvPicPr>
          <p:cNvPr id="18" name="Picture 2" descr="D:\B-HIVE\profile\profilCP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pic>
        <p:nvPicPr>
          <p:cNvPr id="19" name="Picture 3" descr="D:\B-HIVE\profile\profilUser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1928802"/>
            <a:ext cx="457200" cy="457200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214413" y="2285992"/>
            <a:ext cx="6323851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Flèche droite 23"/>
          <p:cNvSpPr/>
          <p:nvPr/>
        </p:nvSpPr>
        <p:spPr>
          <a:xfrm>
            <a:off x="1214414" y="264318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lèche droite 24"/>
          <p:cNvSpPr/>
          <p:nvPr/>
        </p:nvSpPr>
        <p:spPr>
          <a:xfrm rot="10800000">
            <a:off x="2143109" y="228599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857224" y="5357826"/>
            <a:ext cx="77184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  <a:latin typeface="Vrinda" pitchFamily="2" charset="0"/>
                <a:sym typeface="Wingdings" pitchFamily="2" charset="2"/>
              </a:rPr>
              <a:t>Remarque :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	 Selon le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modèle mise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en place, B-Hive peut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afficher dans le sous-menu « Les autres demandes », tous les tickets créés pour tous les utilisateurs d’un même client. </a:t>
            </a:r>
            <a:endParaRPr lang="fr-FR" sz="1200" dirty="0">
              <a:latin typeface="Vrinda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1" y="2643182"/>
            <a:ext cx="7239049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4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Consulter les tickets de mes collègues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928662" y="1628774"/>
            <a:ext cx="771530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dirty="0" smtClean="0">
                <a:latin typeface="Vrinda" pitchFamily="2" charset="0"/>
              </a:rPr>
              <a:t>Selon le </a:t>
            </a:r>
            <a:r>
              <a:rPr lang="fr-FR" sz="1200" dirty="0" err="1" smtClean="0">
                <a:latin typeface="Vrinda" pitchFamily="2" charset="0"/>
              </a:rPr>
              <a:t>workflow</a:t>
            </a:r>
            <a:r>
              <a:rPr lang="fr-FR" sz="1200" dirty="0" smtClean="0">
                <a:latin typeface="Vrinda" pitchFamily="2" charset="0"/>
              </a:rPr>
              <a:t> mis en place. Les utilisateurs peuvent consulter les tickets de leur collègue.</a:t>
            </a:r>
          </a:p>
          <a:p>
            <a:endParaRPr lang="fr-FR" sz="1200" dirty="0" smtClean="0">
              <a:latin typeface="Vrinda" pitchFamily="2" charset="0"/>
            </a:endParaRPr>
          </a:p>
          <a:p>
            <a:r>
              <a:rPr lang="fr-FR" sz="1200" dirty="0" smtClean="0">
                <a:latin typeface="Vrinda" pitchFamily="2" charset="0"/>
              </a:rPr>
              <a:t>Avec le </a:t>
            </a:r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</a:rPr>
              <a:t>profile Utilisateur</a:t>
            </a:r>
            <a:r>
              <a:rPr lang="fr-FR" sz="1200" dirty="0" smtClean="0">
                <a:latin typeface="Vrinda" pitchFamily="2" charset="0"/>
              </a:rPr>
              <a:t> vous pouvez consulter les autres tickets.</a:t>
            </a:r>
          </a:p>
          <a:p>
            <a:r>
              <a:rPr lang="fr-FR" sz="1200" dirty="0" smtClean="0">
                <a:latin typeface="Vrinda" pitchFamily="2" charset="0"/>
              </a:rPr>
              <a:t>	(pour le test, choisissez le profile « Utilisateur Client AAAAA : Laurent »</a:t>
            </a:r>
            <a:endParaRPr lang="fr-FR" sz="1200" dirty="0">
              <a:latin typeface="Vrinda" pitchFamily="2" charset="0"/>
            </a:endParaRPr>
          </a:p>
        </p:txBody>
      </p:sp>
      <p:pic>
        <p:nvPicPr>
          <p:cNvPr id="17" name="Picture 4" descr="D:\B-HIVE\profile\profilCol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928802"/>
            <a:ext cx="457200" cy="457200"/>
          </a:xfrm>
          <a:prstGeom prst="rect">
            <a:avLst/>
          </a:prstGeom>
          <a:noFill/>
        </p:spPr>
      </p:pic>
      <p:pic>
        <p:nvPicPr>
          <p:cNvPr id="18" name="Picture 2" descr="D:\B-HIVE\profile\profilCP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pic>
        <p:nvPicPr>
          <p:cNvPr id="19" name="Picture 3" descr="D:\B-HIVE\profile\profilUser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1928802"/>
            <a:ext cx="457200" cy="457200"/>
          </a:xfrm>
          <a:prstGeom prst="rect">
            <a:avLst/>
          </a:prstGeom>
          <a:noFill/>
        </p:spPr>
      </p:pic>
      <p:sp>
        <p:nvSpPr>
          <p:cNvPr id="24" name="Flèche droite 23"/>
          <p:cNvSpPr/>
          <p:nvPr/>
        </p:nvSpPr>
        <p:spPr>
          <a:xfrm>
            <a:off x="1214414" y="3429000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lèche droite 24"/>
          <p:cNvSpPr/>
          <p:nvPr/>
        </p:nvSpPr>
        <p:spPr>
          <a:xfrm rot="10800000">
            <a:off x="2285984" y="2714619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Ecologique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2285992"/>
            <a:ext cx="7225443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Interface simplifiée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20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Prise en charge du ticket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042989" y="1412874"/>
            <a:ext cx="752954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dirty="0" smtClean="0">
                <a:latin typeface="Vrinda" pitchFamily="2" charset="0"/>
              </a:rPr>
              <a:t>Avec </a:t>
            </a:r>
            <a:r>
              <a:rPr lang="fr-FR" sz="1200" dirty="0">
                <a:latin typeface="Vrinda" pitchFamily="2" charset="0"/>
              </a:rPr>
              <a:t>le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</a:rPr>
              <a:t>profile </a:t>
            </a:r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</a:rPr>
              <a:t>Support</a:t>
            </a:r>
            <a:r>
              <a:rPr lang="fr-FR" sz="1200" dirty="0" smtClean="0">
                <a:latin typeface="Vrinda" pitchFamily="2" charset="0"/>
              </a:rPr>
              <a:t> </a:t>
            </a:r>
            <a:r>
              <a:rPr lang="fr-FR" sz="1200" dirty="0">
                <a:latin typeface="Vrinda" pitchFamily="2" charset="0"/>
              </a:rPr>
              <a:t>vous pouvez prendre en charge un </a:t>
            </a:r>
            <a:r>
              <a:rPr lang="fr-FR" sz="1200" dirty="0" smtClean="0">
                <a:latin typeface="Vrinda" pitchFamily="2" charset="0"/>
              </a:rPr>
              <a:t>ticket</a:t>
            </a:r>
            <a:endParaRPr lang="fr-FR" sz="1200" dirty="0">
              <a:latin typeface="Vrinda" pitchFamily="2" charset="0"/>
            </a:endParaRPr>
          </a:p>
        </p:txBody>
      </p:sp>
      <p:sp>
        <p:nvSpPr>
          <p:cNvPr id="15" name="Flèche droite 14"/>
          <p:cNvSpPr/>
          <p:nvPr/>
        </p:nvSpPr>
        <p:spPr>
          <a:xfrm rot="10800000">
            <a:off x="2285985" y="228599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Flèche droite 15"/>
          <p:cNvSpPr/>
          <p:nvPr/>
        </p:nvSpPr>
        <p:spPr>
          <a:xfrm rot="18766736">
            <a:off x="7469472" y="361083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Flèche droite 16"/>
          <p:cNvSpPr/>
          <p:nvPr/>
        </p:nvSpPr>
        <p:spPr>
          <a:xfrm>
            <a:off x="857224" y="264318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1" name="Picture 4" descr="D:\B-HIVE\profile\profilCol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928802"/>
            <a:ext cx="457200" cy="457200"/>
          </a:xfrm>
          <a:prstGeom prst="rect">
            <a:avLst/>
          </a:prstGeom>
          <a:noFill/>
        </p:spPr>
      </p:pic>
      <p:pic>
        <p:nvPicPr>
          <p:cNvPr id="22" name="Picture 2" descr="D:\B-HIVE\profile\profilCP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Gain de temps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2" name="Image 11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3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Apporter une réponse  au ticket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042988" y="1412875"/>
            <a:ext cx="633699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 smtClean="0">
                <a:latin typeface="Vrinda" pitchFamily="2" charset="0"/>
              </a:rPr>
              <a:t>Avec B-</a:t>
            </a:r>
            <a:r>
              <a:rPr lang="fr-FR" sz="1200" dirty="0" err="1" smtClean="0">
                <a:latin typeface="Vrinda" pitchFamily="2" charset="0"/>
              </a:rPr>
              <a:t>hive</a:t>
            </a:r>
            <a:r>
              <a:rPr lang="fr-FR" sz="1200" dirty="0" smtClean="0">
                <a:latin typeface="Vrinda" pitchFamily="2" charset="0"/>
              </a:rPr>
              <a:t>, vous pouvez apporter une réponse au ticket. Chaque réponse est </a:t>
            </a:r>
            <a:r>
              <a:rPr lang="fr-FR" sz="1200" dirty="0" err="1" smtClean="0">
                <a:latin typeface="Vrinda" pitchFamily="2" charset="0"/>
              </a:rPr>
              <a:t>historisé</a:t>
            </a:r>
            <a:r>
              <a:rPr lang="fr-FR" sz="1200" dirty="0" smtClean="0">
                <a:latin typeface="Vrinda" pitchFamily="2" charset="0"/>
              </a:rPr>
              <a:t>.</a:t>
            </a:r>
          </a:p>
          <a:p>
            <a:r>
              <a:rPr lang="fr-FR" sz="1200" dirty="0" smtClean="0">
                <a:latin typeface="Vrinda" pitchFamily="2" charset="0"/>
              </a:rPr>
              <a:t>Et lors de chaque réponse, un mail est envoyé à l’utilisateur de création.</a:t>
            </a:r>
            <a:endParaRPr lang="fr-FR" sz="1200" dirty="0">
              <a:latin typeface="Vrinda" pitchFamily="2" charset="0"/>
            </a:endParaRPr>
          </a:p>
          <a:p>
            <a:r>
              <a:rPr lang="fr-FR" sz="1200" dirty="0">
                <a:latin typeface="Vrinda" pitchFamily="2" charset="0"/>
              </a:rPr>
              <a:t>Avec le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</a:rPr>
              <a:t>profile </a:t>
            </a:r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</a:rPr>
              <a:t>SUPPORT,</a:t>
            </a:r>
            <a:r>
              <a:rPr lang="fr-FR" sz="1200" dirty="0" smtClean="0">
                <a:latin typeface="Vrinda" pitchFamily="2" charset="0"/>
              </a:rPr>
              <a:t> ajouter une réponse.</a:t>
            </a:r>
            <a:endParaRPr lang="fr-FR" sz="1200" dirty="0">
              <a:latin typeface="Vrinda" pitchFamily="2" charset="0"/>
            </a:endParaRPr>
          </a:p>
          <a:p>
            <a:endParaRPr lang="fr-FR" sz="1200" dirty="0">
              <a:latin typeface="Vrinda" pitchFamily="2" charset="0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857224" y="5357826"/>
            <a:ext cx="77184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  <a:latin typeface="Vrinda" pitchFamily="2" charset="0"/>
                <a:sym typeface="Wingdings" pitchFamily="2" charset="2"/>
              </a:rPr>
              <a:t>Remarque :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	 Selon le </a:t>
            </a:r>
            <a:r>
              <a:rPr lang="fr-FR" sz="1200" dirty="0" err="1">
                <a:latin typeface="Vrinda" pitchFamily="2" charset="0"/>
                <a:sym typeface="Wingdings" pitchFamily="2" charset="2"/>
              </a:rPr>
              <a:t>workflow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 mise en place, B-Hive peut modifier l’état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du ticket, envoyer un mail à 	l’utilisateur et/ou joindre un document PDF comportant l’ensemble des informations saisies.</a:t>
            </a:r>
            <a:endParaRPr lang="fr-FR" sz="1200" dirty="0">
              <a:latin typeface="Vrinda" pitchFamily="2" charset="0"/>
            </a:endParaRPr>
          </a:p>
        </p:txBody>
      </p:sp>
      <p:pic>
        <p:nvPicPr>
          <p:cNvPr id="18" name="Picture 4" descr="D:\B-HIVE\profile\profilCol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1928802"/>
            <a:ext cx="457200" cy="457200"/>
          </a:xfrm>
          <a:prstGeom prst="rect">
            <a:avLst/>
          </a:prstGeom>
          <a:noFill/>
        </p:spPr>
      </p:pic>
      <p:pic>
        <p:nvPicPr>
          <p:cNvPr id="22" name="Picture 2" descr="D:\B-HIVE\profile\profilCP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57290" y="2643181"/>
            <a:ext cx="7000924" cy="2628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Flèche droite 22"/>
          <p:cNvSpPr/>
          <p:nvPr/>
        </p:nvSpPr>
        <p:spPr>
          <a:xfrm rot="10800000">
            <a:off x="6143636" y="3929066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Flèche droite 23"/>
          <p:cNvSpPr/>
          <p:nvPr/>
        </p:nvSpPr>
        <p:spPr>
          <a:xfrm>
            <a:off x="1876787" y="4522876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Flèche droite 25"/>
          <p:cNvSpPr/>
          <p:nvPr/>
        </p:nvSpPr>
        <p:spPr>
          <a:xfrm>
            <a:off x="3929058" y="5072074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2214554"/>
            <a:ext cx="6500858" cy="31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Image 11" descr="logo-bhive1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3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Réaliser une étude sur le ticket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042988" y="1412875"/>
            <a:ext cx="676980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 smtClean="0">
                <a:latin typeface="Vrinda" pitchFamily="2" charset="0"/>
              </a:rPr>
              <a:t>Avec B-</a:t>
            </a:r>
            <a:r>
              <a:rPr lang="fr-FR" sz="1200" dirty="0" err="1" smtClean="0">
                <a:latin typeface="Vrinda" pitchFamily="2" charset="0"/>
              </a:rPr>
              <a:t>hive</a:t>
            </a:r>
            <a:r>
              <a:rPr lang="fr-FR" sz="1200" dirty="0" smtClean="0">
                <a:latin typeface="Vrinda" pitchFamily="2" charset="0"/>
              </a:rPr>
              <a:t>, vous pouvez réaliser une étude sur le ticket, puis de le noter dans la demande.</a:t>
            </a:r>
          </a:p>
          <a:p>
            <a:r>
              <a:rPr lang="fr-FR" sz="1200" dirty="0" smtClean="0">
                <a:latin typeface="Vrinda" pitchFamily="2" charset="0"/>
              </a:rPr>
              <a:t>Avec </a:t>
            </a:r>
            <a:r>
              <a:rPr lang="fr-FR" sz="1200" dirty="0">
                <a:latin typeface="Vrinda" pitchFamily="2" charset="0"/>
              </a:rPr>
              <a:t>le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</a:rPr>
              <a:t>profile </a:t>
            </a:r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</a:rPr>
              <a:t>SUPPORT,</a:t>
            </a:r>
            <a:r>
              <a:rPr lang="fr-FR" sz="1200" dirty="0" smtClean="0">
                <a:latin typeface="Vrinda" pitchFamily="2" charset="0"/>
              </a:rPr>
              <a:t> ajouter une réponse.</a:t>
            </a:r>
            <a:endParaRPr lang="fr-FR" sz="1200" dirty="0">
              <a:latin typeface="Vrinda" pitchFamily="2" charset="0"/>
            </a:endParaRPr>
          </a:p>
          <a:p>
            <a:endParaRPr lang="fr-FR" sz="1200" dirty="0">
              <a:latin typeface="Vrinda" pitchFamily="2" charset="0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857224" y="5357826"/>
            <a:ext cx="77184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accent2"/>
                </a:solidFill>
                <a:latin typeface="Vrinda" pitchFamily="2" charset="0"/>
                <a:sym typeface="Wingdings" pitchFamily="2" charset="2"/>
              </a:rPr>
              <a:t>Remarque : 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	 Selon le </a:t>
            </a:r>
            <a:r>
              <a:rPr lang="fr-FR" sz="1200" dirty="0" err="1">
                <a:latin typeface="Vrinda" pitchFamily="2" charset="0"/>
                <a:sym typeface="Wingdings" pitchFamily="2" charset="2"/>
              </a:rPr>
              <a:t>workflow</a:t>
            </a:r>
            <a:r>
              <a:rPr lang="fr-FR" sz="1200" dirty="0">
                <a:latin typeface="Vrinda" pitchFamily="2" charset="0"/>
                <a:sym typeface="Wingdings" pitchFamily="2" charset="2"/>
              </a:rPr>
              <a:t> mise en place, B-Hive peut modifier l’état </a:t>
            </a:r>
            <a:r>
              <a:rPr lang="fr-FR" sz="1200" dirty="0" smtClean="0">
                <a:latin typeface="Vrinda" pitchFamily="2" charset="0"/>
                <a:sym typeface="Wingdings" pitchFamily="2" charset="2"/>
              </a:rPr>
              <a:t>du ticket, envoyer un mail à 	l’utilisateur et/ou joindre un document PDF comportant l’ensemble des informations saisies.</a:t>
            </a:r>
            <a:endParaRPr lang="fr-FR" sz="1200" dirty="0">
              <a:latin typeface="Vrinda" pitchFamily="2" charset="0"/>
            </a:endParaRPr>
          </a:p>
        </p:txBody>
      </p:sp>
      <p:pic>
        <p:nvPicPr>
          <p:cNvPr id="18" name="Picture 4" descr="D:\B-HIVE\profile\profilCol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928802"/>
            <a:ext cx="457200" cy="457200"/>
          </a:xfrm>
          <a:prstGeom prst="rect">
            <a:avLst/>
          </a:prstGeom>
          <a:noFill/>
        </p:spPr>
      </p:pic>
      <p:pic>
        <p:nvPicPr>
          <p:cNvPr id="22" name="Picture 2" descr="D:\B-HIVE\profile\profilCP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sp>
        <p:nvSpPr>
          <p:cNvPr id="23" name="Flèche droite 22"/>
          <p:cNvSpPr/>
          <p:nvPr/>
        </p:nvSpPr>
        <p:spPr>
          <a:xfrm rot="13518842">
            <a:off x="6063578" y="3671797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Flèche droite 23"/>
          <p:cNvSpPr/>
          <p:nvPr/>
        </p:nvSpPr>
        <p:spPr>
          <a:xfrm>
            <a:off x="1876787" y="4522876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Flèche droite 25"/>
          <p:cNvSpPr/>
          <p:nvPr/>
        </p:nvSpPr>
        <p:spPr>
          <a:xfrm>
            <a:off x="7286644" y="442913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ZoneTexte 13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Personnalisable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467801" y="3896017"/>
            <a:ext cx="500063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Proposer votre module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4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Exemple de scénario de test </a:t>
            </a:r>
          </a:p>
          <a:p>
            <a:pPr algn="r"/>
            <a:r>
              <a:rPr lang="fr-FR" sz="28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Consulter les prestations en temps réel</a:t>
            </a:r>
            <a:endParaRPr lang="fr-FR" sz="28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7290" y="2285992"/>
            <a:ext cx="6286512" cy="1570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 descr="D:\B-HIVE\profile\profilCP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1500174"/>
            <a:ext cx="457200" cy="457200"/>
          </a:xfrm>
          <a:prstGeom prst="rect">
            <a:avLst/>
          </a:prstGeom>
          <a:noFill/>
        </p:spPr>
      </p:pic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042988" y="1496785"/>
            <a:ext cx="77203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1200" dirty="0" smtClean="0">
                <a:latin typeface="Vrinda" pitchFamily="2" charset="0"/>
              </a:rPr>
              <a:t>B-Hive analyse automatiquement les CRA afin d’afficher les prestations par collaborateurs ou par prestataires.</a:t>
            </a:r>
          </a:p>
          <a:p>
            <a:r>
              <a:rPr lang="fr-FR" sz="1200" dirty="0" smtClean="0">
                <a:latin typeface="Vrinda" pitchFamily="2" charset="0"/>
              </a:rPr>
              <a:t>Avec </a:t>
            </a:r>
            <a:r>
              <a:rPr lang="fr-FR" sz="1200" dirty="0">
                <a:latin typeface="Vrinda" pitchFamily="2" charset="0"/>
              </a:rPr>
              <a:t>le </a:t>
            </a:r>
            <a:r>
              <a:rPr lang="fr-FR" sz="1200" b="1" dirty="0">
                <a:solidFill>
                  <a:schemeClr val="accent2"/>
                </a:solidFill>
                <a:latin typeface="Vrinda" pitchFamily="2" charset="0"/>
              </a:rPr>
              <a:t>profile du responsable </a:t>
            </a:r>
            <a:r>
              <a:rPr lang="fr-FR" sz="1200" b="1" dirty="0" smtClean="0">
                <a:solidFill>
                  <a:schemeClr val="accent2"/>
                </a:solidFill>
                <a:latin typeface="Vrinda" pitchFamily="2" charset="0"/>
              </a:rPr>
              <a:t>de service</a:t>
            </a:r>
            <a:r>
              <a:rPr lang="fr-FR" sz="1200" dirty="0" smtClean="0">
                <a:latin typeface="Vrinda" pitchFamily="2" charset="0"/>
              </a:rPr>
              <a:t>,  consultez les prestations.</a:t>
            </a:r>
            <a:endParaRPr lang="fr-FR" sz="1200" dirty="0">
              <a:latin typeface="Vrinda" pitchFamily="2" charset="0"/>
            </a:endParaRPr>
          </a:p>
        </p:txBody>
      </p:sp>
      <p:sp>
        <p:nvSpPr>
          <p:cNvPr id="17" name="Flèche droite 16"/>
          <p:cNvSpPr/>
          <p:nvPr/>
        </p:nvSpPr>
        <p:spPr>
          <a:xfrm>
            <a:off x="1285852" y="3429000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 droite 17"/>
          <p:cNvSpPr/>
          <p:nvPr/>
        </p:nvSpPr>
        <p:spPr>
          <a:xfrm rot="10800000">
            <a:off x="3286117" y="228599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ZoneTexte 27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Ergonomie conviviale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2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Les modules de B-Hive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30" name="Image 29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graphicFrame>
        <p:nvGraphicFramePr>
          <p:cNvPr id="32" name="Espace réservé du contenu 3"/>
          <p:cNvGraphicFramePr>
            <a:graphicFrameLocks/>
          </p:cNvGraphicFramePr>
          <p:nvPr/>
        </p:nvGraphicFramePr>
        <p:xfrm>
          <a:off x="1000100" y="1142984"/>
          <a:ext cx="7572428" cy="4929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33" name="Groupe 32"/>
          <p:cNvGrpSpPr/>
          <p:nvPr/>
        </p:nvGrpSpPr>
        <p:grpSpPr>
          <a:xfrm>
            <a:off x="4000496" y="2125149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4" name="Hexagone 33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CRA</a:t>
              </a:r>
              <a:endParaRPr lang="fr-FR" sz="1700" kern="1200" dirty="0"/>
            </a:p>
          </p:txBody>
        </p:sp>
      </p:grpSp>
      <p:grpSp>
        <p:nvGrpSpPr>
          <p:cNvPr id="36" name="Groupe 35"/>
          <p:cNvGrpSpPr/>
          <p:nvPr/>
        </p:nvGrpSpPr>
        <p:grpSpPr>
          <a:xfrm>
            <a:off x="4000496" y="3161215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7" name="Hexagone 36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</p:sp>
        <p:sp>
          <p:nvSpPr>
            <p:cNvPr id="52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Choix</a:t>
              </a:r>
            </a:p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dirty="0" smtClean="0"/>
                <a:t>Client</a:t>
              </a:r>
              <a:endParaRPr lang="fr-FR" sz="1700" kern="1200" dirty="0"/>
            </a:p>
          </p:txBody>
        </p:sp>
      </p:grpSp>
      <p:grpSp>
        <p:nvGrpSpPr>
          <p:cNvPr id="53" name="Groupe 52"/>
          <p:cNvGrpSpPr/>
          <p:nvPr/>
        </p:nvGrpSpPr>
        <p:grpSpPr>
          <a:xfrm>
            <a:off x="2643174" y="3661281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4" name="Hexagone 53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55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dirty="0" smtClean="0"/>
                <a:t>Budget</a:t>
              </a:r>
              <a:endParaRPr lang="fr-FR" sz="1700" kern="1200" dirty="0"/>
            </a:p>
          </p:txBody>
        </p:sp>
      </p:grpSp>
      <p:grpSp>
        <p:nvGrpSpPr>
          <p:cNvPr id="56" name="Groupe 55"/>
          <p:cNvGrpSpPr/>
          <p:nvPr/>
        </p:nvGrpSpPr>
        <p:grpSpPr>
          <a:xfrm>
            <a:off x="3978183" y="4161347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7" name="Hexagone 56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58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err="1" smtClean="0"/>
                <a:t>Reporting</a:t>
              </a:r>
              <a:endParaRPr lang="fr-FR" sz="1700" kern="1200" dirty="0"/>
            </a:p>
          </p:txBody>
        </p:sp>
      </p:grpSp>
      <p:grpSp>
        <p:nvGrpSpPr>
          <p:cNvPr id="59" name="Groupe 58"/>
          <p:cNvGrpSpPr/>
          <p:nvPr/>
        </p:nvGrpSpPr>
        <p:grpSpPr>
          <a:xfrm>
            <a:off x="5357818" y="2643182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60" name="Hexagone 59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Statistique</a:t>
              </a:r>
              <a:endParaRPr lang="fr-FR" sz="1700" kern="1200" dirty="0"/>
            </a:p>
          </p:txBody>
        </p:sp>
      </p:grpSp>
      <p:grpSp>
        <p:nvGrpSpPr>
          <p:cNvPr id="62" name="Groupe 61"/>
          <p:cNvGrpSpPr/>
          <p:nvPr/>
        </p:nvGrpSpPr>
        <p:grpSpPr>
          <a:xfrm>
            <a:off x="5335505" y="3696785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63" name="Hexagone 62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Planning</a:t>
              </a:r>
              <a:endParaRPr lang="fr-FR" sz="1700" kern="1200" dirty="0"/>
            </a:p>
          </p:txBody>
        </p:sp>
      </p:grpSp>
      <p:grpSp>
        <p:nvGrpSpPr>
          <p:cNvPr id="65" name="Groupe 64"/>
          <p:cNvGrpSpPr/>
          <p:nvPr/>
        </p:nvGrpSpPr>
        <p:grpSpPr>
          <a:xfrm>
            <a:off x="2643174" y="2643182"/>
            <a:ext cx="1593949" cy="1036066"/>
            <a:chOff x="3775025" y="2507"/>
            <a:chExt cx="1593949" cy="1036066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66" name="Hexagone 65"/>
            <p:cNvSpPr/>
            <p:nvPr/>
          </p:nvSpPr>
          <p:spPr>
            <a:xfrm>
              <a:off x="3775025" y="2507"/>
              <a:ext cx="1593949" cy="1036066"/>
            </a:xfrm>
            <a:prstGeom prst="hexagon">
              <a:avLst/>
            </a:prstGeom>
            <a:solidFill>
              <a:srgbClr val="0070C0"/>
            </a:solidFill>
            <a:sp3d prstMaterial="plastic">
              <a:bevelT w="127000" h="25400" prst="relaxedInset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67" name="Hexagone 4"/>
            <p:cNvSpPr/>
            <p:nvPr/>
          </p:nvSpPr>
          <p:spPr>
            <a:xfrm>
              <a:off x="3994193" y="144966"/>
              <a:ext cx="1155613" cy="75114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700" kern="1200" dirty="0" smtClean="0"/>
                <a:t>Congés</a:t>
              </a:r>
              <a:endParaRPr lang="fr-FR" sz="17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642910" y="1610013"/>
            <a:ext cx="79296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Sélectionnez le modèle selon votre méthodologie</a:t>
            </a:r>
          </a:p>
          <a:p>
            <a:pPr algn="ctr">
              <a:defRPr/>
            </a:pP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Construisez votre </a:t>
            </a:r>
            <a:r>
              <a:rPr lang="fr-FR" dirty="0" err="1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workflow</a:t>
            </a:r>
            <a:r>
              <a:rPr lang="fr-FR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  </a:t>
            </a:r>
            <a:endParaRPr lang="fr-FR" dirty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  <p:sp>
        <p:nvSpPr>
          <p:cNvPr id="14" name="ZoneTexte 13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Interface simplifiée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5" name="Image 14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6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Concept B-Hive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28717">
            <a:off x="3733620" y="2357435"/>
            <a:ext cx="1357290" cy="1272087"/>
          </a:xfrm>
          <a:prstGeom prst="rect">
            <a:avLst/>
          </a:prstGeom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00496" y="4000504"/>
            <a:ext cx="92392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Image 21" descr="doc_118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36" y="3500438"/>
            <a:ext cx="785818" cy="785818"/>
          </a:xfrm>
          <a:prstGeom prst="rect">
            <a:avLst/>
          </a:prstGeom>
        </p:spPr>
      </p:pic>
      <p:pic>
        <p:nvPicPr>
          <p:cNvPr id="23" name="Image 22" descr="doc_16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330" y="3500438"/>
            <a:ext cx="857256" cy="814393"/>
          </a:xfrm>
          <a:prstGeom prst="rect">
            <a:avLst/>
          </a:prstGeom>
        </p:spPr>
      </p:pic>
      <p:pic>
        <p:nvPicPr>
          <p:cNvPr id="26" name="Image 25" descr="co_037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2330" y="4429132"/>
            <a:ext cx="714380" cy="714380"/>
          </a:xfrm>
          <a:prstGeom prst="rect">
            <a:avLst/>
          </a:prstGeom>
        </p:spPr>
      </p:pic>
      <p:pic>
        <p:nvPicPr>
          <p:cNvPr id="27" name="Image 26" descr="co_003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392288">
            <a:off x="6215074" y="4357694"/>
            <a:ext cx="714380" cy="714380"/>
          </a:xfrm>
          <a:prstGeom prst="rect">
            <a:avLst/>
          </a:prstGeom>
        </p:spPr>
      </p:pic>
      <p:sp>
        <p:nvSpPr>
          <p:cNvPr id="28" name="Flèche droite 27"/>
          <p:cNvSpPr/>
          <p:nvPr/>
        </p:nvSpPr>
        <p:spPr>
          <a:xfrm>
            <a:off x="1643042" y="2928934"/>
            <a:ext cx="1571636" cy="428628"/>
          </a:xfrm>
          <a:prstGeom prst="rightArrow">
            <a:avLst>
              <a:gd name="adj1" fmla="val 65283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Modèle</a:t>
            </a:r>
            <a:endParaRPr lang="fr-FR" dirty="0"/>
          </a:p>
        </p:txBody>
      </p:sp>
      <p:sp>
        <p:nvSpPr>
          <p:cNvPr id="29" name="Flèche droite 28"/>
          <p:cNvSpPr/>
          <p:nvPr/>
        </p:nvSpPr>
        <p:spPr>
          <a:xfrm>
            <a:off x="5214942" y="4429132"/>
            <a:ext cx="92869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Flèche droite 29"/>
          <p:cNvSpPr/>
          <p:nvPr/>
        </p:nvSpPr>
        <p:spPr>
          <a:xfrm>
            <a:off x="1643042" y="4286256"/>
            <a:ext cx="1571636" cy="428628"/>
          </a:xfrm>
          <a:prstGeom prst="rightArrow">
            <a:avLst>
              <a:gd name="adj1" fmla="val 65283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Workflow</a:t>
            </a:r>
            <a:endParaRPr lang="fr-FR" dirty="0"/>
          </a:p>
        </p:txBody>
      </p:sp>
      <p:sp>
        <p:nvSpPr>
          <p:cNvPr id="31" name="Flèche droite 30"/>
          <p:cNvSpPr/>
          <p:nvPr/>
        </p:nvSpPr>
        <p:spPr>
          <a:xfrm>
            <a:off x="1643042" y="5929330"/>
            <a:ext cx="1571636" cy="428628"/>
          </a:xfrm>
          <a:prstGeom prst="rightArrow">
            <a:avLst>
              <a:gd name="adj1" fmla="val 65283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Autre</a:t>
            </a:r>
            <a:endParaRPr lang="fr-FR" dirty="0"/>
          </a:p>
        </p:txBody>
      </p:sp>
      <p:pic>
        <p:nvPicPr>
          <p:cNvPr id="32" name="Picture 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786182" y="5429264"/>
            <a:ext cx="1428750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100% Web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3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Faites évoluer B-Hive</a:t>
            </a: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357158" y="2357430"/>
            <a:ext cx="853281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B-Hive est un produit qui fonctionne par module, puis par modèle.</a:t>
            </a:r>
          </a:p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Ici on vous a montré un exemple d’utilisation du module SUPPORT. </a:t>
            </a:r>
          </a:p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Le modèle correspond à la manière dont vous désirez utiliser le module. Exemple pour le CRA, vous pouvez avoir le modèle « CRA sans validation » et le modèle « CRA avec validation »</a:t>
            </a:r>
          </a:p>
          <a:p>
            <a:endParaRPr lang="fr-FR" sz="1200" dirty="0" smtClean="0">
              <a:latin typeface="Vrinda" pitchFamily="2" charset="0"/>
              <a:cs typeface="Vrinda" pitchFamily="2" charset="0"/>
            </a:endParaRPr>
          </a:p>
          <a:p>
            <a:r>
              <a:rPr lang="fr-FR" sz="1200" dirty="0" smtClean="0">
                <a:latin typeface="Vrinda" pitchFamily="2" charset="0"/>
                <a:cs typeface="Vrinda" pitchFamily="2" charset="0"/>
              </a:rPr>
              <a:t>Si un module ou un modèle n’existe pas …  … …. Faites le nous savoir, si celui-ci correspond à notre concept, nous le mettrons à votre disposition.</a:t>
            </a:r>
          </a:p>
          <a:p>
            <a:endParaRPr lang="fr-FR" sz="1200" dirty="0" smtClean="0">
              <a:latin typeface="Vrinda" pitchFamily="2" charset="0"/>
              <a:cs typeface="Vrinda" pitchFamily="2" charset="0"/>
            </a:endParaRPr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285720" y="1714488"/>
            <a:ext cx="85328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sz="16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  <a:sym typeface="Wingdings" pitchFamily="2" charset="2"/>
              </a:rPr>
              <a:t>		B-Hive </a:t>
            </a:r>
            <a:r>
              <a:rPr lang="fr-FR" sz="1600" b="1" dirty="0">
                <a:solidFill>
                  <a:schemeClr val="accent2"/>
                </a:solidFill>
                <a:latin typeface="Vrinda" pitchFamily="2" charset="0"/>
                <a:cs typeface="Vrinda" pitchFamily="2" charset="0"/>
                <a:sym typeface="Wingdings" pitchFamily="2" charset="2"/>
              </a:rPr>
              <a:t>se construit avec vous et selon vous en </a:t>
            </a:r>
            <a:r>
              <a:rPr lang="fr-FR" sz="1600" b="1" dirty="0" smtClean="0">
                <a:solidFill>
                  <a:schemeClr val="accent2"/>
                </a:solidFill>
                <a:latin typeface="Vrinda" pitchFamily="2" charset="0"/>
                <a:cs typeface="Vrinda" pitchFamily="2" charset="0"/>
                <a:sym typeface="Wingdings" pitchFamily="2" charset="2"/>
              </a:rPr>
              <a:t>						toute </a:t>
            </a:r>
            <a:r>
              <a:rPr lang="fr-FR" sz="1600" b="1" dirty="0">
                <a:solidFill>
                  <a:schemeClr val="accent2"/>
                </a:solidFill>
                <a:latin typeface="Vrinda" pitchFamily="2" charset="0"/>
                <a:cs typeface="Vrinda" pitchFamily="2" charset="0"/>
                <a:sym typeface="Wingdings" pitchFamily="2" charset="2"/>
              </a:rPr>
              <a:t>simplicité</a:t>
            </a:r>
            <a:endParaRPr lang="fr-FR" sz="1600" b="1" dirty="0">
              <a:solidFill>
                <a:schemeClr val="accent2"/>
              </a:solidFill>
              <a:latin typeface="Vrinda" pitchFamily="2" charset="0"/>
              <a:cs typeface="Vrinda" pitchFamily="2" charset="0"/>
            </a:endParaRPr>
          </a:p>
        </p:txBody>
      </p:sp>
      <p:pic>
        <p:nvPicPr>
          <p:cNvPr id="6146" name="Picture 2" descr="D:\B-HIVE\profile\profilD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28916" y="1257288"/>
            <a:ext cx="457200" cy="457200"/>
          </a:xfrm>
          <a:prstGeom prst="rect">
            <a:avLst/>
          </a:prstGeom>
          <a:noFill/>
        </p:spPr>
      </p:pic>
      <p:pic>
        <p:nvPicPr>
          <p:cNvPr id="6147" name="Picture 3" descr="D:\B-HIVE\profile\profilCom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14800" y="1257288"/>
            <a:ext cx="457200" cy="457200"/>
          </a:xfrm>
          <a:prstGeom prst="rect">
            <a:avLst/>
          </a:prstGeom>
          <a:noFill/>
        </p:spPr>
      </p:pic>
      <p:pic>
        <p:nvPicPr>
          <p:cNvPr id="6148" name="Picture 4" descr="D:\B-HIVE\profile\profilCol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29246" y="1285860"/>
            <a:ext cx="457200" cy="457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ZoneTexte 6"/>
          <p:cNvSpPr txBox="1">
            <a:spLocks noChangeArrowheads="1"/>
          </p:cNvSpPr>
          <p:nvPr/>
        </p:nvSpPr>
        <p:spPr bwMode="auto">
          <a:xfrm>
            <a:off x="4357686" y="2000240"/>
            <a:ext cx="3429028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Bee Software</a:t>
            </a:r>
          </a:p>
          <a:p>
            <a:r>
              <a:rPr lang="fr-FR" sz="1800" dirty="0" smtClean="0">
                <a:latin typeface="Arial" charset="0"/>
                <a:cs typeface="Arial" charset="0"/>
              </a:rPr>
              <a:t>contact@beesoftware.net</a:t>
            </a:r>
          </a:p>
          <a:p>
            <a:pPr algn="ctr"/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Calibri" pitchFamily="34" charset="0"/>
              </a:rPr>
              <a:t>Tel</a:t>
            </a:r>
            <a:r>
              <a:rPr lang="fr-FR" sz="1800" dirty="0" smtClean="0">
                <a:latin typeface="Calibri" pitchFamily="34" charset="0"/>
              </a:rPr>
              <a:t>. 33 (0)3 62 27 62 38</a:t>
            </a:r>
          </a:p>
          <a:p>
            <a:r>
              <a:rPr lang="fr-FR" sz="1800" dirty="0" smtClean="0">
                <a:latin typeface="Calibri" pitchFamily="34" charset="0"/>
              </a:rPr>
              <a:t>Gsm 33 (0)6 26 08 62 84</a:t>
            </a:r>
          </a:p>
          <a:p>
            <a:r>
              <a:rPr lang="fr-FR" sz="1800" dirty="0" smtClean="0">
                <a:latin typeface="Calibri" pitchFamily="34" charset="0"/>
              </a:rPr>
              <a:t>Fax. 33 (0)3 62 27 62 39</a:t>
            </a: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http://www.beesoftware.net</a:t>
            </a:r>
          </a:p>
        </p:txBody>
      </p:sp>
      <p:sp>
        <p:nvSpPr>
          <p:cNvPr id="4107" name="ZoneTexte 10"/>
          <p:cNvSpPr txBox="1">
            <a:spLocks noChangeArrowheads="1"/>
          </p:cNvSpPr>
          <p:nvPr/>
        </p:nvSpPr>
        <p:spPr bwMode="auto">
          <a:xfrm>
            <a:off x="0" y="6596063"/>
            <a:ext cx="36433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/>
              <a:t>Copyright © 2008 beesoftware.net. All Rights Reserved</a:t>
            </a:r>
            <a:endParaRPr lang="fr-FR" sz="110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Nous contacter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8564" y="2071678"/>
            <a:ext cx="871543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« Faire simple est probablement l’objectif </a:t>
            </a:r>
          </a:p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le plus sophistiqué du monde »</a:t>
            </a:r>
            <a:endParaRPr lang="fr-FR" sz="4400" b="1" dirty="0">
              <a:latin typeface="Vivaldi" pitchFamily="66" charset="0"/>
              <a:cs typeface="Vrinda" pitchFamily="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357818" y="3714752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Steve Jobs (Co-fondateur d’Apple INC)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4786322"/>
            <a:ext cx="40701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66CC"/>
      </a:hlink>
      <a:folHlink>
        <a:srgbClr val="0099CC"/>
      </a:folHlink>
    </a:clrScheme>
    <a:fontScheme name="Modèle par défaut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3466</TotalTime>
  <Words>663</Words>
  <Application>Microsoft PowerPoint</Application>
  <PresentationFormat>Affichage à l'écran (4:3)</PresentationFormat>
  <Paragraphs>118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Modèle par défaut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L.Hermez</dc:creator>
  <cp:lastModifiedBy>Madgic</cp:lastModifiedBy>
  <cp:revision>332</cp:revision>
  <dcterms:created xsi:type="dcterms:W3CDTF">2008-08-18T15:51:12Z</dcterms:created>
  <dcterms:modified xsi:type="dcterms:W3CDTF">2009-09-24T07:55:56Z</dcterms:modified>
</cp:coreProperties>
</file>